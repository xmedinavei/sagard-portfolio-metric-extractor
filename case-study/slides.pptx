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13.svg" ContentType="image/svg"/>
  <Override PartName="/ppt/media/image11.svg" ContentType="image/svg"/>
  <Override PartName="/ppt/media/image46.svg" ContentType="image/svg"/>
  <Override PartName="/ppt/media/image21.svg" ContentType="image/svg"/>
  <Override PartName="/ppt/media/image3.svg" ContentType="image/svg"/>
  <Override PartName="/ppt/media/image34.svg" ContentType="image/svg"/>
  <Override PartName="/ppt/media/image36.svg" ContentType="image/svg"/>
  <Override PartName="/ppt/media/image30.svg" ContentType="image/svg"/>
  <Override PartName="/ppt/media/image32.svg" ContentType="image/svg"/>
  <Override PartName="/ppt/media/image19.svg" ContentType="image/svg"/>
  <Override PartName="/ppt/media/image6.svg" ContentType="image/svg"/>
  <Override PartName="/ppt/media/image40.svg" ContentType="image/svg"/>
  <Override PartName="/ppt/media/image38.svg" ContentType="image/svg"/>
  <Override PartName="/ppt/media/image8.svg" ContentType="image/svg"/>
  <Override PartName="/ppt/media/image42.svg" ContentType="image/svg"/>
  <Override PartName="/ppt/media/image44.svg" ContentType="image/svg"/>
  <Override PartName="/ppt/media/image28.svg" ContentType="image/svg"/>
  <Override PartName="/ppt/media/image23.svg" ContentType="image/svg"/>
  <Override PartName="/ppt/media/image15.svg" ContentType="image/svg"/>
  <Override PartName="/ppt/media/image48.svg" ContentType="image/svg"/>
  <Override PartName="/ppt/media/image17.svg" ContentType="image/svg"/>
  <Override PartName="/ppt/media/image25.svg" ContentType="image/svg"/>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ADD6FC7-4A15-4B5D-BE89-4E4EA96C1EA7}"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685800" y="1143000"/>
            <a:ext cx="5486040" cy="3085920"/>
          </a:xfrm>
          <a:prstGeom prst="rect">
            <a:avLst/>
          </a:prstGeom>
          <a:ln w="0">
            <a:noFill/>
          </a:ln>
        </p:spPr>
      </p:sp>
      <p:sp>
        <p:nvSpPr>
          <p:cNvPr id="6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with the bio, confidently: 'I'm Xavier. I'm a software engineer — for 4+ years I've built AI-powered, production-grade systems end to end. Today at ProsperaLabs I automate real customer workflows across voice, chat and email.' Then the FDE motivation: take an unclear problem, make reasonable assumptions, ship a first useful version, make it reliable enough to trust, improve from real feedback. Then the humility pivot, warmly: 'That's the builder in me. But most of my time here did NOT go into coding — it went into learning your world. So let me show you my map, and please correct me.' Keep 'production-grade' tied to ProsperaLabs, never to Concord — Concord's demo is a single deterministic pass.</a:t>
            </a:r>
            <a:endParaRPr lang="en-US" sz="2000" b="0" u="none" strike="noStrike">
              <a:solidFill>
                <a:srgbClr val="000000"/>
              </a:solidFill>
              <a:effectLst/>
              <a:uFillTx/>
              <a:latin typeface="Arial"/>
            </a:endParaRPr>
          </a:p>
        </p:txBody>
      </p:sp>
      <p:sp>
        <p:nvSpPr>
          <p:cNvPr id="60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7EB5F6-7E47-43AB-8D72-E42C4DF5D5C6}"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685800" y="1143000"/>
            <a:ext cx="5486040" cy="3085920"/>
          </a:xfrm>
          <a:prstGeom prst="rect">
            <a:avLst/>
          </a:prstGeom>
          <a:ln w="0">
            <a:noFill/>
          </a:ln>
        </p:spPr>
      </p:sp>
      <p:sp>
        <p:nvSpPr>
          <p:cNvPr id="6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Framing line (say it): 'I'm going to show you my mental model of your world. You live this every day — so please stop me and correct me where I'm wrong.' Sagard invests through several branches — venture, PE, private credit, real estate (plus a large solutions / fund-of-funds arm). I scoped Concord to one: the direct PE portfolio companies — the packs in my demo. Credit and the rest are natural extensions, not v1. Say the branch line-up and scale 'roughly — I'll re-verify on sagard.com the morning of.'</a:t>
            </a:r>
            <a:endParaRPr lang="en-US" sz="2000" b="0" u="none" strike="noStrike">
              <a:solidFill>
                <a:srgbClr val="000000"/>
              </a:solidFill>
              <a:effectLst/>
              <a:uFillTx/>
              <a:latin typeface="Arial"/>
            </a:endParaRPr>
          </a:p>
        </p:txBody>
      </p:sp>
      <p:sp>
        <p:nvSpPr>
          <p:cNvPr id="60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8945AB-18F5-4AF6-9ACF-A1C74697066D}"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685800" y="1143000"/>
            <a:ext cx="5486040" cy="3085920"/>
          </a:xfrm>
          <a:prstGeom prst="rect">
            <a:avLst/>
          </a:prstGeom>
          <a:ln w="0">
            <a:noFill/>
          </a:ln>
        </p:spPr>
      </p:sp>
      <p:sp>
        <p:nvSpPr>
          <p:cNvPr id="6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fund lives about 10 years across four stages: raise the money, invest it, hold and monitor, then exit and return the cash. Concord lives in stage 3 — hold and monitor — the quarter-by-quarter job of watching every company and reconciling its numbers. Spoken, don't slide: money flow LP → GP (Sagard) → portfolio company → exit → back to the LP; '2 and 20' in one line (≈2% management fee + ~20% carried interest, paid only after LPs get capital + a preferred return back); and 'the mark' — each quarter the GP estimates fair value, a human, audited judgment. Concord feeds the inputs; it never makes the mark.</a:t>
            </a:r>
            <a:endParaRPr lang="en-US" sz="2000" b="0" u="none" strike="noStrike">
              <a:solidFill>
                <a:srgbClr val="000000"/>
              </a:solidFill>
              <a:effectLst/>
              <a:uFillTx/>
              <a:latin typeface="Arial"/>
            </a:endParaRPr>
          </a:p>
        </p:txBody>
      </p:sp>
      <p:sp>
        <p:nvSpPr>
          <p:cNvPr id="60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9C39EF-EFB2-4FD8-A6CA-F3EAB930B1A2}"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685800" y="1143000"/>
            <a:ext cx="5486040" cy="3085920"/>
          </a:xfrm>
          <a:prstGeom prst="rect">
            <a:avLst/>
          </a:prstGeom>
          <a:ln w="0">
            <a:noFill/>
          </a:ln>
        </p:spPr>
      </p:sp>
      <p:sp>
        <p:nvSpPr>
          <p:cNvPr id="6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five read the SAME quarterly pack, for OPPOSITE jobs. The deal team wants speed; valuations, LP-reporting and credit want precision. Land hard on row 2 — that's our customer. These are my assumed roles; please correct me.</a:t>
            </a:r>
            <a:endParaRPr lang="en-US" sz="2000" b="0" u="none" strike="noStrike">
              <a:solidFill>
                <a:srgbClr val="000000"/>
              </a:solidFill>
              <a:effectLst/>
              <a:uFillTx/>
              <a:latin typeface="Arial"/>
            </a:endParaRPr>
          </a:p>
        </p:txBody>
      </p:sp>
      <p:sp>
        <p:nvSpPr>
          <p:cNvPr id="61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837962-C2EA-44DE-B1BC-C35F1951428D}"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685800" y="1143000"/>
            <a:ext cx="5486040" cy="3085920"/>
          </a:xfrm>
          <a:prstGeom prst="rect">
            <a:avLst/>
          </a:prstGeom>
          <a:ln w="0">
            <a:noFill/>
          </a:ln>
        </p:spPr>
      </p:sp>
      <p:sp>
        <p:nvSpPr>
          <p:cNvPr id="6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My first take-home solved the deal partner's need — an 'AI Scout': give it a company URL, it scrapes the company info and press, searches and scrapes the founders, summarizes, and posts a suggestion in Slack — 'should we move forward?'. I used an LLM there on purpose, because the deal partner needs speed over precision. This round, Portfolio Operations needs the opposite: precision first — a number you'd sign your name to, traceable, with a wrong answer refused rather than guessed. That is why this one is deterministic. Same builder, two rounds, two opposite trust postures.</a:t>
            </a:r>
            <a:endParaRPr lang="en-US" sz="2000" b="0" u="none" strike="noStrike">
              <a:solidFill>
                <a:srgbClr val="000000"/>
              </a:solidFill>
              <a:effectLst/>
              <a:uFillTx/>
              <a:latin typeface="Arial"/>
            </a:endParaRPr>
          </a:p>
        </p:txBody>
      </p:sp>
      <p:sp>
        <p:nvSpPr>
          <p:cNvPr id="61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F590B7-42EE-46D9-81EE-C8C7A77708BF}"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685800" y="1143000"/>
            <a:ext cx="5486040" cy="3085920"/>
          </a:xfrm>
          <a:prstGeom prst="rect">
            <a:avLst/>
          </a:prstGeom>
          <a:ln w="0">
            <a:noFill/>
          </a:ln>
        </p:spPr>
      </p:sp>
      <p:sp>
        <p:nvSpPr>
          <p:cNvPr id="6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Frame it as the Operations team's own job. 'Remember stage 3 — hold and monitor. The way the team monitors is by reviewing every company's quarterly report, by hand. That manual quarter-close review is a core part of their job — and it's the pain Concord solves.' Make it felt: it's the second week after close; 20+ PDF packs land — a SaaS company, a lender, a payments company, a freight marketplace. An analyst opens each, hunts for the numbers, and hand-keys them into a master spreadsheet. That review IS the monitoring. Honest: these are synthetic test packs — 10 companies across 24 PDFs. Say '20+ packs', never '20+ companies.'</a:t>
            </a:r>
            <a:endParaRPr lang="en-US" sz="2000" b="0" u="none" strike="noStrike">
              <a:solidFill>
                <a:srgbClr val="000000"/>
              </a:solidFill>
              <a:effectLst/>
              <a:uFillTx/>
              <a:latin typeface="Arial"/>
            </a:endParaRPr>
          </a:p>
        </p:txBody>
      </p:sp>
      <p:sp>
        <p:nvSpPr>
          <p:cNvPr id="61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7ADFE4-0EDD-42DA-8F53-68DFF5D5983B}"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685800" y="1143000"/>
            <a:ext cx="5486040" cy="3085920"/>
          </a:xfrm>
          <a:prstGeom prst="rect">
            <a:avLst/>
          </a:prstGeom>
          <a:ln w="0">
            <a:noFill/>
          </a:ln>
        </p:spPr>
      </p:sp>
      <p:sp>
        <p:nvSpPr>
          <p:cNvPr id="6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today/built twin of the future orchestrator picture (slide 17). Walk the pipeline top to bottom: 1 READ — a deterministic parser reads every pack offline; 2 UNDERSTAND — classify equity vs credit, map to one vocabulary, normalize unit + scale; 3 CROSS-CHECK — reconcile against the company's own report; 4 THE COMPARABILITY GATE — is this safe, like-for-like? YES rank it in its sector, NO show it but REFUSE to rank; 5 THE COCKPIT — click any number to see its source. One offline click, and a human owns every number that leaves the building. Land the line: reading the number is the easy 10 percent; comparability + trust is the expensive 90 percent. If a partner asks where did this 78 percent come from, the answer is one click, not re-open the PDF. Honesty: this is what runs today — one deterministic pass; provenance is file-level; the redundant / orchestrator version is the future (slide 17).</a:t>
            </a:r>
            <a:endParaRPr lang="en-US" sz="2000" b="0" u="none" strike="noStrike">
              <a:solidFill>
                <a:srgbClr val="000000"/>
              </a:solidFill>
              <a:effectLst/>
              <a:uFillTx/>
              <a:latin typeface="Arial"/>
            </a:endParaRPr>
          </a:p>
        </p:txBody>
      </p:sp>
      <p:sp>
        <p:nvSpPr>
          <p:cNvPr id="62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780A8C-C62C-477C-AABF-4BC6A385EBBE}"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685800" y="1143000"/>
            <a:ext cx="5486040" cy="3085920"/>
          </a:xfrm>
          <a:prstGeom prst="rect">
            <a:avLst/>
          </a:prstGeom>
          <a:ln w="0">
            <a:noFill/>
          </a:ln>
        </p:spPr>
      </p:sp>
      <p:sp>
        <p:nvSpPr>
          <p:cNvPr id="6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Each trap is </a:t>
            </a:r>
            <a:r>
              <a:rPr lang="en-US" sz="2000" b="0" u="none" strike="noStrike">
                <a:solidFill>
                  <a:srgbClr val="000000"/>
                </a:solidFill>
                <a:effectLst/>
                <a:uFillTx/>
                <a:latin typeface="Arial"/>
              </a:rPr>
              <a:t>provable </a:t>
            </a:r>
            <a:r>
              <a:rPr lang="en-US" sz="2000" b="0" u="none" strike="noStrike">
                <a:solidFill>
                  <a:srgbClr val="000000"/>
                </a:solidFill>
                <a:effectLst/>
                <a:uFillTx/>
                <a:latin typeface="Arial"/>
              </a:rPr>
              <a:t>from the real </a:t>
            </a:r>
            <a:r>
              <a:rPr lang="en-US" sz="2000" b="0" u="none" strike="noStrike">
                <a:solidFill>
                  <a:srgbClr val="000000"/>
                </a:solidFill>
                <a:effectLst/>
                <a:uFillTx/>
                <a:latin typeface="Arial"/>
              </a:rPr>
              <a:t>packs. Trap 1 </a:t>
            </a:r>
            <a:r>
              <a:rPr lang="en-US" sz="2000" b="0" u="none" strike="noStrike">
                <a:solidFill>
                  <a:srgbClr val="000000"/>
                </a:solidFill>
                <a:effectLst/>
                <a:uFillTx/>
                <a:latin typeface="Arial"/>
              </a:rPr>
              <a:t>— same </a:t>
            </a:r>
            <a:r>
              <a:rPr lang="en-US" sz="2000" b="0" u="none" strike="noStrike">
                <a:solidFill>
                  <a:srgbClr val="000000"/>
                </a:solidFill>
                <a:effectLst/>
                <a:uFillTx/>
                <a:latin typeface="Arial"/>
              </a:rPr>
              <a:t>metric </a:t>
            </a:r>
            <a:r>
              <a:rPr lang="en-US" sz="2000" b="0" u="none" strike="noStrike">
                <a:solidFill>
                  <a:srgbClr val="000000"/>
                </a:solidFill>
                <a:effectLst/>
                <a:uFillTx/>
                <a:latin typeface="Arial"/>
              </a:rPr>
              <a:t>renames </a:t>
            </a:r>
            <a:r>
              <a:rPr lang="en-US" sz="2000" b="0" u="none" strike="noStrike">
                <a:solidFill>
                  <a:srgbClr val="000000"/>
                </a:solidFill>
                <a:effectLst/>
                <a:uFillTx/>
                <a:latin typeface="Arial"/>
              </a:rPr>
              <a:t>itself over </a:t>
            </a:r>
            <a:r>
              <a:rPr lang="en-US" sz="2000" b="0" u="none" strike="noStrike">
                <a:solidFill>
                  <a:srgbClr val="000000"/>
                </a:solidFill>
                <a:effectLst/>
                <a:uFillTx/>
                <a:latin typeface="Arial"/>
              </a:rPr>
              <a:t>time; miss a </a:t>
            </a:r>
            <a:r>
              <a:rPr lang="en-US" sz="2000" b="0" u="none" strike="noStrike">
                <a:solidFill>
                  <a:srgbClr val="000000"/>
                </a:solidFill>
                <a:effectLst/>
                <a:uFillTx/>
                <a:latin typeface="Arial"/>
              </a:rPr>
              <a:t>relabel by </a:t>
            </a:r>
            <a:r>
              <a:rPr lang="en-US" sz="2000" b="0" u="none" strike="noStrike">
                <a:solidFill>
                  <a:srgbClr val="000000"/>
                </a:solidFill>
                <a:effectLst/>
                <a:uFillTx/>
                <a:latin typeface="Arial"/>
              </a:rPr>
              <a:t>hand and the </a:t>
            </a:r>
            <a:r>
              <a:rPr lang="en-US" sz="2000" b="0" u="none" strike="noStrike">
                <a:solidFill>
                  <a:srgbClr val="000000"/>
                </a:solidFill>
                <a:effectLst/>
                <a:uFillTx/>
                <a:latin typeface="Arial"/>
              </a:rPr>
              <a:t>trend silently </a:t>
            </a:r>
            <a:r>
              <a:rPr lang="en-US" sz="2000" b="0" u="none" strike="noStrike">
                <a:solidFill>
                  <a:srgbClr val="000000"/>
                </a:solidFill>
                <a:effectLst/>
                <a:uFillTx/>
                <a:latin typeface="Arial"/>
              </a:rPr>
              <a:t>splits. Trap 2 </a:t>
            </a:r>
            <a:r>
              <a:rPr lang="en-US" sz="2000" b="0" u="none" strike="noStrike">
                <a:solidFill>
                  <a:srgbClr val="000000"/>
                </a:solidFill>
                <a:effectLst/>
                <a:uFillTx/>
                <a:latin typeface="Arial"/>
              </a:rPr>
              <a:t>— a software </a:t>
            </a:r>
            <a:r>
              <a:rPr lang="en-US" sz="2000" b="0" u="none" strike="noStrike">
                <a:solidFill>
                  <a:srgbClr val="000000"/>
                </a:solidFill>
                <a:effectLst/>
                <a:uFillTx/>
                <a:latin typeface="Arial"/>
              </a:rPr>
              <a:t>gross margin </a:t>
            </a:r>
            <a:r>
              <a:rPr lang="en-US" sz="2000" b="0" u="none" strike="noStrike">
                <a:solidFill>
                  <a:srgbClr val="000000"/>
                </a:solidFill>
                <a:effectLst/>
                <a:uFillTx/>
                <a:latin typeface="Arial"/>
              </a:rPr>
              <a:t>(cost to </a:t>
            </a:r>
            <a:r>
              <a:rPr lang="en-US" sz="2000" b="0" u="none" strike="noStrike">
                <a:solidFill>
                  <a:srgbClr val="000000"/>
                </a:solidFill>
                <a:effectLst/>
                <a:uFillTx/>
                <a:latin typeface="Arial"/>
              </a:rPr>
              <a:t>deliver </a:t>
            </a:r>
            <a:r>
              <a:rPr lang="en-US" sz="2000" b="0" u="none" strike="noStrike">
                <a:solidFill>
                  <a:srgbClr val="000000"/>
                </a:solidFill>
                <a:effectLst/>
                <a:uFillTx/>
                <a:latin typeface="Arial"/>
              </a:rPr>
              <a:t>software) vs </a:t>
            </a:r>
            <a:r>
              <a:rPr lang="en-US" sz="2000" b="0" u="none" strike="noStrike">
                <a:solidFill>
                  <a:srgbClr val="000000"/>
                </a:solidFill>
                <a:effectLst/>
                <a:uFillTx/>
                <a:latin typeface="Arial"/>
              </a:rPr>
              <a:t>a lender's </a:t>
            </a:r>
            <a:r>
              <a:rPr lang="en-US" sz="2000" b="0" u="none" strike="noStrike">
                <a:solidFill>
                  <a:srgbClr val="000000"/>
                </a:solidFill>
                <a:effectLst/>
                <a:uFillTx/>
                <a:latin typeface="Arial"/>
              </a:rPr>
              <a:t>gross margin </a:t>
            </a:r>
            <a:r>
              <a:rPr lang="en-US" sz="2000" b="0" u="none" strike="noStrike">
                <a:solidFill>
                  <a:srgbClr val="000000"/>
                </a:solidFill>
                <a:effectLst/>
                <a:uFillTx/>
                <a:latin typeface="Arial"/>
              </a:rPr>
              <a:t>(interest </a:t>
            </a:r>
            <a:r>
              <a:rPr lang="en-US" sz="2000" b="0" u="none" strike="noStrike">
                <a:solidFill>
                  <a:srgbClr val="000000"/>
                </a:solidFill>
                <a:effectLst/>
                <a:uFillTx/>
                <a:latin typeface="Arial"/>
              </a:rPr>
              <a:t>income </a:t>
            </a:r>
            <a:r>
              <a:rPr lang="en-US" sz="2000" b="0" u="none" strike="noStrike">
                <a:solidFill>
                  <a:srgbClr val="000000"/>
                </a:solidFill>
                <a:effectLst/>
                <a:uFillTx/>
                <a:latin typeface="Arial"/>
              </a:rPr>
              <a:t>minus cost of </a:t>
            </a:r>
            <a:r>
              <a:rPr lang="en-US" sz="2000" b="0" u="none" strike="noStrike">
                <a:solidFill>
                  <a:srgbClr val="000000"/>
                </a:solidFill>
                <a:effectLst/>
                <a:uFillTx/>
                <a:latin typeface="Arial"/>
              </a:rPr>
              <a:t>funds); one </a:t>
            </a:r>
            <a:r>
              <a:rPr lang="en-US" sz="2000" b="0" u="none" strike="noStrike">
                <a:solidFill>
                  <a:srgbClr val="000000"/>
                </a:solidFill>
                <a:effectLst/>
                <a:uFillTx/>
                <a:latin typeface="Arial"/>
              </a:rPr>
              <a:t>column = </a:t>
            </a:r>
            <a:r>
              <a:rPr lang="en-US" sz="2000" b="0" u="none" strike="noStrike">
                <a:solidFill>
                  <a:srgbClr val="000000"/>
                </a:solidFill>
                <a:effectLst/>
                <a:uFillTx/>
                <a:latin typeface="Arial"/>
              </a:rPr>
              <a:t>quietly </a:t>
            </a:r>
            <a:r>
              <a:rPr lang="en-US" sz="2000" b="0" u="none" strike="noStrike">
                <a:solidFill>
                  <a:srgbClr val="000000"/>
                </a:solidFill>
                <a:effectLst/>
                <a:uFillTx/>
                <a:latin typeface="Arial"/>
              </a:rPr>
              <a:t>wrong. Trap </a:t>
            </a:r>
            <a:r>
              <a:rPr lang="en-US" sz="2000" b="0" u="none" strike="noStrike">
                <a:solidFill>
                  <a:srgbClr val="000000"/>
                </a:solidFill>
                <a:effectLst/>
                <a:uFillTx/>
                <a:latin typeface="Arial"/>
              </a:rPr>
              <a:t>3 — right </a:t>
            </a:r>
            <a:r>
              <a:rPr lang="en-US" sz="2000" b="0" u="none" strike="noStrike">
                <a:solidFill>
                  <a:srgbClr val="000000"/>
                </a:solidFill>
                <a:effectLst/>
                <a:uFillTx/>
                <a:latin typeface="Arial"/>
              </a:rPr>
              <a:t>number, </a:t>
            </a:r>
            <a:r>
              <a:rPr lang="en-US" sz="2000" b="0" u="none" strike="noStrike">
                <a:solidFill>
                  <a:srgbClr val="000000"/>
                </a:solidFill>
                <a:effectLst/>
                <a:uFillTx/>
                <a:latin typeface="Arial"/>
              </a:rPr>
              <a:t>wrong basis: </a:t>
            </a:r>
            <a:r>
              <a:rPr lang="en-US" sz="2000" b="0" u="none" strike="noStrike">
                <a:solidFill>
                  <a:srgbClr val="000000"/>
                </a:solidFill>
                <a:effectLst/>
                <a:uFillTx/>
                <a:latin typeface="Arial"/>
              </a:rPr>
              <a:t>ClearPay's </a:t>
            </a:r>
            <a:r>
              <a:rPr lang="en-US" sz="2000" b="0" u="none" strike="noStrike">
                <a:solidFill>
                  <a:srgbClr val="000000"/>
                </a:solidFill>
                <a:effectLst/>
                <a:uFillTx/>
                <a:latin typeface="Arial"/>
              </a:rPr>
              <a:t>cash includes </a:t>
            </a:r>
            <a:r>
              <a:rPr lang="en-US" sz="2000" b="0" u="none" strike="noStrike">
                <a:solidFill>
                  <a:srgbClr val="000000"/>
                </a:solidFill>
                <a:effectLst/>
                <a:uFillTx/>
                <a:latin typeface="Arial"/>
              </a:rPr>
              <a:t>restricted </a:t>
            </a:r>
            <a:r>
              <a:rPr lang="en-US" sz="2000" b="0" u="none" strike="noStrike">
                <a:solidFill>
                  <a:srgbClr val="000000"/>
                </a:solidFill>
                <a:effectLst/>
                <a:uFillTx/>
                <a:latin typeface="Arial"/>
              </a:rPr>
              <a:t>client float it </a:t>
            </a:r>
            <a:r>
              <a:rPr lang="en-US" sz="2000" b="0" u="none" strike="noStrike">
                <a:solidFill>
                  <a:srgbClr val="000000"/>
                </a:solidFill>
                <a:effectLst/>
                <a:uFillTx/>
                <a:latin typeface="Arial"/>
              </a:rPr>
              <a:t>can't spend; </a:t>
            </a:r>
            <a:r>
              <a:rPr lang="en-US" sz="2000" b="0" u="none" strike="noStrike">
                <a:solidFill>
                  <a:srgbClr val="000000"/>
                </a:solidFill>
                <a:effectLst/>
                <a:uFillTx/>
                <a:latin typeface="Arial"/>
              </a:rPr>
              <a:t>also (spoken, </a:t>
            </a:r>
            <a:r>
              <a:rPr lang="en-US" sz="2000" b="0" u="none" strike="noStrike">
                <a:solidFill>
                  <a:srgbClr val="000000"/>
                </a:solidFill>
                <a:effectLst/>
                <a:uFillTx/>
                <a:latin typeface="Arial"/>
              </a:rPr>
              <a:t>not on the </a:t>
            </a:r>
            <a:r>
              <a:rPr lang="en-US" sz="2000" b="0" u="none" strike="noStrike">
                <a:solidFill>
                  <a:srgbClr val="000000"/>
                </a:solidFill>
                <a:effectLst/>
                <a:uFillTx/>
                <a:latin typeface="Arial"/>
              </a:rPr>
              <a:t>card) </a:t>
            </a:r>
            <a:r>
              <a:rPr lang="en-US" sz="2000" b="0" u="none" strike="noStrike">
                <a:solidFill>
                  <a:srgbClr val="000000"/>
                </a:solidFill>
                <a:effectLst/>
                <a:uFillTx/>
                <a:latin typeface="Arial"/>
              </a:rPr>
              <a:t>ConstructIQ </a:t>
            </a:r>
            <a:r>
              <a:rPr lang="en-US" sz="2000" b="0" u="none" strike="noStrike">
                <a:solidFill>
                  <a:srgbClr val="000000"/>
                </a:solidFill>
                <a:effectLst/>
                <a:uFillTx/>
                <a:latin typeface="Arial"/>
              </a:rPr>
              <a:t>reports burn </a:t>
            </a:r>
            <a:r>
              <a:rPr lang="en-US" sz="2000" b="0" u="none" strike="noStrike">
                <a:solidFill>
                  <a:srgbClr val="000000"/>
                </a:solidFill>
                <a:effectLst/>
                <a:uFillTx/>
                <a:latin typeface="Arial"/>
              </a:rPr>
              <a:t>per </a:t>
            </a:r>
            <a:r>
              <a:rPr lang="en-US" sz="2000" b="0" u="none" strike="noStrike">
                <a:solidFill>
                  <a:srgbClr val="000000"/>
                </a:solidFill>
                <a:effectLst/>
                <a:uFillTx/>
                <a:latin typeface="Arial"/>
              </a:rPr>
              <a:t>QUARTER </a:t>
            </a:r>
            <a:r>
              <a:rPr lang="en-US" sz="2000" b="0" u="none" strike="noStrike">
                <a:solidFill>
                  <a:srgbClr val="000000"/>
                </a:solidFill>
                <a:effectLst/>
                <a:uFillTx/>
                <a:latin typeface="Arial"/>
              </a:rPr>
              <a:t>while </a:t>
            </a:r>
            <a:r>
              <a:rPr lang="en-US" sz="2000" b="0" u="none" strike="noStrike">
                <a:solidFill>
                  <a:srgbClr val="000000"/>
                </a:solidFill>
                <a:effectLst/>
                <a:uFillTx/>
                <a:latin typeface="Arial"/>
              </a:rPr>
              <a:t>everyone </a:t>
            </a:r>
            <a:r>
              <a:rPr lang="en-US" sz="2000" b="0" u="none" strike="noStrike">
                <a:solidFill>
                  <a:srgbClr val="000000"/>
                </a:solidFill>
                <a:effectLst/>
                <a:uFillTx/>
                <a:latin typeface="Arial"/>
              </a:rPr>
              <a:t>else is per </a:t>
            </a:r>
            <a:r>
              <a:rPr lang="en-US" sz="2000" b="0" u="none" strike="noStrike">
                <a:solidFill>
                  <a:srgbClr val="000000"/>
                </a:solidFill>
                <a:effectLst/>
                <a:uFillTx/>
                <a:latin typeface="Arial"/>
              </a:rPr>
              <a:t>month. Trap </a:t>
            </a:r>
            <a:r>
              <a:rPr lang="en-US" sz="2000" b="0" u="none" strike="noStrike">
                <a:solidFill>
                  <a:srgbClr val="000000"/>
                </a:solidFill>
                <a:effectLst/>
                <a:uFillTx/>
                <a:latin typeface="Arial"/>
              </a:rPr>
              <a:t>4 — the </a:t>
            </a:r>
            <a:r>
              <a:rPr lang="en-US" sz="2000" b="0" u="none" strike="noStrike">
                <a:solidFill>
                  <a:srgbClr val="000000"/>
                </a:solidFill>
                <a:effectLst/>
                <a:uFillTx/>
                <a:latin typeface="Arial"/>
              </a:rPr>
              <a:t>finished </a:t>
            </a:r>
            <a:r>
              <a:rPr lang="en-US" sz="2000" b="0" u="none" strike="noStrike">
                <a:solidFill>
                  <a:srgbClr val="000000"/>
                </a:solidFill>
                <a:effectLst/>
                <a:uFillTx/>
                <a:latin typeface="Arial"/>
              </a:rPr>
              <a:t>sheet is </a:t>
            </a:r>
            <a:r>
              <a:rPr lang="en-US" sz="2000" b="0" u="none" strike="noStrike">
                <a:solidFill>
                  <a:srgbClr val="000000"/>
                </a:solidFill>
                <a:effectLst/>
                <a:uFillTx/>
                <a:latin typeface="Arial"/>
              </a:rPr>
              <a:t>stale, </a:t>
            </a:r>
            <a:r>
              <a:rPr lang="en-US" sz="2000" b="0" u="none" strike="noStrike">
                <a:solidFill>
                  <a:srgbClr val="000000"/>
                </a:solidFill>
                <a:effectLst/>
                <a:uFillTx/>
                <a:latin typeface="Arial"/>
              </a:rPr>
              <a:t>retyped, and </a:t>
            </a:r>
            <a:r>
              <a:rPr lang="en-US" sz="2000" b="0" u="none" strike="noStrike">
                <a:solidFill>
                  <a:srgbClr val="000000"/>
                </a:solidFill>
                <a:effectLst/>
                <a:uFillTx/>
                <a:latin typeface="Arial"/>
              </a:rPr>
              <a:t>no number </a:t>
            </a:r>
            <a:r>
              <a:rPr lang="en-US" sz="2000" b="0" u="none" strike="noStrike">
                <a:solidFill>
                  <a:srgbClr val="000000"/>
                </a:solidFill>
                <a:effectLst/>
                <a:uFillTx/>
                <a:latin typeface="Arial"/>
              </a:rPr>
              <a:t>links back to </a:t>
            </a:r>
            <a:r>
              <a:rPr lang="en-US" sz="2000" b="0" u="none" strike="noStrike">
                <a:solidFill>
                  <a:srgbClr val="000000"/>
                </a:solidFill>
                <a:effectLst/>
                <a:uFillTx/>
                <a:latin typeface="Arial"/>
              </a:rPr>
              <a:t>its source, so </a:t>
            </a:r>
            <a:r>
              <a:rPr lang="en-US" sz="2000" b="0" u="none" strike="noStrike">
                <a:solidFill>
                  <a:srgbClr val="000000"/>
                </a:solidFill>
                <a:effectLst/>
                <a:uFillTx/>
                <a:latin typeface="Arial"/>
              </a:rPr>
              <a:t>'where did </a:t>
            </a:r>
            <a:r>
              <a:rPr lang="en-US" sz="2000" b="0" u="none" strike="noStrike">
                <a:solidFill>
                  <a:srgbClr val="000000"/>
                </a:solidFill>
                <a:effectLst/>
                <a:uFillTx/>
                <a:latin typeface="Arial"/>
              </a:rPr>
              <a:t>this 78% </a:t>
            </a:r>
            <a:r>
              <a:rPr lang="en-US" sz="2000" b="0" u="none" strike="noStrike">
                <a:solidFill>
                  <a:srgbClr val="000000"/>
                </a:solidFill>
                <a:effectLst/>
                <a:uFillTx/>
                <a:latin typeface="Arial"/>
              </a:rPr>
              <a:t>come from?' </a:t>
            </a:r>
            <a:r>
              <a:rPr lang="en-US" sz="2000" b="0" u="none" strike="noStrike">
                <a:solidFill>
                  <a:srgbClr val="000000"/>
                </a:solidFill>
                <a:effectLst/>
                <a:uFillTx/>
                <a:latin typeface="Arial"/>
              </a:rPr>
              <a:t>→ 'let me re-</a:t>
            </a:r>
            <a:r>
              <a:rPr lang="en-US" sz="2000" b="0" u="none" strike="noStrike">
                <a:solidFill>
                  <a:srgbClr val="000000"/>
                </a:solidFill>
                <a:effectLst/>
                <a:uFillTx/>
                <a:latin typeface="Arial"/>
              </a:rPr>
              <a:t>open the </a:t>
            </a:r>
            <a:r>
              <a:rPr lang="en-US" sz="2000" b="0" u="none" strike="noStrike">
                <a:solidFill>
                  <a:srgbClr val="000000"/>
                </a:solidFill>
                <a:effectLst/>
                <a:uFillTx/>
                <a:latin typeface="Arial"/>
              </a:rPr>
              <a:t>PDF.'</a:t>
            </a:r>
            <a:endParaRPr lang="en-US" sz="2000" b="0" u="none" strike="noStrike">
              <a:solidFill>
                <a:srgbClr val="000000"/>
              </a:solidFill>
              <a:effectLst/>
              <a:uFillTx/>
              <a:latin typeface="Arial"/>
            </a:endParaRPr>
          </a:p>
        </p:txBody>
      </p:sp>
      <p:sp>
        <p:nvSpPr>
          <p:cNvPr id="62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15CE20-539C-443C-A051-E1B36CB94184}"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685800" y="1143000"/>
            <a:ext cx="5486040" cy="3085920"/>
          </a:xfrm>
          <a:prstGeom prst="rect">
            <a:avLst/>
          </a:prstGeom>
          <a:ln w="0">
            <a:noFill/>
          </a:ln>
        </p:spPr>
      </p:sp>
      <p:sp>
        <p:nvSpPr>
          <p:cNvPr id="6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whole idea in one picture. Two companies both print the same '60% gross margin' (illustrative) — but a SaaS delivery-margin and a lender's interest-margin are different machines. On screen this fires for real on LendBridge: its labelled 'gross margin' (58→62%) is an interest margin — shown in full, but never ranked against a SaaS margin. The product isn't pulling the number out; the product is knowing when NOT to put them in the same column. Same label, different metric. Comparability is the product.</a:t>
            </a:r>
            <a:endParaRPr lang="en-US" sz="2000" b="0" u="none" strike="noStrike">
              <a:solidFill>
                <a:srgbClr val="000000"/>
              </a:solidFill>
              <a:effectLst/>
              <a:uFillTx/>
              <a:latin typeface="Arial"/>
            </a:endParaRPr>
          </a:p>
        </p:txBody>
      </p:sp>
      <p:sp>
        <p:nvSpPr>
          <p:cNvPr id="62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49E21D-E6DB-4A40-A314-6B4BD7497847}"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685800" y="1143000"/>
            <a:ext cx="5486040" cy="3085920"/>
          </a:xfrm>
          <a:prstGeom prst="rect">
            <a:avLst/>
          </a:prstGeom>
          <a:ln w="0">
            <a:noFill/>
          </a:ln>
        </p:spPr>
      </p:sp>
      <p:sp>
        <p:nvSpPr>
          <p:cNvPr id="6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Say almost verbatim: 'For this demo I used a single deterministic method — fixed rules — on purpose. Rules are cheap, fast, testable, offline, and they never invent a number. But one method is not production-grade: a single reader, however good, can be wrong and you'd never know.' The honest Firecrawl story (own it): 'My first build used Firecrawl, a paid extraction service. I hit errors AND ran out of credit mid-build, so I switched to deterministic — and honestly that was the right move: it let me prove the business case, auditable and offline. Deterministic-first is genuinely right for a trust tool.'</a:t>
            </a:r>
            <a:endParaRPr lang="en-US" sz="2000" b="0" u="none" strike="noStrike">
              <a:solidFill>
                <a:srgbClr val="000000"/>
              </a:solidFill>
              <a:effectLst/>
              <a:uFillTx/>
              <a:latin typeface="Arial"/>
            </a:endParaRPr>
          </a:p>
        </p:txBody>
      </p:sp>
      <p:sp>
        <p:nvSpPr>
          <p:cNvPr id="62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B13320-2DEC-42B0-A7F5-D7FC80F79258}"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685800" y="1143000"/>
            <a:ext cx="5486040" cy="3085920"/>
          </a:xfrm>
          <a:prstGeom prst="rect">
            <a:avLst/>
          </a:prstGeom>
          <a:ln w="0">
            <a:noFill/>
          </a:ln>
        </p:spPr>
      </p:sp>
      <p:sp>
        <p:nvSpPr>
          <p:cNvPr id="6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To make one reader trustworthy in production, you don't rely on one. You run 2–4 independent readers in parallel — methods that fail in DIFFERENT ways. A small orchestrator collects their answers: the more readers agree, the higher the confidence; any disagreement flags that metric and sends it to a human, every reader's answer side by side. Consensus is tiered, not all-or-nothing. The disagreement IS the alarm. Deep architecture is in §8 (Group A). Disarming line: 'this demo showcases the business more than the technical — but I'll stay honest about what one method can't do.' Both judges: 'the thing that makes the numbers more correct is the same thing that gives you the control and the audit trail.'</a:t>
            </a:r>
            <a:endParaRPr lang="en-US" sz="2000" b="0" u="none" strike="noStrike">
              <a:solidFill>
                <a:srgbClr val="000000"/>
              </a:solidFill>
              <a:effectLst/>
              <a:uFillTx/>
              <a:latin typeface="Arial"/>
            </a:endParaRPr>
          </a:p>
        </p:txBody>
      </p:sp>
      <p:sp>
        <p:nvSpPr>
          <p:cNvPr id="63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6569C5-75E7-4E77-AB82-892CB919D0AA}"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685800" y="1143000"/>
            <a:ext cx="5486040" cy="308592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principle I build by, and the one I'd want a tool at Sagard to follow: be AI-first, but human-decision-driven. AI is probabilistic — it gives a likely answer, not a certain one — so we never let it decide. AI does the heavy, repetitive work and suggests with reasons. The human is the center of every decision, and makes every call that reaches a report. A probabilistic model can't decide what's 'right enough' for a report — a human signs it off.</a:t>
            </a:r>
            <a:endParaRPr lang="en-US" sz="2000" b="0" u="none" strike="noStrike">
              <a:solidFill>
                <a:srgbClr val="000000"/>
              </a:solidFill>
              <a:effectLst/>
              <a:uFillTx/>
              <a:latin typeface="Arial"/>
            </a:endParaRPr>
          </a:p>
        </p:txBody>
      </p:sp>
      <p:sp>
        <p:nvSpPr>
          <p:cNvPr id="63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F027FB-55FF-4D2C-9021-E0D1713C975A}"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685800" y="1143000"/>
            <a:ext cx="5486040" cy="3085920"/>
          </a:xfrm>
          <a:prstGeom prst="rect">
            <a:avLst/>
          </a:prstGeom>
          <a:ln w="0">
            <a:noFill/>
          </a:ln>
        </p:spPr>
      </p:sp>
      <p:sp>
        <p:nvSpPr>
          <p:cNvPr id="6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Decision quality first, time second. No invented numbers. 'Today the quarter-close is hours to days — often days — of re-typing 20+ packs before anyone can even see the portfolio. With Concord it's one click to a comparable, source-traced view — so the team spends its time on judgment, not typing. But the bigger win isn't the hours. It's that the comparison is trustworthy, and every number is one click from proof. A wrong number caught before it reaches an investment committee is worth far more than any typing saved.' If they ask for a number, turn it back: 'How many hours does your team actually spend on this today?' Never fabricate one.</a:t>
            </a:r>
            <a:endParaRPr lang="en-US" sz="2000" b="0" u="none" strike="noStrike">
              <a:solidFill>
                <a:srgbClr val="000000"/>
              </a:solidFill>
              <a:effectLst/>
              <a:uFillTx/>
              <a:latin typeface="Arial"/>
            </a:endParaRPr>
          </a:p>
        </p:txBody>
      </p:sp>
      <p:sp>
        <p:nvSpPr>
          <p:cNvPr id="63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067D60-7FAE-45EE-904F-A77670A6ABD6}"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685800" y="1143000"/>
            <a:ext cx="5486040" cy="3085920"/>
          </a:xfrm>
          <a:prstGeom prst="rect">
            <a:avLst/>
          </a:prstGeom>
          <a:ln w="0">
            <a:noFill/>
          </a:ln>
        </p:spPr>
      </p:sp>
      <p:sp>
        <p:nvSpPr>
          <p:cNvPr id="6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this LIVE from the app — the three beats and every honest caveat are spoken, not on slides. (1) Pain on screen: load 24 packs offline in ~1 second — 'nothing left the machine' (screenshot the live run; the '24/24' figure comes from the run, never a fixed label). (2) Two proofs: NovaCloud's hidden trend — one lonely dot to a naive tool; Concord stitches renamed labels into 5 quarters, $24.1M → $34.2M (+42%) across 2 source labels; and the refusal — a lender's 62% 'gross margin' next to a SaaS 76%, classifier tags the lender as credit, Concord refuses to rank them and says why. (3) Trust spine: click any number → the provenance drawer shows source file, raw label, confidence, and the exact source text. Say the honesty caveats before they ask: 24 packs are synthetic fixtures, not real filings; PeopleFlow's GBP flag is a front-end rule; provenance is file-level; the raw missing-metric flag has a couple of false positives suppressed on the grid (never '0 false alarms'); intra-SaaS margin is roadmap; 22/22 reconciliation is a second witness, the real catch is the 7 in-document conflicts. If you voice a confidence range, quote only 90.4%–99.5%. Do NOT stage a live 'MediSight +5.5M' catch — not in the corpus. Scripts: cockpit-frontend-guide.md + demo-honesty-script.md.</a:t>
            </a:r>
            <a:endParaRPr lang="en-US" sz="2000" b="0" u="none" strike="noStrike">
              <a:solidFill>
                <a:srgbClr val="000000"/>
              </a:solidFill>
              <a:effectLst/>
              <a:uFillTx/>
              <a:latin typeface="Arial"/>
            </a:endParaRPr>
          </a:p>
        </p:txBody>
      </p:sp>
      <p:sp>
        <p:nvSpPr>
          <p:cNvPr id="64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5CB72E-5CA4-4926-8E49-96F17754FD2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685800" y="1143000"/>
            <a:ext cx="5486040" cy="3085920"/>
          </a:xfrm>
          <a:prstGeom prst="rect">
            <a:avLst/>
          </a:prstGeom>
          <a:ln w="0">
            <a:noFill/>
          </a:ln>
        </p:spPr>
      </p:sp>
      <p:sp>
        <p:nvSpPr>
          <p:cNvPr id="6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section is about making the PRODUCT more trustworthy and more useful — scaling and system design live in §9 and the iv- doc. The honest bottom line: the reliable version of Concord isn't 'more AI.' It's more agreement, more human judgment, and a complete record of both — the ensemble raises warnings, a human decides, and every decision is permanently traceable. Everything in this section is designed, not built. Show Groups A, C, E, G; B and F are backup.</a:t>
            </a:r>
            <a:endParaRPr lang="en-US" sz="2000" b="0" u="none" strike="noStrike">
              <a:solidFill>
                <a:srgbClr val="000000"/>
              </a:solidFill>
              <a:effectLst/>
              <a:uFillTx/>
              <a:latin typeface="Arial"/>
            </a:endParaRPr>
          </a:p>
        </p:txBody>
      </p:sp>
      <p:sp>
        <p:nvSpPr>
          <p:cNvPr id="64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68D4754-D500-4315-B216-B22E5AF7C30F}"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685800" y="1143000"/>
            <a:ext cx="5486040" cy="3085920"/>
          </a:xfrm>
          <a:prstGeom prst="rect">
            <a:avLst/>
          </a:prstGeom>
          <a:ln w="0">
            <a:noFill/>
          </a:ln>
        </p:spPr>
      </p:sp>
      <p:sp>
        <p:nvSpPr>
          <p:cNvPr id="6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headline for Parinaz. Three reader FAMILIES that fail differently — Firecrawl (a cloud AI parser — flattens odd tables), a doc-AI/OCR engine (fails quietly), a vision-LLM (fails silently). Three copies of one model share blind spots — confidently wrong the same way (correlated failure); for M independent readers error variance shrinks ~1/M (RMS ~1/√M). So use DIFFERENT mechanisms whose errors decorrelate. Consensus is TIERED, not 'all must agree': validated (all agree within tolerance) / validated-with-note / disagree (no quorum or the most-trusted dissents → human queue) / unresolved. Count isn't enough — independence decides. Deep depth (A0–A9): correlated-failure math, Self-MoA hedge, supervisor graph, the ClearPay trace, cost/latency, confidence routing, the human-review queue — all Q&amp;A, never slides.</a:t>
            </a:r>
            <a:endParaRPr lang="en-US" sz="2000" b="0" u="none" strike="noStrike">
              <a:solidFill>
                <a:srgbClr val="000000"/>
              </a:solidFill>
              <a:effectLst/>
              <a:uFillTx/>
              <a:latin typeface="Arial"/>
            </a:endParaRPr>
          </a:p>
        </p:txBody>
      </p:sp>
      <p:sp>
        <p:nvSpPr>
          <p:cNvPr id="64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6DA949-429C-431E-A74F-40CD2201D06A}"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685800" y="1143000"/>
            <a:ext cx="5486040" cy="3085920"/>
          </a:xfrm>
          <a:prstGeom prst="rect">
            <a:avLst/>
          </a:prstGeom>
          <a:ln w="0">
            <a:noFill/>
          </a:ln>
        </p:spPr>
      </p:sp>
      <p:sp>
        <p:nvSpPr>
          <p:cNvPr id="6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whole future design on one screen — read this first. A document comes in at the top; three AI readers read it at the same time; the orchestrator (a referee) lines them up on the same fact and asks one question — are the numbers close enough? Whatever they agree on is auto-accepted; whatever they disagree on goes to a person with the real PDF in front of them, who validates or corrects, with a second person approving (four-eyes) and a full audit trail. One trusted number lands in the cockpit, still traceable to its source, and every correction teaches the readers. The honest limit the picture shows: all three readers are AI, so they can share a blind spot — agreement is strong evidence, not proof, which is exactly why the disagree path ends at a person. Future expansion, not built; the on-page PDF screenshot is new here — today's proof-of-source is file-level.</a:t>
            </a:r>
            <a:endParaRPr lang="en-US" sz="2000" b="0" u="none" strike="noStrike">
              <a:solidFill>
                <a:srgbClr val="000000"/>
              </a:solidFill>
              <a:effectLst/>
              <a:uFillTx/>
              <a:latin typeface="Arial"/>
            </a:endParaRPr>
          </a:p>
        </p:txBody>
      </p:sp>
      <p:sp>
        <p:nvSpPr>
          <p:cNvPr id="65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92D703-F865-4E18-857C-FA8591E73D63}"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685800" y="1143000"/>
            <a:ext cx="5486040" cy="3085920"/>
          </a:xfrm>
          <a:prstGeom prst="rect">
            <a:avLst/>
          </a:prstGeom>
          <a:ln w="0">
            <a:noFill/>
          </a:ln>
        </p:spPr>
      </p:sp>
      <p:sp>
        <p:nvSpPr>
          <p:cNvPr id="6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After the numbers are clean and comparable, an LLM writes a short 'here's the story' note — per company and for the whole portfolio — explicitly a suggestion, labelled 'AI suggestion — review'. The human accepts, corrects, or comments; next quarter the LLM reads last quarter's comments first, so it learns the house view. Why it's safe: it reads only over already-normalized, provenance-tagged numbers — it can't inject a wrong figure, only a wrong interpretation, which the human refutes. It cites every number. No dollar-ROI or fund-return claims.</a:t>
            </a:r>
            <a:endParaRPr lang="en-US" sz="2000" b="0" u="none" strike="noStrike">
              <a:solidFill>
                <a:srgbClr val="000000"/>
              </a:solidFill>
              <a:effectLst/>
              <a:uFillTx/>
              <a:latin typeface="Arial"/>
            </a:endParaRPr>
          </a:p>
        </p:txBody>
      </p:sp>
      <p:sp>
        <p:nvSpPr>
          <p:cNvPr id="65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9C555B-5EC1-456C-88F7-99EE61E7A1F8}"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685800" y="1143000"/>
            <a:ext cx="5486040" cy="3085920"/>
          </a:xfrm>
          <a:prstGeom prst="rect">
            <a:avLst/>
          </a:prstGeom>
          <a:ln w="0">
            <a:noFill/>
          </a:ln>
        </p:spPr>
      </p:sp>
      <p:sp>
        <p:nvSpPr>
          <p:cNvPr id="6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 screen PeopleFlow carries a '· not comparable (GBP)' flag — one label reads 'Net Pound Retention (NPR)', the tell that its figures may be in pounds. So the tool refuses to put it on a dollar axis. The honest limit you MUST own: this flag is a front-end rulebook rule, not captured data — in the live payload PeopleFlow's currency is null and every row is comparable; the parser does not see the £. Roadmap: a dedicated reader captures the currency symbol → captured data; convert LEVELS only with a dated, sourced rate (fx_rate / fx_source / fx_date); refuse to convert RATIOS/percentages; refuse over convert where the rate/basis is unknown.</a:t>
            </a:r>
            <a:endParaRPr lang="en-US" sz="2000" b="0" u="none" strike="noStrike">
              <a:solidFill>
                <a:srgbClr val="000000"/>
              </a:solidFill>
              <a:effectLst/>
              <a:uFillTx/>
              <a:latin typeface="Arial"/>
            </a:endParaRPr>
          </a:p>
        </p:txBody>
      </p:sp>
      <p:sp>
        <p:nvSpPr>
          <p:cNvPr id="65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93946F-4741-4CFE-8E45-AD6374947C1A}"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685800" y="1143000"/>
            <a:ext cx="5486040" cy="3085920"/>
          </a:xfrm>
          <a:prstGeom prst="rect">
            <a:avLst/>
          </a:prstGeom>
          <a:ln w="0">
            <a:noFill/>
          </a:ln>
        </p:spPr>
      </p:sp>
      <p:sp>
        <p:nvSpPr>
          <p:cNvPr id="6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Built for a compliance-minded operations team (Sharon's world). None of this exists yet — the natural next layer on top of two controls Concord already has (provenance + refuse-to-compare). Design principles: never overwrite silently (the extracted value and every human action are both kept — a correction is a new state); human-in-the-loop (the machine only flags; a human decides); segregation of duties / maker-checker (whoever suggests is not whoever approves); least privilege (see only your assigned companies). The audit trail: an append-only, immutable log — who, which field, old→new, when, why — exportable to survive an auditor or LP challenge. This overlaps iv-system-design-and-scaling.md.</a:t>
            </a:r>
            <a:endParaRPr lang="en-US" sz="2000" b="0" u="none" strike="noStrike">
              <a:solidFill>
                <a:srgbClr val="000000"/>
              </a:solidFill>
              <a:effectLst/>
              <a:uFillTx/>
              <a:latin typeface="Arial"/>
            </a:endParaRPr>
          </a:p>
        </p:txBody>
      </p:sp>
      <p:sp>
        <p:nvSpPr>
          <p:cNvPr id="65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89D0B3-0147-4A32-9AE1-3118A5904D8F}"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685800" y="1143000"/>
            <a:ext cx="5486040" cy="3085920"/>
          </a:xfrm>
          <a:prstGeom prst="rect">
            <a:avLst/>
          </a:prstGeom>
          <a:ln w="0">
            <a:noFill/>
          </a:ln>
        </p:spPr>
      </p:sp>
      <p:sp>
        <p:nvSpPr>
          <p:cNvPr id="6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Say it plainly: Concord today is a prototype, not a production system. It runs offline in memory, one deterministic extraction pass — no database, no login. The 76%→90% recall is real but measured on 24 synthetic PDFs — enough to prove the idea, not to promise production reliability. How recall was measured (Parinaz will ask): recall = values captured correctly ÷ the 128 numbers physically printed across the 24 synthetic PDFs; the 76%→90% jump came from a backend parser fix, not a changed test set; and recall paired with 0 wrong values is the right measure because a confidently-wrong number is worse than a flagged-missing one.</a:t>
            </a:r>
            <a:endParaRPr lang="en-US" sz="2000" b="0" u="none" strike="noStrike">
              <a:solidFill>
                <a:srgbClr val="000000"/>
              </a:solidFill>
              <a:effectLst/>
              <a:uFillTx/>
              <a:latin typeface="Arial"/>
            </a:endParaRPr>
          </a:p>
        </p:txBody>
      </p:sp>
      <p:sp>
        <p:nvSpPr>
          <p:cNvPr id="66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742BEA-D5D7-4869-91BD-3209E67D07E1}"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685800" y="1143000"/>
            <a:ext cx="5486040" cy="308592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honest paths. Option 1 — harden in place: keep the working engine; add a durable store, a job queue + retries, and the redundant-extraction ensemble; stay offline/on-prem. High reliability gain fast (the ensemble is the biggest single lever); low risk (additive + reversible; the deterministic core stays as a canary). Option 2 — cloud re-platform: event-driven, multi-tenant, auto-scales for quarter-end bursts; highest ceiling but data leaves on-prem — a real data-residency question. Recommendation: do Option 1 first; treat Option 2 as the destination — move only when volume, bursts, tenants or SLAs justify it, and only after data-residency is answered. The depth lives in iv-system-design-and-scaling.md (Q&amp;A / whiteboard).</a:t>
            </a:r>
            <a:endParaRPr lang="en-US" sz="2000" b="0" u="none" strike="noStrike">
              <a:solidFill>
                <a:srgbClr val="000000"/>
              </a:solidFill>
              <a:effectLst/>
              <a:uFillTx/>
              <a:latin typeface="Arial"/>
            </a:endParaRPr>
          </a:p>
        </p:txBody>
      </p:sp>
      <p:sp>
        <p:nvSpPr>
          <p:cNvPr id="66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D7B32C-3D01-4812-858E-92161A892424}"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685800" y="1143000"/>
            <a:ext cx="5486040" cy="308592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FDE monologue: 'Most of my time was not coding. It went into understanding your world — what Sagard is and how it makes money, the difference between VC, PE and private credit, how PE works, who the personas are, how the portfolio operations team works and what problems they have, and how they monitor the portfolio using the quarterly reports. Only then did I scope the problem, then plan, weigh trade-offs, and build — and last, make these slides. That's on purpose, because that is what a Forward Deployed Engineer does: take something ambiguous, research it, understand it, get feedback, plan, weigh trade-offs, then solve it with software and AI. The hardest part wasn't the code — it was learning enough of your world to point the code at the right problem.' These percentages are my own rough self-estimate — say 'roughly,' not a measured fact.</a:t>
            </a:r>
            <a:endParaRPr lang="en-US" sz="2000" b="0" u="none" strike="noStrike">
              <a:solidFill>
                <a:srgbClr val="000000"/>
              </a:solidFill>
              <a:effectLst/>
              <a:uFillTx/>
              <a:latin typeface="Arial"/>
            </a:endParaRPr>
          </a:p>
        </p:txBody>
      </p:sp>
      <p:sp>
        <p:nvSpPr>
          <p:cNvPr id="66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0ACF2C-F561-4015-8F01-AFB57C3911F7}"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685800" y="1143000"/>
            <a:ext cx="5486040" cy="3085920"/>
          </a:xfrm>
          <a:prstGeom prst="rect">
            <a:avLst/>
          </a:prstGeom>
          <a:ln w="0">
            <a:noFill/>
          </a:ln>
        </p:spPr>
      </p:sp>
      <p:sp>
        <p:nvSpPr>
          <p:cNvPr id="6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'That's Concord — comparability as the product, every number one click from its source, and a clear path to the reliable, redundant version. I'd love your questions — and I have a few for you.' If pressed on 'its source,' provenance is file-level (source file + its own label + confidence + exact excerpt — no page/sentence; page-level anchoring is roadmap).</a:t>
            </a:r>
            <a:endParaRPr lang="en-US" sz="2000" b="0" u="none" strike="noStrike">
              <a:solidFill>
                <a:srgbClr val="000000"/>
              </a:solidFill>
              <a:effectLst/>
              <a:uFillTx/>
              <a:latin typeface="Arial"/>
            </a:endParaRPr>
          </a:p>
        </p:txBody>
      </p:sp>
      <p:sp>
        <p:nvSpPr>
          <p:cNvPr id="67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4D6074-6091-49AF-9894-8516F4C94251}"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685800" y="1143000"/>
            <a:ext cx="5486040" cy="308592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Stage it. After the time bar, PAUSE before this card comes up. Bring it up and let the heart line land — read it slowly: 'Concord — one comparable, source-traced view of every portfolio company. Built with AI, decided by humans. Made with love, with AI — but human-first on every decision.' Say 'Thanks,' and leave the card on screen through Q&amp;A. Don't talk over it. 'Human-first on every decision' is the whole thesis in six words. If asked: the Concord mark is original SVG drawn in code; the Sagard logo is loaded from a file I provided, not reproduced.</a:t>
            </a:r>
            <a:endParaRPr lang="en-US" sz="2000" b="0" u="none" strike="noStrike">
              <a:solidFill>
                <a:srgbClr val="000000"/>
              </a:solidFill>
              <a:effectLst/>
              <a:uFillTx/>
              <a:latin typeface="Arial"/>
            </a:endParaRPr>
          </a:p>
        </p:txBody>
      </p:sp>
      <p:sp>
        <p:nvSpPr>
          <p:cNvPr id="67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FF45B6-D8B5-40EE-82D2-9D350645EF42}"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sv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16.png"/><Relationship Id="rId6" Type="http://schemas.openxmlformats.org/officeDocument/2006/relationships/image" Target="../media/image17.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20.png"/><Relationship Id="rId10" Type="http://schemas.openxmlformats.org/officeDocument/2006/relationships/image" Target="../media/image21.svg"/><Relationship Id="rId11" Type="http://schemas.openxmlformats.org/officeDocument/2006/relationships/image" Target="../media/image22.png"/><Relationship Id="rId12" Type="http://schemas.openxmlformats.org/officeDocument/2006/relationships/image" Target="../media/image23.svg"/><Relationship Id="rId13" Type="http://schemas.openxmlformats.org/officeDocument/2006/relationships/image" Target="../media/image4.png"/><Relationship Id="rId14" Type="http://schemas.openxmlformats.org/officeDocument/2006/relationships/slideLayout" Target="../slideLayouts/slideLayout1.xml"/><Relationship Id="rId1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6.png"/><Relationship Id="rId6" Type="http://schemas.openxmlformats.org/officeDocument/2006/relationships/slideLayout" Target="../slideLayouts/slideLayout1.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svg"/><Relationship Id="rId3" Type="http://schemas.openxmlformats.org/officeDocument/2006/relationships/image" Target="../media/image35.png"/><Relationship Id="rId4" Type="http://schemas.openxmlformats.org/officeDocument/2006/relationships/image" Target="../media/image36.svg"/><Relationship Id="rId5" Type="http://schemas.openxmlformats.org/officeDocument/2006/relationships/image" Target="../media/image37.png"/><Relationship Id="rId6" Type="http://schemas.openxmlformats.org/officeDocument/2006/relationships/image" Target="../media/image38.svg"/><Relationship Id="rId7" Type="http://schemas.openxmlformats.org/officeDocument/2006/relationships/image" Target="../media/image26.png"/><Relationship Id="rId8" Type="http://schemas.openxmlformats.org/officeDocument/2006/relationships/slideLayout" Target="../slideLayouts/slideLayout1.xml"/><Relationship Id="rId9"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3.png"/><Relationship Id="rId6" Type="http://schemas.openxmlformats.org/officeDocument/2006/relationships/image" Target="../media/image44.svg"/><Relationship Id="rId7" Type="http://schemas.openxmlformats.org/officeDocument/2006/relationships/image" Target="../media/image26.png"/><Relationship Id="rId8" Type="http://schemas.openxmlformats.org/officeDocument/2006/relationships/slideLayout" Target="../slideLayouts/slideLayout1.xml"/><Relationship Id="rId9"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47.png"/><Relationship Id="rId5" Type="http://schemas.openxmlformats.org/officeDocument/2006/relationships/image" Target="../media/image48.svg"/><Relationship Id="rId6" Type="http://schemas.openxmlformats.org/officeDocument/2006/relationships/slideLayout" Target="../slideLayouts/slideLayout1.xml"/><Relationship Id="rId7"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10"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BUSINESS CASE PRESENTATION</a:t>
            </a:r>
            <a:endParaRPr lang="en-US" sz="1800" b="0" u="none" strike="noStrike">
              <a:solidFill>
                <a:srgbClr val="000000"/>
              </a:solidFill>
              <a:effectLst/>
              <a:uFillTx/>
              <a:latin typeface="Arial"/>
            </a:endParaRPr>
          </a:p>
        </p:txBody>
      </p:sp>
      <p:sp>
        <p:nvSpPr>
          <p:cNvPr id="11" name="Text 1"/>
          <p:cNvSpPr/>
          <p:nvPr/>
        </p:nvSpPr>
        <p:spPr>
          <a:xfrm>
            <a:off x="1107720" y="1863720"/>
            <a:ext cx="17640720" cy="46008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97000"/>
              </a:lnSpc>
              <a:tabLst>
                <a:tab pos="0" algn="l"/>
              </a:tabLst>
            </a:pPr>
            <a:r>
              <a:rPr lang="en-US" sz="4800" b="1" u="none" spc="-71" strike="noStrike">
                <a:solidFill>
                  <a:srgbClr val="201E1D"/>
                </a:solidFill>
                <a:effectLst/>
                <a:uFillTx/>
                <a:latin typeface="Arial"/>
                <a:ea typeface="Arial"/>
              </a:rPr>
              <a:t>A business case for Concord</a:t>
            </a:r>
            <a:endParaRPr lang="en-US" sz="4800" b="0" u="none" strike="noStrike">
              <a:solidFill>
                <a:srgbClr val="000000"/>
              </a:solidFill>
              <a:effectLst/>
              <a:uFillTx/>
              <a:latin typeface="Arial"/>
            </a:endParaRPr>
          </a:p>
        </p:txBody>
      </p:sp>
      <p:sp>
        <p:nvSpPr>
          <p:cNvPr id="12" name="Text 2"/>
          <p:cNvSpPr/>
          <p:nvPr/>
        </p:nvSpPr>
        <p:spPr>
          <a:xfrm>
            <a:off x="1143000" y="2727720"/>
            <a:ext cx="14323320" cy="9540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1000"/>
              </a:lnSpc>
              <a:tabLst>
                <a:tab pos="0" algn="l"/>
              </a:tabLst>
            </a:pPr>
            <a:r>
              <a:rPr lang="en-US" sz="2780" b="1" u="none" spc="-43" strike="noStrike">
                <a:solidFill>
                  <a:srgbClr val="201E1D"/>
                </a:solidFill>
                <a:effectLst/>
                <a:uFillTx/>
                <a:latin typeface="Arial"/>
                <a:ea typeface="Arial"/>
              </a:rPr>
              <a:t>I’m Xavier — a software engineer who likes </a:t>
            </a:r>
            <a:r>
              <a:rPr lang="en-US" sz="2780" b="1" u="none" spc="-43" strike="noStrike">
                <a:solidFill>
                  <a:srgbClr val="AE1800"/>
                </a:solidFill>
                <a:effectLst/>
                <a:uFillTx/>
                <a:latin typeface="Arial"/>
                <a:ea typeface="Arial"/>
              </a:rPr>
              <a:t>solving hard problems </a:t>
            </a:r>
            <a:r>
              <a:rPr lang="en-US" sz="2780" b="1" u="none" spc="-43" strike="noStrike">
                <a:solidFill>
                  <a:srgbClr val="201E1D"/>
                </a:solidFill>
                <a:effectLst/>
                <a:uFillTx/>
                <a:latin typeface="Arial"/>
                <a:ea typeface="Arial"/>
              </a:rPr>
              <a:t>and </a:t>
            </a:r>
            <a:r>
              <a:rPr lang="en-US" sz="2780" b="1" u="none" spc="-43" strike="noStrike">
                <a:solidFill>
                  <a:srgbClr val="AE1800"/>
                </a:solidFill>
                <a:effectLst/>
                <a:uFillTx/>
                <a:latin typeface="Arial"/>
                <a:ea typeface="Arial"/>
              </a:rPr>
              <a:t>owning them end to end </a:t>
            </a:r>
            <a:r>
              <a:rPr lang="en-US" sz="2780" b="1" u="none" spc="-43" strike="noStrike">
                <a:solidFill>
                  <a:srgbClr val="201E1D"/>
                </a:solidFill>
                <a:effectLst/>
                <a:uFillTx/>
                <a:latin typeface="Arial"/>
                <a:ea typeface="Arial"/>
              </a:rPr>
              <a:t>.</a:t>
            </a:r>
            <a:endParaRPr lang="en-US" sz="2780" b="0" u="none" strike="noStrike">
              <a:solidFill>
                <a:srgbClr val="000000"/>
              </a:solidFill>
              <a:effectLst/>
              <a:uFillTx/>
              <a:latin typeface="Arial"/>
            </a:endParaRPr>
          </a:p>
        </p:txBody>
      </p:sp>
      <p:sp>
        <p:nvSpPr>
          <p:cNvPr id="13" name="Text 3"/>
          <p:cNvSpPr/>
          <p:nvPr/>
        </p:nvSpPr>
        <p:spPr>
          <a:xfrm>
            <a:off x="1143000" y="4558680"/>
            <a:ext cx="176018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EC3013"/>
                </a:solidFill>
                <a:effectLst/>
                <a:uFillTx/>
                <a:latin typeface="Arial"/>
                <a:ea typeface="Arial"/>
              </a:rPr>
              <a:t>HOW I TAKE OWNERSHIP — END TO END</a:t>
            </a:r>
            <a:endParaRPr lang="en-US" sz="1800" b="0" u="none" strike="noStrike">
              <a:solidFill>
                <a:srgbClr val="000000"/>
              </a:solidFill>
              <a:effectLst/>
              <a:uFillTx/>
              <a:latin typeface="Arial"/>
            </a:endParaRPr>
          </a:p>
        </p:txBody>
      </p:sp>
      <p:sp>
        <p:nvSpPr>
          <p:cNvPr id="14" name="Shape 4"/>
          <p:cNvSpPr/>
          <p:nvPr/>
        </p:nvSpPr>
        <p:spPr>
          <a:xfrm>
            <a:off x="1143000" y="5122080"/>
            <a:ext cx="2844000" cy="13446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 name="Text 5"/>
          <p:cNvSpPr/>
          <p:nvPr/>
        </p:nvSpPr>
        <p:spPr>
          <a:xfrm>
            <a:off x="1309320" y="530748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01</a:t>
            </a:r>
            <a:endParaRPr lang="en-US" sz="1800" b="0" u="none" strike="noStrike">
              <a:solidFill>
                <a:srgbClr val="000000"/>
              </a:solidFill>
              <a:effectLst/>
              <a:uFillTx/>
              <a:latin typeface="Arial"/>
            </a:endParaRPr>
          </a:p>
        </p:txBody>
      </p:sp>
      <p:sp>
        <p:nvSpPr>
          <p:cNvPr id="16" name="Text 6"/>
          <p:cNvSpPr/>
          <p:nvPr/>
        </p:nvSpPr>
        <p:spPr>
          <a:xfrm>
            <a:off x="1309320" y="572832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Unclear problem</a:t>
            </a:r>
            <a:endParaRPr lang="en-US" sz="1800" b="0" u="none" strike="noStrike">
              <a:solidFill>
                <a:srgbClr val="000000"/>
              </a:solidFill>
              <a:effectLst/>
              <a:uFillTx/>
              <a:latin typeface="Arial"/>
            </a:endParaRPr>
          </a:p>
        </p:txBody>
      </p:sp>
      <p:sp>
        <p:nvSpPr>
          <p:cNvPr id="17" name="Text 7"/>
          <p:cNvSpPr/>
          <p:nvPr/>
        </p:nvSpPr>
        <p:spPr>
          <a:xfrm>
            <a:off x="4092120" y="568044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18" name="Shape 8"/>
          <p:cNvSpPr/>
          <p:nvPr/>
        </p:nvSpPr>
        <p:spPr>
          <a:xfrm>
            <a:off x="4425480" y="5122080"/>
            <a:ext cx="2844360" cy="13446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 name="Text 9"/>
          <p:cNvSpPr/>
          <p:nvPr/>
        </p:nvSpPr>
        <p:spPr>
          <a:xfrm>
            <a:off x="4591800" y="5307480"/>
            <a:ext cx="27630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02</a:t>
            </a:r>
            <a:endParaRPr lang="en-US" sz="1800" b="0" u="none" strike="noStrike">
              <a:solidFill>
                <a:srgbClr val="000000"/>
              </a:solidFill>
              <a:effectLst/>
              <a:uFillTx/>
              <a:latin typeface="Arial"/>
            </a:endParaRPr>
          </a:p>
        </p:txBody>
      </p:sp>
      <p:sp>
        <p:nvSpPr>
          <p:cNvPr id="20" name="Text 10"/>
          <p:cNvSpPr/>
          <p:nvPr/>
        </p:nvSpPr>
        <p:spPr>
          <a:xfrm>
            <a:off x="4591800" y="5728320"/>
            <a:ext cx="2587680" cy="563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Reasonable assumptions</a:t>
            </a:r>
            <a:endParaRPr lang="en-US" sz="1800" b="0" u="none" strike="noStrike">
              <a:solidFill>
                <a:srgbClr val="000000"/>
              </a:solidFill>
              <a:effectLst/>
              <a:uFillTx/>
              <a:latin typeface="Arial"/>
            </a:endParaRPr>
          </a:p>
        </p:txBody>
      </p:sp>
      <p:sp>
        <p:nvSpPr>
          <p:cNvPr id="21" name="Text 11"/>
          <p:cNvSpPr/>
          <p:nvPr/>
        </p:nvSpPr>
        <p:spPr>
          <a:xfrm>
            <a:off x="7374600" y="568044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22" name="Shape 12"/>
          <p:cNvSpPr/>
          <p:nvPr/>
        </p:nvSpPr>
        <p:spPr>
          <a:xfrm>
            <a:off x="7707960" y="5122080"/>
            <a:ext cx="2844000" cy="13446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Text 13"/>
          <p:cNvSpPr/>
          <p:nvPr/>
        </p:nvSpPr>
        <p:spPr>
          <a:xfrm>
            <a:off x="7874280" y="530748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03</a:t>
            </a:r>
            <a:endParaRPr lang="en-US" sz="1800" b="0" u="none" strike="noStrike">
              <a:solidFill>
                <a:srgbClr val="000000"/>
              </a:solidFill>
              <a:effectLst/>
              <a:uFillTx/>
              <a:latin typeface="Arial"/>
            </a:endParaRPr>
          </a:p>
        </p:txBody>
      </p:sp>
      <p:sp>
        <p:nvSpPr>
          <p:cNvPr id="24" name="Text 14"/>
          <p:cNvSpPr/>
          <p:nvPr/>
        </p:nvSpPr>
        <p:spPr>
          <a:xfrm>
            <a:off x="7874280" y="5728320"/>
            <a:ext cx="2587680" cy="563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Ship a useful v1 — built to scale</a:t>
            </a:r>
            <a:endParaRPr lang="en-US" sz="1800" b="0" u="none" strike="noStrike">
              <a:solidFill>
                <a:srgbClr val="000000"/>
              </a:solidFill>
              <a:effectLst/>
              <a:uFillTx/>
              <a:latin typeface="Arial"/>
            </a:endParaRPr>
          </a:p>
        </p:txBody>
      </p:sp>
      <p:sp>
        <p:nvSpPr>
          <p:cNvPr id="25" name="Text 15"/>
          <p:cNvSpPr/>
          <p:nvPr/>
        </p:nvSpPr>
        <p:spPr>
          <a:xfrm>
            <a:off x="10657080" y="568044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26" name="Shape 16"/>
          <p:cNvSpPr/>
          <p:nvPr/>
        </p:nvSpPr>
        <p:spPr>
          <a:xfrm>
            <a:off x="10990440" y="5122080"/>
            <a:ext cx="2844000" cy="13446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Text 17"/>
          <p:cNvSpPr/>
          <p:nvPr/>
        </p:nvSpPr>
        <p:spPr>
          <a:xfrm>
            <a:off x="11156400" y="530748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04</a:t>
            </a:r>
            <a:endParaRPr lang="en-US" sz="1800" b="0" u="none" strike="noStrike">
              <a:solidFill>
                <a:srgbClr val="000000"/>
              </a:solidFill>
              <a:effectLst/>
              <a:uFillTx/>
              <a:latin typeface="Arial"/>
            </a:endParaRPr>
          </a:p>
        </p:txBody>
      </p:sp>
      <p:sp>
        <p:nvSpPr>
          <p:cNvPr id="28" name="Text 18"/>
          <p:cNvSpPr/>
          <p:nvPr/>
        </p:nvSpPr>
        <p:spPr>
          <a:xfrm>
            <a:off x="11156400" y="5728320"/>
            <a:ext cx="2587680" cy="563400"/>
          </a:xfrm>
          <a:prstGeom prst="rect">
            <a:avLst/>
          </a:prstGeom>
          <a:noFill/>
          <a:ln w="0">
            <a:noFill/>
          </a:ln>
        </p:spPr>
        <p:style>
          <a:lnRef idx="0"/>
          <a:fillRef idx="0"/>
          <a:effectRef idx="0"/>
          <a:fontRef idx="minor"/>
        </p:style>
        <p:txBody>
          <a:bodyPr lIns="25560" tIns="25560" rIns="25560" bIns="25560" anchor="t">
            <a:normAutofit/>
          </a:bodyPr>
          <a:p>
            <a:pPr defTabSz="914400">
              <a:lnSpc>
                <a:spcPct val="99000"/>
              </a:lnSpc>
              <a:tabLst>
                <a:tab pos="0" algn="l"/>
              </a:tabLst>
            </a:pPr>
            <a:r>
              <a:rPr lang="en-US" sz="1800" b="1" u="none" spc="-17" strike="noStrike">
                <a:solidFill>
                  <a:srgbClr val="201E1D"/>
                </a:solidFill>
                <a:effectLst/>
                <a:uFillTx/>
                <a:latin typeface="Arial"/>
                <a:ea typeface="Arial"/>
              </a:rPr>
              <a:t>Make it reliable to trust</a:t>
            </a:r>
            <a:endParaRPr lang="en-US" sz="1800" b="0" u="none" strike="noStrike">
              <a:solidFill>
                <a:srgbClr val="000000"/>
              </a:solidFill>
              <a:effectLst/>
              <a:uFillTx/>
              <a:latin typeface="Arial"/>
            </a:endParaRPr>
          </a:p>
        </p:txBody>
      </p:sp>
      <p:sp>
        <p:nvSpPr>
          <p:cNvPr id="29" name="Text 19"/>
          <p:cNvSpPr/>
          <p:nvPr/>
        </p:nvSpPr>
        <p:spPr>
          <a:xfrm>
            <a:off x="13939560" y="568044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30" name="Shape 20"/>
          <p:cNvSpPr/>
          <p:nvPr/>
        </p:nvSpPr>
        <p:spPr>
          <a:xfrm>
            <a:off x="14272560" y="5122080"/>
            <a:ext cx="2872080" cy="134460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 name="Text 21"/>
          <p:cNvSpPr/>
          <p:nvPr/>
        </p:nvSpPr>
        <p:spPr>
          <a:xfrm>
            <a:off x="14452920" y="532152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05 · ↻</a:t>
            </a:r>
            <a:endParaRPr lang="en-US" sz="1800" b="0" u="none" strike="noStrike">
              <a:solidFill>
                <a:srgbClr val="000000"/>
              </a:solidFill>
              <a:effectLst/>
              <a:uFillTx/>
              <a:latin typeface="Arial"/>
            </a:endParaRPr>
          </a:p>
        </p:txBody>
      </p:sp>
      <p:sp>
        <p:nvSpPr>
          <p:cNvPr id="32" name="Text 22"/>
          <p:cNvSpPr/>
          <p:nvPr/>
        </p:nvSpPr>
        <p:spPr>
          <a:xfrm>
            <a:off x="14452920" y="5742360"/>
            <a:ext cx="2587680" cy="563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Improve from real feedback</a:t>
            </a:r>
            <a:endParaRPr lang="en-US" sz="1800" b="0" u="none" strike="noStrike">
              <a:solidFill>
                <a:srgbClr val="000000"/>
              </a:solidFill>
              <a:effectLst/>
              <a:uFillTx/>
              <a:latin typeface="Arial"/>
            </a:endParaRPr>
          </a:p>
        </p:txBody>
      </p:sp>
      <p:sp>
        <p:nvSpPr>
          <p:cNvPr id="33" name="Text 23"/>
          <p:cNvSpPr/>
          <p:nvPr/>
        </p:nvSpPr>
        <p:spPr>
          <a:xfrm>
            <a:off x="1143000" y="69962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That’s the builder in me — but most of my time here went into understanding </a:t>
            </a:r>
            <a:r>
              <a:rPr lang="en-US" sz="1800" b="1" u="none" strike="noStrike">
                <a:solidFill>
                  <a:srgbClr val="201E1D"/>
                </a:solidFill>
                <a:effectLst/>
                <a:uFillTx/>
                <a:latin typeface="Arial"/>
                <a:ea typeface="Arial"/>
              </a:rPr>
              <a:t>your </a:t>
            </a:r>
            <a:r>
              <a:rPr lang="en-US" sz="1800" b="0" u="none" strike="noStrike">
                <a:solidFill>
                  <a:srgbClr val="211D1D">
                    <a:alpha val="55000"/>
                  </a:srgbClr>
                </a:solidFill>
                <a:effectLst/>
                <a:uFillTx/>
                <a:latin typeface="Arial"/>
                <a:ea typeface="Arial"/>
              </a:rPr>
              <a:t>world, not the code. So here’s my map; please correct me.</a:t>
            </a:r>
            <a:endParaRPr lang="en-US" sz="1800" b="0" u="none" strike="noStrike">
              <a:solidFill>
                <a:srgbClr val="000000"/>
              </a:solidFill>
              <a:effectLst/>
              <a:uFillTx/>
              <a:latin typeface="Arial"/>
            </a:endParaRPr>
          </a:p>
        </p:txBody>
      </p:sp>
      <p:sp>
        <p:nvSpPr>
          <p:cNvPr id="34" name="Text 24"/>
          <p:cNvSpPr/>
          <p:nvPr/>
        </p:nvSpPr>
        <p:spPr>
          <a:xfrm>
            <a:off x="1143000" y="8632800"/>
            <a:ext cx="1501560" cy="5486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Xavier Medina</a:t>
            </a:r>
            <a:endParaRPr lang="en-US" sz="1800" b="0" u="none" strike="noStrike">
              <a:solidFill>
                <a:srgbClr val="000000"/>
              </a:solidFill>
              <a:effectLst/>
              <a:uFillTx/>
              <a:latin typeface="Arial"/>
            </a:endParaRPr>
          </a:p>
        </p:txBody>
      </p:sp>
      <p:sp>
        <p:nvSpPr>
          <p:cNvPr id="35" name="Text 25"/>
          <p:cNvSpPr/>
          <p:nvPr/>
        </p:nvSpPr>
        <p:spPr>
          <a:xfrm>
            <a:off x="2739960" y="8632800"/>
            <a:ext cx="151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36" name="Text 26"/>
          <p:cNvSpPr/>
          <p:nvPr/>
        </p:nvSpPr>
        <p:spPr>
          <a:xfrm>
            <a:off x="2987640" y="8632800"/>
            <a:ext cx="5190120" cy="5486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Software engineer — 4+ yrs shipping production AI</a:t>
            </a:r>
            <a:endParaRPr lang="en-US" sz="1800" b="0" u="none" strike="noStrike">
              <a:solidFill>
                <a:srgbClr val="000000"/>
              </a:solidFill>
              <a:effectLst/>
              <a:uFillTx/>
              <a:latin typeface="Arial"/>
            </a:endParaRPr>
          </a:p>
        </p:txBody>
      </p:sp>
      <p:sp>
        <p:nvSpPr>
          <p:cNvPr id="37" name="Text 27"/>
          <p:cNvSpPr/>
          <p:nvPr/>
        </p:nvSpPr>
        <p:spPr>
          <a:xfrm>
            <a:off x="8198280" y="8632800"/>
            <a:ext cx="151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38" name="Text 28"/>
          <p:cNvSpPr/>
          <p:nvPr/>
        </p:nvSpPr>
        <p:spPr>
          <a:xfrm>
            <a:off x="8445600" y="8632800"/>
            <a:ext cx="8959680" cy="5486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ProsperaLabs — voice · chat · email · ecommerce, real-estate, legal &amp; customer-service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9"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01 · HERE'S MY MAP — CORRECT ME</a:t>
            </a:r>
            <a:endParaRPr lang="en-US" sz="1800" b="0" u="none" strike="noStrike">
              <a:solidFill>
                <a:srgbClr val="000000"/>
              </a:solidFill>
              <a:effectLst/>
              <a:uFillTx/>
              <a:latin typeface="Arial"/>
            </a:endParaRPr>
          </a:p>
        </p:txBody>
      </p:sp>
      <p:pic>
        <p:nvPicPr>
          <p:cNvPr id="40" name="Image 0" descr="preencoded.png"/>
          <p:cNvPicPr/>
          <p:nvPr/>
        </p:nvPicPr>
        <p:blipFill>
          <a:blip r:embed="rId1"/>
          <a:stretch/>
        </p:blipFill>
        <p:spPr>
          <a:xfrm>
            <a:off x="15829560" y="457200"/>
            <a:ext cx="1315080" cy="323280"/>
          </a:xfrm>
          <a:prstGeom prst="rect">
            <a:avLst/>
          </a:prstGeom>
          <a:noFill/>
          <a:ln w="0">
            <a:noFill/>
          </a:ln>
        </p:spPr>
      </p:pic>
      <p:sp>
        <p:nvSpPr>
          <p:cNvPr id="41"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Four strategies, one focus — Concord starts with your direct PE portfolio companies</a:t>
            </a:r>
            <a:endParaRPr lang="en-US" sz="4800" b="0" u="none" strike="noStrike">
              <a:solidFill>
                <a:srgbClr val="000000"/>
              </a:solidFill>
              <a:effectLst/>
              <a:uFillTx/>
              <a:latin typeface="Arial"/>
            </a:endParaRPr>
          </a:p>
        </p:txBody>
      </p:sp>
      <p:sp>
        <p:nvSpPr>
          <p:cNvPr id="42" name="Shape 2"/>
          <p:cNvSpPr/>
          <p:nvPr/>
        </p:nvSpPr>
        <p:spPr>
          <a:xfrm>
            <a:off x="1143000" y="3886200"/>
            <a:ext cx="3284280" cy="2362320"/>
          </a:xfrm>
          <a:prstGeom prst="rect">
            <a:avLst/>
          </a:prstGeom>
          <a:solidFill>
            <a:srgbClr val="F3F2F2">
              <a:alpha val="40000"/>
            </a:srgbClr>
          </a:solidFill>
          <a:ln w="13912">
            <a:solidFill>
              <a:srgbClr val="201E1E">
                <a:alpha val="16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Text 3"/>
          <p:cNvSpPr/>
          <p:nvPr/>
        </p:nvSpPr>
        <p:spPr>
          <a:xfrm>
            <a:off x="1442520" y="4166640"/>
            <a:ext cx="295380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alpha val="40000"/>
                  </a:srgbClr>
                </a:solidFill>
                <a:effectLst/>
                <a:uFillTx/>
                <a:latin typeface="Arial"/>
                <a:ea typeface="Arial"/>
              </a:rPr>
              <a:t>Venture</a:t>
            </a:r>
            <a:endParaRPr lang="en-US" sz="2020" b="0" u="none" strike="noStrike">
              <a:solidFill>
                <a:srgbClr val="000000"/>
              </a:solidFill>
              <a:effectLst/>
              <a:uFillTx/>
              <a:latin typeface="Arial"/>
            </a:endParaRPr>
          </a:p>
        </p:txBody>
      </p:sp>
      <p:sp>
        <p:nvSpPr>
          <p:cNvPr id="44" name="Text 4"/>
          <p:cNvSpPr/>
          <p:nvPr/>
        </p:nvSpPr>
        <p:spPr>
          <a:xfrm>
            <a:off x="1442520" y="4576680"/>
            <a:ext cx="29538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27000"/>
                  </a:srgbClr>
                </a:solidFill>
                <a:effectLst/>
                <a:uFillTx/>
                <a:latin typeface="Arial"/>
                <a:ea typeface="Arial"/>
              </a:rPr>
              <a:t>VC</a:t>
            </a:r>
            <a:endParaRPr lang="en-US" sz="1800" b="0" u="none" strike="noStrike">
              <a:solidFill>
                <a:srgbClr val="000000"/>
              </a:solidFill>
              <a:effectLst/>
              <a:uFillTx/>
              <a:latin typeface="Arial"/>
            </a:endParaRPr>
          </a:p>
        </p:txBody>
      </p:sp>
      <p:sp>
        <p:nvSpPr>
          <p:cNvPr id="45" name="Shape 5"/>
          <p:cNvSpPr/>
          <p:nvPr/>
        </p:nvSpPr>
        <p:spPr>
          <a:xfrm>
            <a:off x="4618080" y="3886200"/>
            <a:ext cx="5576040" cy="236232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6" name="Image 1" descr="preencoded.png"/>
          <p:cNvPicPr/>
          <p:nvPr/>
        </p:nvPicPr>
        <p:blipFill>
          <a:blip r:embed="rId2">
            <a:extLst>
              <a:ext uri="{96DAC541-7B7A-43D3-8B79-37D633B846F1}">
                <asvg:svgBlip xmlns:asvg="http://schemas.microsoft.com/office/drawing/2016/SVG/main" r:embed="rId3"/>
              </a:ext>
            </a:extLst>
          </a:blip>
          <a:stretch/>
        </p:blipFill>
        <p:spPr>
          <a:xfrm>
            <a:off x="4922280" y="4171320"/>
            <a:ext cx="361440" cy="228240"/>
          </a:xfrm>
          <a:prstGeom prst="rect">
            <a:avLst/>
          </a:prstGeom>
          <a:noFill/>
          <a:ln w="0">
            <a:noFill/>
          </a:ln>
        </p:spPr>
      </p:pic>
      <p:sp>
        <p:nvSpPr>
          <p:cNvPr id="47" name="Text 6"/>
          <p:cNvSpPr/>
          <p:nvPr/>
        </p:nvSpPr>
        <p:spPr>
          <a:xfrm>
            <a:off x="5350680" y="4171320"/>
            <a:ext cx="958320" cy="266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86000"/>
              </a:lnSpc>
              <a:tabLst>
                <a:tab pos="0" algn="l"/>
              </a:tabLst>
            </a:pPr>
            <a:r>
              <a:rPr lang="en-US" sz="1800" b="1" u="none" spc="-17" strike="noStrike">
                <a:solidFill>
                  <a:srgbClr val="201E1D"/>
                </a:solidFill>
                <a:effectLst/>
                <a:uFillTx/>
                <a:latin typeface="Arial"/>
                <a:ea typeface="Arial"/>
              </a:rPr>
              <a:t>Concord</a:t>
            </a:r>
            <a:endParaRPr lang="en-US" sz="1800" b="0" u="none" strike="noStrike">
              <a:solidFill>
                <a:srgbClr val="000000"/>
              </a:solidFill>
              <a:effectLst/>
              <a:uFillTx/>
              <a:latin typeface="Arial"/>
            </a:endParaRPr>
          </a:p>
        </p:txBody>
      </p:sp>
      <p:sp>
        <p:nvSpPr>
          <p:cNvPr id="48" name="Text 7"/>
          <p:cNvSpPr/>
          <p:nvPr/>
        </p:nvSpPr>
        <p:spPr>
          <a:xfrm>
            <a:off x="4922280" y="4514040"/>
            <a:ext cx="54648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 CONCORD FOCUSES HERE TODAY</a:t>
            </a:r>
            <a:endParaRPr lang="en-US" sz="1800" b="0" u="none" strike="noStrike">
              <a:solidFill>
                <a:srgbClr val="000000"/>
              </a:solidFill>
              <a:effectLst/>
              <a:uFillTx/>
              <a:latin typeface="Arial"/>
            </a:endParaRPr>
          </a:p>
        </p:txBody>
      </p:sp>
      <p:sp>
        <p:nvSpPr>
          <p:cNvPr id="49" name="Text 8"/>
          <p:cNvSpPr/>
          <p:nvPr/>
        </p:nvSpPr>
        <p:spPr>
          <a:xfrm>
            <a:off x="4922280" y="4982400"/>
            <a:ext cx="546480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Private equity</a:t>
            </a:r>
            <a:endParaRPr lang="en-US" sz="2020" b="0" u="none" strike="noStrike">
              <a:solidFill>
                <a:srgbClr val="000000"/>
              </a:solidFill>
              <a:effectLst/>
              <a:uFillTx/>
              <a:latin typeface="Arial"/>
            </a:endParaRPr>
          </a:p>
        </p:txBody>
      </p:sp>
      <p:sp>
        <p:nvSpPr>
          <p:cNvPr id="50" name="Text 9"/>
          <p:cNvSpPr/>
          <p:nvPr/>
        </p:nvSpPr>
        <p:spPr>
          <a:xfrm>
            <a:off x="4922280" y="5392440"/>
            <a:ext cx="51170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the direct PE portfolio companies — the packs in my demo</a:t>
            </a:r>
            <a:endParaRPr lang="en-US" sz="1800" b="0" u="none" strike="noStrike">
              <a:solidFill>
                <a:srgbClr val="000000"/>
              </a:solidFill>
              <a:effectLst/>
              <a:uFillTx/>
              <a:latin typeface="Arial"/>
            </a:endParaRPr>
          </a:p>
        </p:txBody>
      </p:sp>
      <p:sp>
        <p:nvSpPr>
          <p:cNvPr id="51" name="Shape 10"/>
          <p:cNvSpPr/>
          <p:nvPr/>
        </p:nvSpPr>
        <p:spPr>
          <a:xfrm>
            <a:off x="10384920" y="3886200"/>
            <a:ext cx="3284640" cy="2362320"/>
          </a:xfrm>
          <a:prstGeom prst="rect">
            <a:avLst/>
          </a:prstGeom>
          <a:solidFill>
            <a:srgbClr val="F3F2F2">
              <a:alpha val="40000"/>
            </a:srgbClr>
          </a:solidFill>
          <a:ln w="13912">
            <a:solidFill>
              <a:srgbClr val="201E1E">
                <a:alpha val="16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Text 11"/>
          <p:cNvSpPr/>
          <p:nvPr/>
        </p:nvSpPr>
        <p:spPr>
          <a:xfrm>
            <a:off x="10684440" y="4166640"/>
            <a:ext cx="295380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alpha val="40000"/>
                  </a:srgbClr>
                </a:solidFill>
                <a:effectLst/>
                <a:uFillTx/>
                <a:latin typeface="Arial"/>
                <a:ea typeface="Arial"/>
              </a:rPr>
              <a:t>Private credit</a:t>
            </a:r>
            <a:endParaRPr lang="en-US" sz="2020" b="0" u="none" strike="noStrike">
              <a:solidFill>
                <a:srgbClr val="000000"/>
              </a:solidFill>
              <a:effectLst/>
              <a:uFillTx/>
              <a:latin typeface="Arial"/>
            </a:endParaRPr>
          </a:p>
        </p:txBody>
      </p:sp>
      <p:sp>
        <p:nvSpPr>
          <p:cNvPr id="53" name="Text 12"/>
          <p:cNvSpPr/>
          <p:nvPr/>
        </p:nvSpPr>
        <p:spPr>
          <a:xfrm>
            <a:off x="10684440" y="4576680"/>
            <a:ext cx="29538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27000"/>
                  </a:srgbClr>
                </a:solidFill>
                <a:effectLst/>
                <a:uFillTx/>
                <a:latin typeface="Arial"/>
                <a:ea typeface="Arial"/>
              </a:rPr>
              <a:t>PC</a:t>
            </a:r>
            <a:endParaRPr lang="en-US" sz="1800" b="0" u="none" strike="noStrike">
              <a:solidFill>
                <a:srgbClr val="000000"/>
              </a:solidFill>
              <a:effectLst/>
              <a:uFillTx/>
              <a:latin typeface="Arial"/>
            </a:endParaRPr>
          </a:p>
        </p:txBody>
      </p:sp>
      <p:sp>
        <p:nvSpPr>
          <p:cNvPr id="54" name="Shape 13"/>
          <p:cNvSpPr/>
          <p:nvPr/>
        </p:nvSpPr>
        <p:spPr>
          <a:xfrm>
            <a:off x="13860360" y="3886200"/>
            <a:ext cx="3284280" cy="2362320"/>
          </a:xfrm>
          <a:prstGeom prst="rect">
            <a:avLst/>
          </a:prstGeom>
          <a:solidFill>
            <a:srgbClr val="F3F2F2">
              <a:alpha val="40000"/>
            </a:srgbClr>
          </a:solidFill>
          <a:ln w="13912">
            <a:solidFill>
              <a:srgbClr val="201E1E">
                <a:alpha val="16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 name="Text 14"/>
          <p:cNvSpPr/>
          <p:nvPr/>
        </p:nvSpPr>
        <p:spPr>
          <a:xfrm>
            <a:off x="14159880" y="4166640"/>
            <a:ext cx="295380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alpha val="40000"/>
                  </a:srgbClr>
                </a:solidFill>
                <a:effectLst/>
                <a:uFillTx/>
                <a:latin typeface="Arial"/>
                <a:ea typeface="Arial"/>
              </a:rPr>
              <a:t>Real estate</a:t>
            </a:r>
            <a:endParaRPr lang="en-US" sz="2020" b="0" u="none" strike="noStrike">
              <a:solidFill>
                <a:srgbClr val="000000"/>
              </a:solidFill>
              <a:effectLst/>
              <a:uFillTx/>
              <a:latin typeface="Arial"/>
            </a:endParaRPr>
          </a:p>
        </p:txBody>
      </p:sp>
      <p:sp>
        <p:nvSpPr>
          <p:cNvPr id="56" name="Text 15"/>
          <p:cNvSpPr/>
          <p:nvPr/>
        </p:nvSpPr>
        <p:spPr>
          <a:xfrm>
            <a:off x="14159880" y="4576680"/>
            <a:ext cx="29538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27000"/>
                  </a:srgbClr>
                </a:solidFill>
                <a:effectLst/>
                <a:uFillTx/>
                <a:latin typeface="Arial"/>
                <a:ea typeface="Arial"/>
              </a:rPr>
              <a:t>+ a large solutions arm</a:t>
            </a:r>
            <a:endParaRPr lang="en-US" sz="1800" b="0" u="none" strike="noStrike">
              <a:solidFill>
                <a:srgbClr val="000000"/>
              </a:solidFill>
              <a:effectLst/>
              <a:uFillTx/>
              <a:latin typeface="Arial"/>
            </a:endParaRPr>
          </a:p>
        </p:txBody>
      </p:sp>
      <p:sp>
        <p:nvSpPr>
          <p:cNvPr id="57" name="Text 16"/>
          <p:cNvSpPr/>
          <p:nvPr/>
        </p:nvSpPr>
        <p:spPr>
          <a:xfrm>
            <a:off x="1143000" y="677772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v1 = PE only; the other three branches are </a:t>
            </a:r>
            <a:r>
              <a:rPr lang="en-US" sz="1800" b="1" u="none" strike="noStrike">
                <a:solidFill>
                  <a:srgbClr val="201E1D"/>
                </a:solidFill>
                <a:effectLst/>
                <a:uFillTx/>
                <a:latin typeface="Arial"/>
                <a:ea typeface="Arial"/>
              </a:rPr>
              <a:t>documented extensions, not built.</a:t>
            </a:r>
            <a:endParaRPr lang="en-US" sz="1800" b="0" u="none" strike="noStrike">
              <a:solidFill>
                <a:srgbClr val="000000"/>
              </a:solidFill>
              <a:effectLst/>
              <a:uFillTx/>
              <a:latin typeface="Arial"/>
            </a:endParaRPr>
          </a:p>
        </p:txBody>
      </p:sp>
      <p:sp>
        <p:nvSpPr>
          <p:cNvPr id="58" name="Text 17"/>
          <p:cNvSpPr/>
          <p:nvPr/>
        </p:nvSpPr>
        <p:spPr>
          <a:xfrm>
            <a:off x="1143000" y="8374320"/>
            <a:ext cx="1571580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trike="noStrike">
                <a:solidFill>
                  <a:srgbClr val="1F1F1D">
                    <a:alpha val="45000"/>
                  </a:srgbClr>
                </a:solidFill>
                <a:effectLst/>
                <a:uFillTx/>
                <a:latin typeface="Arial"/>
                <a:ea typeface="Arial"/>
              </a:rPr>
              <a:t>Re-verify Sagard's strategy line-up + scale figures on sagard.com the morning of; print no AUM / portfolio-count / fund-size numbers as fact.</a:t>
            </a:r>
            <a:endParaRPr lang="en-US" sz="1800" b="0" u="none" strike="noStrike">
              <a:solidFill>
                <a:srgbClr val="000000"/>
              </a:solidFill>
              <a:effectLst/>
              <a:uFillTx/>
              <a:latin typeface="Arial"/>
            </a:endParaRPr>
          </a:p>
        </p:txBody>
      </p:sp>
      <p:pic>
        <p:nvPicPr>
          <p:cNvPr id="59" name="Image 2" descr="preencoded.png"/>
          <p:cNvPicPr/>
          <p:nvPr/>
        </p:nvPicPr>
        <p:blipFill>
          <a:blip r:embed="rId4"/>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60"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01 · HERE'S MY MAP — CORRECT ME</a:t>
            </a:r>
            <a:endParaRPr lang="en-US" sz="1800" b="0" u="none" strike="noStrike">
              <a:solidFill>
                <a:srgbClr val="000000"/>
              </a:solidFill>
              <a:effectLst/>
              <a:uFillTx/>
              <a:latin typeface="Arial"/>
            </a:endParaRPr>
          </a:p>
        </p:txBody>
      </p:sp>
      <p:sp>
        <p:nvSpPr>
          <p:cNvPr id="61"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Fundraise → invest → hold → exit: Concord lives in the quarter-by-quarter middle</a:t>
            </a:r>
            <a:endParaRPr lang="en-US" sz="4800" b="0" u="none" strike="noStrike">
              <a:solidFill>
                <a:srgbClr val="000000"/>
              </a:solidFill>
              <a:effectLst/>
              <a:uFillTx/>
              <a:latin typeface="Arial"/>
            </a:endParaRPr>
          </a:p>
        </p:txBody>
      </p:sp>
      <p:sp>
        <p:nvSpPr>
          <p:cNvPr id="62" name="Shape 2"/>
          <p:cNvSpPr/>
          <p:nvPr/>
        </p:nvSpPr>
        <p:spPr>
          <a:xfrm>
            <a:off x="1143000" y="3886200"/>
            <a:ext cx="3540960" cy="30020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3"/>
          <p:cNvSpPr/>
          <p:nvPr/>
        </p:nvSpPr>
        <p:spPr>
          <a:xfrm>
            <a:off x="1442520" y="4166640"/>
            <a:ext cx="32356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STAGE 1</a:t>
            </a:r>
            <a:endParaRPr lang="en-US" sz="1800" b="0" u="none" strike="noStrike">
              <a:solidFill>
                <a:srgbClr val="000000"/>
              </a:solidFill>
              <a:effectLst/>
              <a:uFillTx/>
              <a:latin typeface="Arial"/>
            </a:endParaRPr>
          </a:p>
        </p:txBody>
      </p:sp>
      <p:sp>
        <p:nvSpPr>
          <p:cNvPr id="64" name="Text 4"/>
          <p:cNvSpPr/>
          <p:nvPr/>
        </p:nvSpPr>
        <p:spPr>
          <a:xfrm>
            <a:off x="1442520" y="4635360"/>
            <a:ext cx="32356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Fundraise</a:t>
            </a:r>
            <a:endParaRPr lang="en-US" sz="2020" b="0" u="none" strike="noStrike">
              <a:solidFill>
                <a:srgbClr val="000000"/>
              </a:solidFill>
              <a:effectLst/>
              <a:uFillTx/>
              <a:latin typeface="Arial"/>
            </a:endParaRPr>
          </a:p>
        </p:txBody>
      </p:sp>
      <p:sp>
        <p:nvSpPr>
          <p:cNvPr id="65" name="Text 5"/>
          <p:cNvSpPr/>
          <p:nvPr/>
        </p:nvSpPr>
        <p:spPr>
          <a:xfrm>
            <a:off x="1442520" y="5045040"/>
            <a:ext cx="32356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raise the capital</a:t>
            </a:r>
            <a:endParaRPr lang="en-US" sz="1800" b="0" u="none" strike="noStrike">
              <a:solidFill>
                <a:srgbClr val="000000"/>
              </a:solidFill>
              <a:effectLst/>
              <a:uFillTx/>
              <a:latin typeface="Arial"/>
            </a:endParaRPr>
          </a:p>
        </p:txBody>
      </p:sp>
      <p:sp>
        <p:nvSpPr>
          <p:cNvPr id="66" name="Text 6"/>
          <p:cNvSpPr/>
          <p:nvPr/>
        </p:nvSpPr>
        <p:spPr>
          <a:xfrm>
            <a:off x="4836600" y="523512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67" name="Shape 7"/>
          <p:cNvSpPr/>
          <p:nvPr/>
        </p:nvSpPr>
        <p:spPr>
          <a:xfrm>
            <a:off x="5293440" y="3886200"/>
            <a:ext cx="3540960" cy="30020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Text 8"/>
          <p:cNvSpPr/>
          <p:nvPr/>
        </p:nvSpPr>
        <p:spPr>
          <a:xfrm>
            <a:off x="5593320" y="4166640"/>
            <a:ext cx="32356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STAGE 2</a:t>
            </a:r>
            <a:endParaRPr lang="en-US" sz="1800" b="0" u="none" strike="noStrike">
              <a:solidFill>
                <a:srgbClr val="000000"/>
              </a:solidFill>
              <a:effectLst/>
              <a:uFillTx/>
              <a:latin typeface="Arial"/>
            </a:endParaRPr>
          </a:p>
        </p:txBody>
      </p:sp>
      <p:sp>
        <p:nvSpPr>
          <p:cNvPr id="69" name="Text 9"/>
          <p:cNvSpPr/>
          <p:nvPr/>
        </p:nvSpPr>
        <p:spPr>
          <a:xfrm>
            <a:off x="5593320" y="4635360"/>
            <a:ext cx="32356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Invest</a:t>
            </a:r>
            <a:endParaRPr lang="en-US" sz="2020" b="0" u="none" strike="noStrike">
              <a:solidFill>
                <a:srgbClr val="000000"/>
              </a:solidFill>
              <a:effectLst/>
              <a:uFillTx/>
              <a:latin typeface="Arial"/>
            </a:endParaRPr>
          </a:p>
        </p:txBody>
      </p:sp>
      <p:sp>
        <p:nvSpPr>
          <p:cNvPr id="70" name="Text 10"/>
          <p:cNvSpPr/>
          <p:nvPr/>
        </p:nvSpPr>
        <p:spPr>
          <a:xfrm>
            <a:off x="5593320" y="5045040"/>
            <a:ext cx="32356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buy the companies</a:t>
            </a:r>
            <a:endParaRPr lang="en-US" sz="1800" b="0" u="none" strike="noStrike">
              <a:solidFill>
                <a:srgbClr val="000000"/>
              </a:solidFill>
              <a:effectLst/>
              <a:uFillTx/>
              <a:latin typeface="Arial"/>
            </a:endParaRPr>
          </a:p>
        </p:txBody>
      </p:sp>
      <p:sp>
        <p:nvSpPr>
          <p:cNvPr id="71" name="Text 11"/>
          <p:cNvSpPr/>
          <p:nvPr/>
        </p:nvSpPr>
        <p:spPr>
          <a:xfrm>
            <a:off x="8987400" y="523512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72" name="Shape 12"/>
          <p:cNvSpPr/>
          <p:nvPr/>
        </p:nvSpPr>
        <p:spPr>
          <a:xfrm>
            <a:off x="9444240" y="3886200"/>
            <a:ext cx="3549600" cy="300204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3" name="Image 0" descr="preencoded.png"/>
          <p:cNvPicPr/>
          <p:nvPr/>
        </p:nvPicPr>
        <p:blipFill>
          <a:blip r:embed="rId1">
            <a:extLst>
              <a:ext uri="{96DAC541-7B7A-43D3-8B79-37D633B846F1}">
                <asvg:svgBlip xmlns:asvg="http://schemas.microsoft.com/office/drawing/2016/SVG/main" r:embed="rId2"/>
              </a:ext>
            </a:extLst>
          </a:blip>
          <a:stretch/>
        </p:blipFill>
        <p:spPr>
          <a:xfrm>
            <a:off x="9748440" y="4171320"/>
            <a:ext cx="361440" cy="228240"/>
          </a:xfrm>
          <a:prstGeom prst="rect">
            <a:avLst/>
          </a:prstGeom>
          <a:noFill/>
          <a:ln w="0">
            <a:noFill/>
          </a:ln>
        </p:spPr>
      </p:pic>
      <p:sp>
        <p:nvSpPr>
          <p:cNvPr id="74" name="Text 13"/>
          <p:cNvSpPr/>
          <p:nvPr/>
        </p:nvSpPr>
        <p:spPr>
          <a:xfrm>
            <a:off x="10176840" y="4171320"/>
            <a:ext cx="958320" cy="266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86000"/>
              </a:lnSpc>
              <a:tabLst>
                <a:tab pos="0" algn="l"/>
              </a:tabLst>
            </a:pPr>
            <a:r>
              <a:rPr lang="en-US" sz="1800" b="1" u="none" spc="-17" strike="noStrike">
                <a:solidFill>
                  <a:srgbClr val="201E1D"/>
                </a:solidFill>
                <a:effectLst/>
                <a:uFillTx/>
                <a:latin typeface="Arial"/>
                <a:ea typeface="Arial"/>
              </a:rPr>
              <a:t>Concord</a:t>
            </a:r>
            <a:endParaRPr lang="en-US" sz="1800" b="0" u="none" strike="noStrike">
              <a:solidFill>
                <a:srgbClr val="000000"/>
              </a:solidFill>
              <a:effectLst/>
              <a:uFillTx/>
              <a:latin typeface="Arial"/>
            </a:endParaRPr>
          </a:p>
        </p:txBody>
      </p:sp>
      <p:sp>
        <p:nvSpPr>
          <p:cNvPr id="75" name="Text 14"/>
          <p:cNvSpPr/>
          <p:nvPr/>
        </p:nvSpPr>
        <p:spPr>
          <a:xfrm>
            <a:off x="9748440" y="4514040"/>
            <a:ext cx="3029760" cy="746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STAGE 3 · CONCORD'S HOME</a:t>
            </a:r>
            <a:endParaRPr lang="en-US" sz="1800" b="0" u="none" strike="noStrike">
              <a:solidFill>
                <a:srgbClr val="000000"/>
              </a:solidFill>
              <a:effectLst/>
              <a:uFillTx/>
              <a:latin typeface="Arial"/>
            </a:endParaRPr>
          </a:p>
        </p:txBody>
      </p:sp>
      <p:sp>
        <p:nvSpPr>
          <p:cNvPr id="76" name="Text 15"/>
          <p:cNvSpPr/>
          <p:nvPr/>
        </p:nvSpPr>
        <p:spPr>
          <a:xfrm>
            <a:off x="9748440" y="5336640"/>
            <a:ext cx="32356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Hold / monitor</a:t>
            </a:r>
            <a:endParaRPr lang="en-US" sz="2020" b="0" u="none" strike="noStrike">
              <a:solidFill>
                <a:srgbClr val="000000"/>
              </a:solidFill>
              <a:effectLst/>
              <a:uFillTx/>
              <a:latin typeface="Arial"/>
            </a:endParaRPr>
          </a:p>
        </p:txBody>
      </p:sp>
      <p:sp>
        <p:nvSpPr>
          <p:cNvPr id="77" name="Text 16"/>
          <p:cNvSpPr/>
          <p:nvPr/>
        </p:nvSpPr>
        <p:spPr>
          <a:xfrm>
            <a:off x="9748440" y="5746680"/>
            <a:ext cx="3029760" cy="8949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watch every company, reconcile its numbers — every quarter</a:t>
            </a:r>
            <a:endParaRPr lang="en-US" sz="1800" b="0" u="none" strike="noStrike">
              <a:solidFill>
                <a:srgbClr val="000000"/>
              </a:solidFill>
              <a:effectLst/>
              <a:uFillTx/>
              <a:latin typeface="Arial"/>
            </a:endParaRPr>
          </a:p>
        </p:txBody>
      </p:sp>
      <p:sp>
        <p:nvSpPr>
          <p:cNvPr id="78" name="Text 17"/>
          <p:cNvSpPr/>
          <p:nvPr/>
        </p:nvSpPr>
        <p:spPr>
          <a:xfrm>
            <a:off x="13146480" y="523512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79" name="Shape 18"/>
          <p:cNvSpPr/>
          <p:nvPr/>
        </p:nvSpPr>
        <p:spPr>
          <a:xfrm>
            <a:off x="13603680" y="3886200"/>
            <a:ext cx="3540960" cy="30020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19"/>
          <p:cNvSpPr/>
          <p:nvPr/>
        </p:nvSpPr>
        <p:spPr>
          <a:xfrm>
            <a:off x="13903200" y="4166640"/>
            <a:ext cx="32356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STAGE 4</a:t>
            </a:r>
            <a:endParaRPr lang="en-US" sz="1800" b="0" u="none" strike="noStrike">
              <a:solidFill>
                <a:srgbClr val="000000"/>
              </a:solidFill>
              <a:effectLst/>
              <a:uFillTx/>
              <a:latin typeface="Arial"/>
            </a:endParaRPr>
          </a:p>
        </p:txBody>
      </p:sp>
      <p:sp>
        <p:nvSpPr>
          <p:cNvPr id="81" name="Text 20"/>
          <p:cNvSpPr/>
          <p:nvPr/>
        </p:nvSpPr>
        <p:spPr>
          <a:xfrm>
            <a:off x="13903200" y="4635360"/>
            <a:ext cx="32356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Exit</a:t>
            </a:r>
            <a:endParaRPr lang="en-US" sz="2020" b="0" u="none" strike="noStrike">
              <a:solidFill>
                <a:srgbClr val="000000"/>
              </a:solidFill>
              <a:effectLst/>
              <a:uFillTx/>
              <a:latin typeface="Arial"/>
            </a:endParaRPr>
          </a:p>
        </p:txBody>
      </p:sp>
      <p:sp>
        <p:nvSpPr>
          <p:cNvPr id="82" name="Text 21"/>
          <p:cNvSpPr/>
          <p:nvPr/>
        </p:nvSpPr>
        <p:spPr>
          <a:xfrm>
            <a:off x="13903200" y="5045040"/>
            <a:ext cx="32356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sell, return the cash</a:t>
            </a:r>
            <a:endParaRPr lang="en-US" sz="1800" b="0" u="none" strike="noStrike">
              <a:solidFill>
                <a:srgbClr val="000000"/>
              </a:solidFill>
              <a:effectLst/>
              <a:uFillTx/>
              <a:latin typeface="Arial"/>
            </a:endParaRPr>
          </a:p>
        </p:txBody>
      </p:sp>
      <p:sp>
        <p:nvSpPr>
          <p:cNvPr id="83" name="Text 22"/>
          <p:cNvSpPr/>
          <p:nvPr/>
        </p:nvSpPr>
        <p:spPr>
          <a:xfrm>
            <a:off x="1143000" y="74178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A fund lives ~10 years; monitoring is the quarter-by-quarter middle.</a:t>
            </a:r>
            <a:endParaRPr lang="en-US" sz="1800" b="0" u="none" strike="noStrike">
              <a:solidFill>
                <a:srgbClr val="000000"/>
              </a:solidFill>
              <a:effectLst/>
              <a:uFillTx/>
              <a:latin typeface="Arial"/>
            </a:endParaRPr>
          </a:p>
        </p:txBody>
      </p:sp>
      <p:sp>
        <p:nvSpPr>
          <p:cNvPr id="84" name="Text 23"/>
          <p:cNvSpPr/>
          <p:nvPr/>
        </p:nvSpPr>
        <p:spPr>
          <a:xfrm>
            <a:off x="1143000" y="81036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Concord feeds the inputs to </a:t>
            </a:r>
            <a:r>
              <a:rPr lang="en-US" sz="1800" b="1" u="none" strike="noStrike">
                <a:solidFill>
                  <a:srgbClr val="201E1D"/>
                </a:solidFill>
                <a:effectLst/>
                <a:uFillTx/>
                <a:latin typeface="Arial"/>
                <a:ea typeface="Arial"/>
              </a:rPr>
              <a:t>the mark </a:t>
            </a:r>
            <a:r>
              <a:rPr lang="en-US" sz="1800" b="0" u="none" strike="noStrike">
                <a:solidFill>
                  <a:srgbClr val="211D1D">
                    <a:alpha val="55000"/>
                  </a:srgbClr>
                </a:solidFill>
                <a:effectLst/>
                <a:uFillTx/>
                <a:latin typeface="Arial"/>
                <a:ea typeface="Arial"/>
              </a:rPr>
              <a:t>— it never makes the mark (a human, audited judgment).</a:t>
            </a:r>
            <a:endParaRPr lang="en-US" sz="1800" b="0" u="none" strike="noStrike">
              <a:solidFill>
                <a:srgbClr val="000000"/>
              </a:solidFill>
              <a:effectLst/>
              <a:uFillTx/>
              <a:latin typeface="Arial"/>
            </a:endParaRPr>
          </a:p>
        </p:txBody>
      </p:sp>
      <p:pic>
        <p:nvPicPr>
          <p:cNvPr id="85" name="Image 1" descr="preencoded.png"/>
          <p:cNvPicPr/>
          <p:nvPr/>
        </p:nvPicPr>
        <p:blipFill>
          <a:blip r:embed="rId3"/>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86"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01 · HERE'S MY MAP — CORRECT ME</a:t>
            </a:r>
            <a:endParaRPr lang="en-US" sz="1800" b="0" u="none" strike="noStrike">
              <a:solidFill>
                <a:srgbClr val="000000"/>
              </a:solidFill>
              <a:effectLst/>
              <a:uFillTx/>
              <a:latin typeface="Arial"/>
            </a:endParaRPr>
          </a:p>
        </p:txBody>
      </p:sp>
      <p:sp>
        <p:nvSpPr>
          <p:cNvPr id="87" name="Text 1"/>
          <p:cNvSpPr/>
          <p:nvPr/>
        </p:nvSpPr>
        <p:spPr>
          <a:xfrm>
            <a:off x="1107720" y="1863720"/>
            <a:ext cx="17640720" cy="46008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97000"/>
              </a:lnSpc>
              <a:tabLst>
                <a:tab pos="0" algn="l"/>
              </a:tabLst>
            </a:pPr>
            <a:r>
              <a:rPr lang="en-US" sz="4800" b="1" u="none" spc="-71" strike="noStrike">
                <a:solidFill>
                  <a:srgbClr val="201E1D"/>
                </a:solidFill>
                <a:effectLst/>
                <a:uFillTx/>
                <a:latin typeface="Arial"/>
                <a:ea typeface="Arial"/>
              </a:rPr>
              <a:t>Five people read the same pack — for opposite jobs</a:t>
            </a:r>
            <a:endParaRPr lang="en-US" sz="4800" b="0" u="none" strike="noStrike">
              <a:solidFill>
                <a:srgbClr val="000000"/>
              </a:solidFill>
              <a:effectLst/>
              <a:uFillTx/>
              <a:latin typeface="Arial"/>
            </a:endParaRPr>
          </a:p>
        </p:txBody>
      </p:sp>
      <p:sp>
        <p:nvSpPr>
          <p:cNvPr id="88" name="Shape 2"/>
          <p:cNvSpPr/>
          <p:nvPr/>
        </p:nvSpPr>
        <p:spPr>
          <a:xfrm>
            <a:off x="1143000" y="4098240"/>
            <a:ext cx="60912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89" name="Shape 3"/>
          <p:cNvSpPr/>
          <p:nvPr/>
        </p:nvSpPr>
        <p:spPr>
          <a:xfrm>
            <a:off x="1752480" y="4098240"/>
            <a:ext cx="417204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90" name="Text 4"/>
          <p:cNvSpPr/>
          <p:nvPr/>
        </p:nvSpPr>
        <p:spPr>
          <a:xfrm>
            <a:off x="1981080" y="3578400"/>
            <a:ext cx="3840120" cy="1890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1" u="none" spc="145" strike="noStrike">
                <a:solidFill>
                  <a:srgbClr val="201E1C">
                    <a:alpha val="60000"/>
                  </a:srgbClr>
                </a:solidFill>
                <a:effectLst/>
                <a:uFillTx/>
                <a:latin typeface="Arial"/>
                <a:ea typeface="Arial"/>
              </a:rPr>
              <a:t>PERSONA</a:t>
            </a:r>
            <a:endParaRPr lang="en-US" sz="1800" b="0" u="none" strike="noStrike">
              <a:solidFill>
                <a:srgbClr val="000000"/>
              </a:solidFill>
              <a:effectLst/>
              <a:uFillTx/>
              <a:latin typeface="Arial"/>
            </a:endParaRPr>
          </a:p>
        </p:txBody>
      </p:sp>
      <p:sp>
        <p:nvSpPr>
          <p:cNvPr id="91" name="Shape 5"/>
          <p:cNvSpPr/>
          <p:nvPr/>
        </p:nvSpPr>
        <p:spPr>
          <a:xfrm>
            <a:off x="5924880" y="4098240"/>
            <a:ext cx="478656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92" name="Text 6"/>
          <p:cNvSpPr/>
          <p:nvPr/>
        </p:nvSpPr>
        <p:spPr>
          <a:xfrm>
            <a:off x="6153480" y="3578400"/>
            <a:ext cx="4473000" cy="1890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1" u="none" spc="145" strike="noStrike">
                <a:solidFill>
                  <a:srgbClr val="201E1C">
                    <a:alpha val="60000"/>
                  </a:srgbClr>
                </a:solidFill>
                <a:effectLst/>
                <a:uFillTx/>
                <a:latin typeface="Arial"/>
                <a:ea typeface="Arial"/>
              </a:rPr>
              <a:t>WHAT THEY DO</a:t>
            </a:r>
            <a:endParaRPr lang="en-US" sz="1800" b="0" u="none" strike="noStrike">
              <a:solidFill>
                <a:srgbClr val="000000"/>
              </a:solidFill>
              <a:effectLst/>
              <a:uFillTx/>
              <a:latin typeface="Arial"/>
            </a:endParaRPr>
          </a:p>
        </p:txBody>
      </p:sp>
      <p:sp>
        <p:nvSpPr>
          <p:cNvPr id="93" name="Shape 7"/>
          <p:cNvSpPr/>
          <p:nvPr/>
        </p:nvSpPr>
        <p:spPr>
          <a:xfrm>
            <a:off x="10711800" y="4098240"/>
            <a:ext cx="528948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94" name="Text 8"/>
          <p:cNvSpPr/>
          <p:nvPr/>
        </p:nvSpPr>
        <p:spPr>
          <a:xfrm>
            <a:off x="10940400" y="3578400"/>
            <a:ext cx="5219640" cy="1890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1" u="none" spc="145" strike="noStrike">
                <a:solidFill>
                  <a:srgbClr val="201E1C">
                    <a:alpha val="60000"/>
                  </a:srgbClr>
                </a:solidFill>
                <a:effectLst/>
                <a:uFillTx/>
                <a:latin typeface="Arial"/>
                <a:ea typeface="Arial"/>
              </a:rPr>
              <a:t>TRUST POSTURE</a:t>
            </a:r>
            <a:endParaRPr lang="en-US" sz="1800" b="0" u="none" strike="noStrike">
              <a:solidFill>
                <a:srgbClr val="000000"/>
              </a:solidFill>
              <a:effectLst/>
              <a:uFillTx/>
              <a:latin typeface="Arial"/>
            </a:endParaRPr>
          </a:p>
        </p:txBody>
      </p:sp>
      <p:sp>
        <p:nvSpPr>
          <p:cNvPr id="95" name="Shape 9"/>
          <p:cNvSpPr/>
          <p:nvPr/>
        </p:nvSpPr>
        <p:spPr>
          <a:xfrm>
            <a:off x="1143000" y="5020560"/>
            <a:ext cx="609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96" name="Text 10"/>
          <p:cNvSpPr/>
          <p:nvPr/>
        </p:nvSpPr>
        <p:spPr>
          <a:xfrm>
            <a:off x="1143000" y="4469760"/>
            <a:ext cx="456840" cy="2307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1" u="none" strike="noStrike">
                <a:solidFill>
                  <a:srgbClr val="EC3013"/>
                </a:solidFill>
                <a:effectLst/>
                <a:uFillTx/>
                <a:latin typeface="Arial"/>
                <a:ea typeface="Arial"/>
              </a:rPr>
              <a:t>1</a:t>
            </a:r>
            <a:endParaRPr lang="en-US" sz="2170" b="0" u="none" strike="noStrike">
              <a:solidFill>
                <a:srgbClr val="000000"/>
              </a:solidFill>
              <a:effectLst/>
              <a:uFillTx/>
              <a:latin typeface="Arial"/>
            </a:endParaRPr>
          </a:p>
        </p:txBody>
      </p:sp>
      <p:sp>
        <p:nvSpPr>
          <p:cNvPr id="97" name="Shape 11"/>
          <p:cNvSpPr/>
          <p:nvPr/>
        </p:nvSpPr>
        <p:spPr>
          <a:xfrm>
            <a:off x="1752480" y="5020560"/>
            <a:ext cx="41720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98" name="Text 12"/>
          <p:cNvSpPr/>
          <p:nvPr/>
        </p:nvSpPr>
        <p:spPr>
          <a:xfrm>
            <a:off x="1981080" y="4572000"/>
            <a:ext cx="3840120" cy="2307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Deal partner</a:t>
            </a:r>
            <a:endParaRPr lang="en-US" sz="2170" b="0" u="none" strike="noStrike">
              <a:solidFill>
                <a:srgbClr val="000000"/>
              </a:solidFill>
              <a:effectLst/>
              <a:uFillTx/>
              <a:latin typeface="Arial"/>
            </a:endParaRPr>
          </a:p>
        </p:txBody>
      </p:sp>
      <p:sp>
        <p:nvSpPr>
          <p:cNvPr id="99" name="Shape 13"/>
          <p:cNvSpPr/>
          <p:nvPr/>
        </p:nvSpPr>
        <p:spPr>
          <a:xfrm>
            <a:off x="5924880" y="5020560"/>
            <a:ext cx="47865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00" name="Text 14"/>
          <p:cNvSpPr/>
          <p:nvPr/>
        </p:nvSpPr>
        <p:spPr>
          <a:xfrm>
            <a:off x="6153480" y="4469760"/>
            <a:ext cx="4473000" cy="2307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Fast “on track?” board read</a:t>
            </a:r>
            <a:endParaRPr lang="en-US" sz="2170" b="0" u="none" strike="noStrike">
              <a:solidFill>
                <a:srgbClr val="000000"/>
              </a:solidFill>
              <a:effectLst/>
              <a:uFillTx/>
              <a:latin typeface="Arial"/>
            </a:endParaRPr>
          </a:p>
        </p:txBody>
      </p:sp>
      <p:sp>
        <p:nvSpPr>
          <p:cNvPr id="101" name="Shape 15"/>
          <p:cNvSpPr/>
          <p:nvPr/>
        </p:nvSpPr>
        <p:spPr>
          <a:xfrm>
            <a:off x="10711800" y="5020560"/>
            <a:ext cx="52894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02" name="Text 16"/>
          <p:cNvSpPr/>
          <p:nvPr/>
        </p:nvSpPr>
        <p:spPr>
          <a:xfrm>
            <a:off x="10940400" y="4469760"/>
            <a:ext cx="5219640" cy="2307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Speed over precision</a:t>
            </a:r>
            <a:endParaRPr lang="en-US" sz="2170" b="0" u="none" strike="noStrike">
              <a:solidFill>
                <a:srgbClr val="000000"/>
              </a:solidFill>
              <a:effectLst/>
              <a:uFillTx/>
              <a:latin typeface="Arial"/>
            </a:endParaRPr>
          </a:p>
        </p:txBody>
      </p:sp>
      <p:sp>
        <p:nvSpPr>
          <p:cNvPr id="103" name="Shape 17"/>
          <p:cNvSpPr/>
          <p:nvPr/>
        </p:nvSpPr>
        <p:spPr>
          <a:xfrm>
            <a:off x="1143000" y="5027400"/>
            <a:ext cx="14858640" cy="1576080"/>
          </a:xfrm>
          <a:prstGeom prst="rect">
            <a:avLst/>
          </a:prstGeom>
          <a:solidFill>
            <a:srgbClr val="FFF2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Shape 18"/>
          <p:cNvSpPr/>
          <p:nvPr/>
        </p:nvSpPr>
        <p:spPr>
          <a:xfrm>
            <a:off x="1143000" y="6597000"/>
            <a:ext cx="609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05" name="Text 19"/>
          <p:cNvSpPr/>
          <p:nvPr/>
        </p:nvSpPr>
        <p:spPr>
          <a:xfrm>
            <a:off x="1143000" y="5385240"/>
            <a:ext cx="456840" cy="89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36000"/>
              </a:lnSpc>
              <a:tabLst>
                <a:tab pos="0" algn="l"/>
              </a:tabLst>
            </a:pPr>
            <a:r>
              <a:rPr lang="en-US" sz="2170" b="1" u="none" strike="noStrike">
                <a:solidFill>
                  <a:srgbClr val="EC3013"/>
                </a:solidFill>
                <a:effectLst/>
                <a:uFillTx/>
                <a:latin typeface="Arial"/>
                <a:ea typeface="Arial"/>
              </a:rPr>
              <a:t>2</a:t>
            </a:r>
            <a:endParaRPr lang="en-US" sz="2170" b="0" u="none" strike="noStrike">
              <a:solidFill>
                <a:srgbClr val="000000"/>
              </a:solidFill>
              <a:effectLst/>
              <a:uFillTx/>
              <a:latin typeface="Arial"/>
            </a:endParaRPr>
          </a:p>
        </p:txBody>
      </p:sp>
      <p:sp>
        <p:nvSpPr>
          <p:cNvPr id="106" name="Shape 20"/>
          <p:cNvSpPr/>
          <p:nvPr/>
        </p:nvSpPr>
        <p:spPr>
          <a:xfrm>
            <a:off x="1752480" y="6597000"/>
            <a:ext cx="41720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07" name="Text 21"/>
          <p:cNvSpPr/>
          <p:nvPr/>
        </p:nvSpPr>
        <p:spPr>
          <a:xfrm>
            <a:off x="1981080" y="5384160"/>
            <a:ext cx="3840120" cy="89388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36000"/>
              </a:lnSpc>
              <a:tabLst>
                <a:tab pos="0" algn="l"/>
              </a:tabLst>
            </a:pPr>
            <a:r>
              <a:rPr lang="en-US" sz="2170" b="1" u="none" strike="noStrike">
                <a:solidFill>
                  <a:srgbClr val="AE1800"/>
                </a:solidFill>
                <a:effectLst/>
                <a:uFillTx/>
                <a:latin typeface="Arial"/>
                <a:ea typeface="Arial"/>
              </a:rPr>
              <a:t>Reporting Operations + Controls</a:t>
            </a:r>
            <a:endParaRPr lang="en-US" sz="2170" b="0" u="none" strike="noStrike">
              <a:solidFill>
                <a:srgbClr val="000000"/>
              </a:solidFill>
              <a:effectLst/>
              <a:uFillTx/>
              <a:latin typeface="Arial"/>
            </a:endParaRPr>
          </a:p>
        </p:txBody>
      </p:sp>
      <p:sp>
        <p:nvSpPr>
          <p:cNvPr id="108" name="Shape 22"/>
          <p:cNvSpPr/>
          <p:nvPr/>
        </p:nvSpPr>
        <p:spPr>
          <a:xfrm>
            <a:off x="5924880" y="6597000"/>
            <a:ext cx="47865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09" name="Text 23"/>
          <p:cNvSpPr/>
          <p:nvPr/>
        </p:nvSpPr>
        <p:spPr>
          <a:xfrm>
            <a:off x="6153480" y="5385240"/>
            <a:ext cx="4473000" cy="89172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36000"/>
              </a:lnSpc>
              <a:tabLst>
                <a:tab pos="0" algn="l"/>
              </a:tabLst>
            </a:pPr>
            <a:r>
              <a:rPr lang="en-US" sz="2170" b="0" u="none" strike="noStrike">
                <a:solidFill>
                  <a:srgbClr val="AE1800"/>
                </a:solidFill>
                <a:effectLst/>
                <a:uFillTx/>
                <a:latin typeface="Arial"/>
                <a:ea typeface="Arial"/>
              </a:rPr>
              <a:t>Owns the reconciliation &amp; reporting grind</a:t>
            </a:r>
            <a:endParaRPr lang="en-US" sz="2170" b="0" u="none" strike="noStrike">
              <a:solidFill>
                <a:srgbClr val="000000"/>
              </a:solidFill>
              <a:effectLst/>
              <a:uFillTx/>
              <a:latin typeface="Arial"/>
            </a:endParaRPr>
          </a:p>
        </p:txBody>
      </p:sp>
      <p:sp>
        <p:nvSpPr>
          <p:cNvPr id="110" name="Shape 24"/>
          <p:cNvSpPr/>
          <p:nvPr/>
        </p:nvSpPr>
        <p:spPr>
          <a:xfrm>
            <a:off x="10711800" y="6597000"/>
            <a:ext cx="52894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11" name="Text 25"/>
          <p:cNvSpPr/>
          <p:nvPr/>
        </p:nvSpPr>
        <p:spPr>
          <a:xfrm>
            <a:off x="10940400" y="5436360"/>
            <a:ext cx="3513600" cy="79272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ct val="136000"/>
              </a:lnSpc>
              <a:tabLst>
                <a:tab pos="0" algn="l"/>
              </a:tabLst>
            </a:pPr>
            <a:r>
              <a:rPr lang="en-US" sz="2170" b="1" u="none" strike="noStrike">
                <a:solidFill>
                  <a:srgbClr val="AE1800"/>
                </a:solidFill>
                <a:effectLst/>
                <a:uFillTx/>
                <a:latin typeface="Arial"/>
                <a:ea typeface="Arial"/>
              </a:rPr>
              <a:t>Comparability + control ⬅ our customer</a:t>
            </a:r>
            <a:endParaRPr lang="en-US" sz="2170" b="0" u="none" strike="noStrike">
              <a:solidFill>
                <a:srgbClr val="000000"/>
              </a:solidFill>
              <a:effectLst/>
              <a:uFillTx/>
              <a:latin typeface="Arial"/>
            </a:endParaRPr>
          </a:p>
        </p:txBody>
      </p:sp>
      <p:pic>
        <p:nvPicPr>
          <p:cNvPr id="112" name="Image 0" descr="preencoded.png"/>
          <p:cNvPicPr/>
          <p:nvPr/>
        </p:nvPicPr>
        <p:blipFill>
          <a:blip r:embed="rId1">
            <a:extLst>
              <a:ext uri="{96DAC541-7B7A-43D3-8B79-37D633B846F1}">
                <asvg:svgBlip xmlns:asvg="http://schemas.microsoft.com/office/drawing/2016/SVG/main" r:embed="rId2"/>
              </a:ext>
            </a:extLst>
          </a:blip>
          <a:stretch/>
        </p:blipFill>
        <p:spPr>
          <a:xfrm>
            <a:off x="15621120" y="5696640"/>
            <a:ext cx="380520" cy="237600"/>
          </a:xfrm>
          <a:prstGeom prst="rect">
            <a:avLst/>
          </a:prstGeom>
          <a:noFill/>
          <a:ln w="0">
            <a:noFill/>
          </a:ln>
        </p:spPr>
      </p:pic>
      <p:sp>
        <p:nvSpPr>
          <p:cNvPr id="113" name="Shape 26"/>
          <p:cNvSpPr/>
          <p:nvPr/>
        </p:nvSpPr>
        <p:spPr>
          <a:xfrm>
            <a:off x="1143000" y="7508520"/>
            <a:ext cx="609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14" name="Text 27"/>
          <p:cNvSpPr/>
          <p:nvPr/>
        </p:nvSpPr>
        <p:spPr>
          <a:xfrm>
            <a:off x="1143000" y="6961680"/>
            <a:ext cx="45684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1" u="none" strike="noStrike">
                <a:solidFill>
                  <a:srgbClr val="EC3013"/>
                </a:solidFill>
                <a:effectLst/>
                <a:uFillTx/>
                <a:latin typeface="Arial"/>
                <a:ea typeface="Arial"/>
              </a:rPr>
              <a:t>3</a:t>
            </a:r>
            <a:endParaRPr lang="en-US" sz="2170" b="0" u="none" strike="noStrike">
              <a:solidFill>
                <a:srgbClr val="000000"/>
              </a:solidFill>
              <a:effectLst/>
              <a:uFillTx/>
              <a:latin typeface="Arial"/>
            </a:endParaRPr>
          </a:p>
        </p:txBody>
      </p:sp>
      <p:sp>
        <p:nvSpPr>
          <p:cNvPr id="115" name="Shape 28"/>
          <p:cNvSpPr/>
          <p:nvPr/>
        </p:nvSpPr>
        <p:spPr>
          <a:xfrm>
            <a:off x="1752480" y="7508520"/>
            <a:ext cx="41720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16" name="Text 29"/>
          <p:cNvSpPr/>
          <p:nvPr/>
        </p:nvSpPr>
        <p:spPr>
          <a:xfrm>
            <a:off x="1981080" y="6961680"/>
            <a:ext cx="384012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Valuation analyst</a:t>
            </a:r>
            <a:endParaRPr lang="en-US" sz="2170" b="0" u="none" strike="noStrike">
              <a:solidFill>
                <a:srgbClr val="000000"/>
              </a:solidFill>
              <a:effectLst/>
              <a:uFillTx/>
              <a:latin typeface="Arial"/>
            </a:endParaRPr>
          </a:p>
        </p:txBody>
      </p:sp>
      <p:sp>
        <p:nvSpPr>
          <p:cNvPr id="117" name="Shape 30"/>
          <p:cNvSpPr/>
          <p:nvPr/>
        </p:nvSpPr>
        <p:spPr>
          <a:xfrm>
            <a:off x="5924880" y="7508520"/>
            <a:ext cx="47865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18" name="Text 31"/>
          <p:cNvSpPr/>
          <p:nvPr/>
        </p:nvSpPr>
        <p:spPr>
          <a:xfrm>
            <a:off x="6153480" y="6961680"/>
            <a:ext cx="447300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Sets each mark → fund NAV</a:t>
            </a:r>
            <a:endParaRPr lang="en-US" sz="2170" b="0" u="none" strike="noStrike">
              <a:solidFill>
                <a:srgbClr val="000000"/>
              </a:solidFill>
              <a:effectLst/>
              <a:uFillTx/>
              <a:latin typeface="Arial"/>
            </a:endParaRPr>
          </a:p>
        </p:txBody>
      </p:sp>
      <p:sp>
        <p:nvSpPr>
          <p:cNvPr id="119" name="Shape 32"/>
          <p:cNvSpPr/>
          <p:nvPr/>
        </p:nvSpPr>
        <p:spPr>
          <a:xfrm>
            <a:off x="10711800" y="7508520"/>
            <a:ext cx="52894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20" name="Text 33"/>
          <p:cNvSpPr/>
          <p:nvPr/>
        </p:nvSpPr>
        <p:spPr>
          <a:xfrm>
            <a:off x="10940400" y="6961680"/>
            <a:ext cx="521964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Precision above all</a:t>
            </a:r>
            <a:endParaRPr lang="en-US" sz="2170" b="0" u="none" strike="noStrike">
              <a:solidFill>
                <a:srgbClr val="000000"/>
              </a:solidFill>
              <a:effectLst/>
              <a:uFillTx/>
              <a:latin typeface="Arial"/>
            </a:endParaRPr>
          </a:p>
        </p:txBody>
      </p:sp>
      <p:sp>
        <p:nvSpPr>
          <p:cNvPr id="121" name="Shape 34"/>
          <p:cNvSpPr/>
          <p:nvPr/>
        </p:nvSpPr>
        <p:spPr>
          <a:xfrm>
            <a:off x="1143000" y="8420400"/>
            <a:ext cx="609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22" name="Text 35"/>
          <p:cNvSpPr/>
          <p:nvPr/>
        </p:nvSpPr>
        <p:spPr>
          <a:xfrm>
            <a:off x="1143000" y="7873200"/>
            <a:ext cx="45684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1" u="none" strike="noStrike">
                <a:solidFill>
                  <a:srgbClr val="EC3013"/>
                </a:solidFill>
                <a:effectLst/>
                <a:uFillTx/>
                <a:latin typeface="Arial"/>
                <a:ea typeface="Arial"/>
              </a:rPr>
              <a:t>4</a:t>
            </a:r>
            <a:endParaRPr lang="en-US" sz="2170" b="0" u="none" strike="noStrike">
              <a:solidFill>
                <a:srgbClr val="000000"/>
              </a:solidFill>
              <a:effectLst/>
              <a:uFillTx/>
              <a:latin typeface="Arial"/>
            </a:endParaRPr>
          </a:p>
        </p:txBody>
      </p:sp>
      <p:sp>
        <p:nvSpPr>
          <p:cNvPr id="123" name="Shape 36"/>
          <p:cNvSpPr/>
          <p:nvPr/>
        </p:nvSpPr>
        <p:spPr>
          <a:xfrm>
            <a:off x="1752480" y="8420400"/>
            <a:ext cx="41720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24" name="Text 37"/>
          <p:cNvSpPr/>
          <p:nvPr/>
        </p:nvSpPr>
        <p:spPr>
          <a:xfrm>
            <a:off x="1981080" y="7873200"/>
            <a:ext cx="384012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IR / LP-reporting</a:t>
            </a:r>
            <a:endParaRPr lang="en-US" sz="2170" b="0" u="none" strike="noStrike">
              <a:solidFill>
                <a:srgbClr val="000000"/>
              </a:solidFill>
              <a:effectLst/>
              <a:uFillTx/>
              <a:latin typeface="Arial"/>
            </a:endParaRPr>
          </a:p>
        </p:txBody>
      </p:sp>
      <p:sp>
        <p:nvSpPr>
          <p:cNvPr id="125" name="Shape 38"/>
          <p:cNvSpPr/>
          <p:nvPr/>
        </p:nvSpPr>
        <p:spPr>
          <a:xfrm>
            <a:off x="5924880" y="8420400"/>
            <a:ext cx="47865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26" name="Text 39"/>
          <p:cNvSpPr/>
          <p:nvPr/>
        </p:nvSpPr>
        <p:spPr>
          <a:xfrm>
            <a:off x="6153480" y="7873200"/>
            <a:ext cx="447300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Reports numbers outward</a:t>
            </a:r>
            <a:endParaRPr lang="en-US" sz="2170" b="0" u="none" strike="noStrike">
              <a:solidFill>
                <a:srgbClr val="000000"/>
              </a:solidFill>
              <a:effectLst/>
              <a:uFillTx/>
              <a:latin typeface="Arial"/>
            </a:endParaRPr>
          </a:p>
        </p:txBody>
      </p:sp>
      <p:sp>
        <p:nvSpPr>
          <p:cNvPr id="127" name="Shape 40"/>
          <p:cNvSpPr/>
          <p:nvPr/>
        </p:nvSpPr>
        <p:spPr>
          <a:xfrm>
            <a:off x="10711800" y="8420400"/>
            <a:ext cx="52894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28" name="Text 41"/>
          <p:cNvSpPr/>
          <p:nvPr/>
        </p:nvSpPr>
        <p:spPr>
          <a:xfrm>
            <a:off x="10940400" y="7873200"/>
            <a:ext cx="5219640" cy="227160"/>
          </a:xfrm>
          <a:prstGeom prst="rect">
            <a:avLst/>
          </a:prstGeom>
          <a:noFill/>
          <a:ln w="0">
            <a:noFill/>
          </a:ln>
        </p:spPr>
        <p:style>
          <a:lnRef idx="0"/>
          <a:fillRef idx="0"/>
          <a:effectRef idx="0"/>
          <a:fontRef idx="minor"/>
        </p:style>
        <p:txBody>
          <a:bodyPr lIns="25560" tIns="25560" rIns="25560" bIns="25560" anchor="ctr">
            <a:normAutofit fontScale="47500" lnSpcReduction="19999"/>
          </a:bodyPr>
          <a:p>
            <a:pPr defTabSz="914400">
              <a:lnSpc>
                <a:spcPct val="136000"/>
              </a:lnSpc>
              <a:tabLst>
                <a:tab pos="0" algn="l"/>
              </a:tabLst>
            </a:pPr>
            <a:r>
              <a:rPr lang="en-US" sz="2170" b="0" u="none" strike="noStrike">
                <a:solidFill>
                  <a:srgbClr val="201E1D"/>
                </a:solidFill>
                <a:effectLst/>
                <a:uFillTx/>
                <a:latin typeface="Arial"/>
                <a:ea typeface="Arial"/>
              </a:rPr>
              <a:t>Precision (external)</a:t>
            </a:r>
            <a:endParaRPr lang="en-US" sz="2170" b="0" u="none" strike="noStrike">
              <a:solidFill>
                <a:srgbClr val="000000"/>
              </a:solidFill>
              <a:effectLst/>
              <a:uFillTx/>
              <a:latin typeface="Arial"/>
            </a:endParaRPr>
          </a:p>
        </p:txBody>
      </p:sp>
      <p:sp>
        <p:nvSpPr>
          <p:cNvPr id="129" name="Shape 42"/>
          <p:cNvSpPr/>
          <p:nvPr/>
        </p:nvSpPr>
        <p:spPr>
          <a:xfrm>
            <a:off x="1143000" y="9760320"/>
            <a:ext cx="609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0" name="Text 43"/>
          <p:cNvSpPr/>
          <p:nvPr/>
        </p:nvSpPr>
        <p:spPr>
          <a:xfrm>
            <a:off x="1143000" y="8785080"/>
            <a:ext cx="456840" cy="65520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36000"/>
              </a:lnSpc>
              <a:tabLst>
                <a:tab pos="0" algn="l"/>
              </a:tabLst>
            </a:pPr>
            <a:r>
              <a:rPr lang="en-US" sz="2170" b="1" u="none" strike="noStrike">
                <a:solidFill>
                  <a:srgbClr val="EC3013"/>
                </a:solidFill>
                <a:effectLst/>
                <a:uFillTx/>
                <a:latin typeface="Arial"/>
                <a:ea typeface="Arial"/>
              </a:rPr>
              <a:t>5</a:t>
            </a:r>
            <a:endParaRPr lang="en-US" sz="2170" b="0" u="none" strike="noStrike">
              <a:solidFill>
                <a:srgbClr val="000000"/>
              </a:solidFill>
              <a:effectLst/>
              <a:uFillTx/>
              <a:latin typeface="Arial"/>
            </a:endParaRPr>
          </a:p>
        </p:txBody>
      </p:sp>
      <p:sp>
        <p:nvSpPr>
          <p:cNvPr id="131" name="Shape 44"/>
          <p:cNvSpPr/>
          <p:nvPr/>
        </p:nvSpPr>
        <p:spPr>
          <a:xfrm>
            <a:off x="1752480" y="9760320"/>
            <a:ext cx="41720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2" name="Text 45"/>
          <p:cNvSpPr/>
          <p:nvPr/>
        </p:nvSpPr>
        <p:spPr>
          <a:xfrm>
            <a:off x="1981080" y="8785080"/>
            <a:ext cx="3840120" cy="65520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36000"/>
              </a:lnSpc>
              <a:tabLst>
                <a:tab pos="0" algn="l"/>
              </a:tabLst>
            </a:pPr>
            <a:r>
              <a:rPr lang="en-US" sz="2170" b="0" u="none" strike="noStrike">
                <a:solidFill>
                  <a:srgbClr val="201E1D"/>
                </a:solidFill>
                <a:effectLst/>
                <a:uFillTx/>
                <a:latin typeface="Arial"/>
                <a:ea typeface="Arial"/>
              </a:rPr>
              <a:t>Risk / Credit analyst</a:t>
            </a:r>
            <a:endParaRPr lang="en-US" sz="2170" b="0" u="none" strike="noStrike">
              <a:solidFill>
                <a:srgbClr val="000000"/>
              </a:solidFill>
              <a:effectLst/>
              <a:uFillTx/>
              <a:latin typeface="Arial"/>
            </a:endParaRPr>
          </a:p>
        </p:txBody>
      </p:sp>
      <p:sp>
        <p:nvSpPr>
          <p:cNvPr id="133" name="Shape 46"/>
          <p:cNvSpPr/>
          <p:nvPr/>
        </p:nvSpPr>
        <p:spPr>
          <a:xfrm>
            <a:off x="5924880" y="9760320"/>
            <a:ext cx="47865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4" name="Text 47"/>
          <p:cNvSpPr/>
          <p:nvPr/>
        </p:nvSpPr>
        <p:spPr>
          <a:xfrm>
            <a:off x="6153480" y="8785080"/>
            <a:ext cx="4473000" cy="65520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136000"/>
              </a:lnSpc>
              <a:tabLst>
                <a:tab pos="0" algn="l"/>
              </a:tabLst>
            </a:pPr>
            <a:r>
              <a:rPr lang="en-US" sz="2170" b="0" u="none" strike="noStrike">
                <a:solidFill>
                  <a:srgbClr val="201E1D"/>
                </a:solidFill>
                <a:effectLst/>
                <a:uFillTx/>
                <a:latin typeface="Arial"/>
                <a:ea typeface="Arial"/>
              </a:rPr>
              <a:t>Checks borrowers stay in covenants</a:t>
            </a:r>
            <a:endParaRPr lang="en-US" sz="2170" b="0" u="none" strike="noStrike">
              <a:solidFill>
                <a:srgbClr val="000000"/>
              </a:solidFill>
              <a:effectLst/>
              <a:uFillTx/>
              <a:latin typeface="Arial"/>
            </a:endParaRPr>
          </a:p>
        </p:txBody>
      </p:sp>
      <p:sp>
        <p:nvSpPr>
          <p:cNvPr id="135" name="Shape 48"/>
          <p:cNvSpPr/>
          <p:nvPr/>
        </p:nvSpPr>
        <p:spPr>
          <a:xfrm>
            <a:off x="10711800" y="9760320"/>
            <a:ext cx="52894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136" name="Text 49"/>
          <p:cNvSpPr/>
          <p:nvPr/>
        </p:nvSpPr>
        <p:spPr>
          <a:xfrm>
            <a:off x="10940400" y="8785080"/>
            <a:ext cx="5219640" cy="65520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36000"/>
              </a:lnSpc>
              <a:tabLst>
                <a:tab pos="0" algn="l"/>
              </a:tabLst>
            </a:pPr>
            <a:r>
              <a:rPr lang="en-US" sz="2170" b="0" u="none" strike="noStrike">
                <a:solidFill>
                  <a:srgbClr val="201E1D"/>
                </a:solidFill>
                <a:effectLst/>
                <a:uFillTx/>
                <a:latin typeface="Arial"/>
                <a:ea typeface="Arial"/>
              </a:rPr>
              <a:t>Precision + exact definitions</a:t>
            </a:r>
            <a:endParaRPr lang="en-US" sz="2170" b="0" u="none" strike="noStrike">
              <a:solidFill>
                <a:srgbClr val="000000"/>
              </a:solidFill>
              <a:effectLst/>
              <a:uFillTx/>
              <a:latin typeface="Arial"/>
            </a:endParaRPr>
          </a:p>
        </p:txBody>
      </p:sp>
      <p:pic>
        <p:nvPicPr>
          <p:cNvPr id="137" name="Image 1" descr="preencoded.png"/>
          <p:cNvPicPr/>
          <p:nvPr/>
        </p:nvPicPr>
        <p:blipFill>
          <a:blip r:embed="rId3"/>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138"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TWO ROUNDS, TWO TOOLS</a:t>
            </a:r>
            <a:endParaRPr lang="en-US" sz="1800" b="0" u="none" strike="noStrike">
              <a:solidFill>
                <a:srgbClr val="000000"/>
              </a:solidFill>
              <a:effectLst/>
              <a:uFillTx/>
              <a:latin typeface="Arial"/>
            </a:endParaRPr>
          </a:p>
        </p:txBody>
      </p:sp>
      <p:sp>
        <p:nvSpPr>
          <p:cNvPr id="139"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Same builder, opposite tools — speed for the deal partner, precision for Ops</a:t>
            </a:r>
            <a:endParaRPr lang="en-US" sz="4800" b="0" u="none" strike="noStrike">
              <a:solidFill>
                <a:srgbClr val="000000"/>
              </a:solidFill>
              <a:effectLst/>
              <a:uFillTx/>
              <a:latin typeface="Arial"/>
            </a:endParaRPr>
          </a:p>
        </p:txBody>
      </p:sp>
      <p:sp>
        <p:nvSpPr>
          <p:cNvPr id="140" name="Shape 2"/>
          <p:cNvSpPr/>
          <p:nvPr/>
        </p:nvSpPr>
        <p:spPr>
          <a:xfrm>
            <a:off x="1143000" y="3886200"/>
            <a:ext cx="7810200" cy="33904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3"/>
          <p:cNvSpPr/>
          <p:nvPr/>
        </p:nvSpPr>
        <p:spPr>
          <a:xfrm>
            <a:off x="1442520" y="41666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ROUND 1 · LLM · SPEED</a:t>
            </a:r>
            <a:endParaRPr lang="en-US" sz="1800" b="0" u="none" strike="noStrike">
              <a:solidFill>
                <a:srgbClr val="000000"/>
              </a:solidFill>
              <a:effectLst/>
              <a:uFillTx/>
              <a:latin typeface="Arial"/>
            </a:endParaRPr>
          </a:p>
        </p:txBody>
      </p:sp>
      <p:sp>
        <p:nvSpPr>
          <p:cNvPr id="142" name="Text 4"/>
          <p:cNvSpPr/>
          <p:nvPr/>
        </p:nvSpPr>
        <p:spPr>
          <a:xfrm>
            <a:off x="1442520" y="4635360"/>
            <a:ext cx="79318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Deal partner → “AI Scout”</a:t>
            </a:r>
            <a:endParaRPr lang="en-US" sz="2020" b="0" u="none" strike="noStrike">
              <a:solidFill>
                <a:srgbClr val="000000"/>
              </a:solidFill>
              <a:effectLst/>
              <a:uFillTx/>
              <a:latin typeface="Arial"/>
            </a:endParaRPr>
          </a:p>
        </p:txBody>
      </p:sp>
      <p:sp>
        <p:nvSpPr>
          <p:cNvPr id="143" name="Text 5"/>
          <p:cNvSpPr/>
          <p:nvPr/>
        </p:nvSpPr>
        <p:spPr>
          <a:xfrm>
            <a:off x="1282680" y="5083200"/>
            <a:ext cx="7446960" cy="112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8000"/>
              </a:lnSpc>
              <a:tabLst>
                <a:tab pos="0" algn="l"/>
              </a:tabLst>
            </a:pPr>
            <a:r>
              <a:rPr lang="en-US" sz="1800" b="0" u="none" strike="noStrike">
                <a:solidFill>
                  <a:srgbClr val="201E1D"/>
                </a:solidFill>
                <a:effectLst/>
                <a:uFillTx/>
                <a:latin typeface="Arial"/>
                <a:ea typeface="Arial"/>
              </a:rPr>
              <a:t>company URL → scrape info + press</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search + scrape the founders</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summarize → Slack: “move forward?”</a:t>
            </a:r>
            <a:endParaRPr lang="en-US" sz="1800" b="0" u="none" strike="noStrike">
              <a:solidFill>
                <a:srgbClr val="000000"/>
              </a:solidFill>
              <a:effectLst/>
              <a:uFillTx/>
              <a:latin typeface="Arial"/>
            </a:endParaRPr>
          </a:p>
        </p:txBody>
      </p:sp>
      <p:sp>
        <p:nvSpPr>
          <p:cNvPr id="144" name="Text 6"/>
          <p:cNvSpPr/>
          <p:nvPr/>
        </p:nvSpPr>
        <p:spPr>
          <a:xfrm>
            <a:off x="1442520" y="6359400"/>
            <a:ext cx="742716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the deal partner wants </a:t>
            </a:r>
            <a:r>
              <a:rPr lang="en-US" sz="1800" b="1" u="none" strike="noStrike">
                <a:solidFill>
                  <a:srgbClr val="201E1D"/>
                </a:solidFill>
                <a:effectLst/>
                <a:uFillTx/>
                <a:latin typeface="Arial"/>
                <a:ea typeface="Arial"/>
              </a:rPr>
              <a:t>speed </a:t>
            </a:r>
            <a:r>
              <a:rPr lang="en-US" sz="1800" b="0" u="none" strike="noStrike">
                <a:solidFill>
                  <a:srgbClr val="201D1D">
                    <a:alpha val="68000"/>
                  </a:srgbClr>
                </a:solidFill>
                <a:effectLst/>
                <a:uFillTx/>
                <a:latin typeface="Arial"/>
                <a:ea typeface="Arial"/>
              </a:rPr>
              <a:t>— a fast, directional read that keeps a deal moving</a:t>
            </a:r>
            <a:endParaRPr lang="en-US" sz="1800" b="0" u="none" strike="noStrike">
              <a:solidFill>
                <a:srgbClr val="000000"/>
              </a:solidFill>
              <a:effectLst/>
              <a:uFillTx/>
              <a:latin typeface="Arial"/>
            </a:endParaRPr>
          </a:p>
        </p:txBody>
      </p:sp>
      <p:sp>
        <p:nvSpPr>
          <p:cNvPr id="145" name="Shape 7"/>
          <p:cNvSpPr/>
          <p:nvPr/>
        </p:nvSpPr>
        <p:spPr>
          <a:xfrm>
            <a:off x="9334440" y="3886200"/>
            <a:ext cx="7810200" cy="339048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6" name="Image 0" descr="preencoded.png"/>
          <p:cNvPicPr/>
          <p:nvPr/>
        </p:nvPicPr>
        <p:blipFill>
          <a:blip r:embed="rId1">
            <a:extLst>
              <a:ext uri="{96DAC541-7B7A-43D3-8B79-37D633B846F1}">
                <asvg:svgBlip xmlns:asvg="http://schemas.microsoft.com/office/drawing/2016/SVG/main" r:embed="rId2"/>
              </a:ext>
            </a:extLst>
          </a:blip>
          <a:stretch/>
        </p:blipFill>
        <p:spPr>
          <a:xfrm>
            <a:off x="9638280" y="4171320"/>
            <a:ext cx="361440" cy="228240"/>
          </a:xfrm>
          <a:prstGeom prst="rect">
            <a:avLst/>
          </a:prstGeom>
          <a:noFill/>
          <a:ln w="0">
            <a:noFill/>
          </a:ln>
        </p:spPr>
      </p:pic>
      <p:sp>
        <p:nvSpPr>
          <p:cNvPr id="147" name="Text 8"/>
          <p:cNvSpPr/>
          <p:nvPr/>
        </p:nvSpPr>
        <p:spPr>
          <a:xfrm>
            <a:off x="10067040" y="4171320"/>
            <a:ext cx="958320" cy="266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86000"/>
              </a:lnSpc>
              <a:tabLst>
                <a:tab pos="0" algn="l"/>
              </a:tabLst>
            </a:pPr>
            <a:r>
              <a:rPr lang="en-US" sz="1800" b="1" u="none" spc="-17" strike="noStrike">
                <a:solidFill>
                  <a:srgbClr val="201E1D"/>
                </a:solidFill>
                <a:effectLst/>
                <a:uFillTx/>
                <a:latin typeface="Arial"/>
                <a:ea typeface="Arial"/>
              </a:rPr>
              <a:t>Concord</a:t>
            </a:r>
            <a:endParaRPr lang="en-US" sz="1800" b="0" u="none" strike="noStrike">
              <a:solidFill>
                <a:srgbClr val="000000"/>
              </a:solidFill>
              <a:effectLst/>
              <a:uFillTx/>
              <a:latin typeface="Arial"/>
            </a:endParaRPr>
          </a:p>
        </p:txBody>
      </p:sp>
      <p:sp>
        <p:nvSpPr>
          <p:cNvPr id="148" name="Text 9"/>
          <p:cNvSpPr/>
          <p:nvPr/>
        </p:nvSpPr>
        <p:spPr>
          <a:xfrm>
            <a:off x="9638280" y="4514040"/>
            <a:ext cx="79225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ROUND 2 · DETERMINISTIC · PRECISION</a:t>
            </a:r>
            <a:endParaRPr lang="en-US" sz="1800" b="0" u="none" strike="noStrike">
              <a:solidFill>
                <a:srgbClr val="000000"/>
              </a:solidFill>
              <a:effectLst/>
              <a:uFillTx/>
              <a:latin typeface="Arial"/>
            </a:endParaRPr>
          </a:p>
        </p:txBody>
      </p:sp>
      <p:sp>
        <p:nvSpPr>
          <p:cNvPr id="149" name="Text 10"/>
          <p:cNvSpPr/>
          <p:nvPr/>
        </p:nvSpPr>
        <p:spPr>
          <a:xfrm>
            <a:off x="9638280" y="4982400"/>
            <a:ext cx="792252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Operations → Concord</a:t>
            </a:r>
            <a:endParaRPr lang="en-US" sz="2020" b="0" u="none" strike="noStrike">
              <a:solidFill>
                <a:srgbClr val="000000"/>
              </a:solidFill>
              <a:effectLst/>
              <a:uFillTx/>
              <a:latin typeface="Arial"/>
            </a:endParaRPr>
          </a:p>
        </p:txBody>
      </p:sp>
      <p:sp>
        <p:nvSpPr>
          <p:cNvPr id="150" name="Text 11"/>
          <p:cNvSpPr/>
          <p:nvPr/>
        </p:nvSpPr>
        <p:spPr>
          <a:xfrm>
            <a:off x="9478440" y="5430240"/>
            <a:ext cx="7438320" cy="112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8000"/>
              </a:lnSpc>
              <a:tabLst>
                <a:tab pos="0" algn="l"/>
              </a:tabLst>
            </a:pPr>
            <a:r>
              <a:rPr lang="en-US" sz="1800" b="0" u="none" strike="noStrike">
                <a:solidFill>
                  <a:srgbClr val="201E1D"/>
                </a:solidFill>
                <a:effectLst/>
                <a:uFillTx/>
                <a:latin typeface="Arial"/>
                <a:ea typeface="Arial"/>
              </a:rPr>
              <a:t>a number you'd sign your name to</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traceable to its source</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a wrong answer refused, not guessed</a:t>
            </a:r>
            <a:endParaRPr lang="en-US" sz="1800" b="0" u="none" strike="noStrike">
              <a:solidFill>
                <a:srgbClr val="000000"/>
              </a:solidFill>
              <a:effectLst/>
              <a:uFillTx/>
              <a:latin typeface="Arial"/>
            </a:endParaRPr>
          </a:p>
        </p:txBody>
      </p:sp>
      <p:sp>
        <p:nvSpPr>
          <p:cNvPr id="151" name="Text 12"/>
          <p:cNvSpPr/>
          <p:nvPr/>
        </p:nvSpPr>
        <p:spPr>
          <a:xfrm>
            <a:off x="9638280" y="6706440"/>
            <a:ext cx="792252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precision first — that's why this one is deterministic</a:t>
            </a:r>
            <a:endParaRPr lang="en-US" sz="1800" b="0" u="none" strike="noStrike">
              <a:solidFill>
                <a:srgbClr val="000000"/>
              </a:solidFill>
              <a:effectLst/>
              <a:uFillTx/>
              <a:latin typeface="Arial"/>
            </a:endParaRPr>
          </a:p>
        </p:txBody>
      </p:sp>
      <p:sp>
        <p:nvSpPr>
          <p:cNvPr id="152" name="Text 13"/>
          <p:cNvSpPr/>
          <p:nvPr/>
        </p:nvSpPr>
        <p:spPr>
          <a:xfrm>
            <a:off x="1143000" y="78062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Same builder, two rounds, </a:t>
            </a:r>
            <a:r>
              <a:rPr lang="en-US" sz="1800" b="1" u="none" strike="noStrike">
                <a:solidFill>
                  <a:srgbClr val="201E1D"/>
                </a:solidFill>
                <a:effectLst/>
                <a:uFillTx/>
                <a:latin typeface="Arial"/>
                <a:ea typeface="Arial"/>
              </a:rPr>
              <a:t>two opposite trust postures.</a:t>
            </a:r>
            <a:endParaRPr lang="en-US" sz="1800" b="0" u="none" strike="noStrike">
              <a:solidFill>
                <a:srgbClr val="000000"/>
              </a:solidFill>
              <a:effectLst/>
              <a:uFillTx/>
              <a:latin typeface="Arial"/>
            </a:endParaRPr>
          </a:p>
        </p:txBody>
      </p:sp>
      <p:pic>
        <p:nvPicPr>
          <p:cNvPr id="153" name="Image 1" descr="preencoded.png"/>
          <p:cNvPicPr/>
          <p:nvPr/>
        </p:nvPicPr>
        <p:blipFill>
          <a:blip r:embed="rId3"/>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154"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02 · THE QUARTER-CLOSE HURTS</a:t>
            </a:r>
            <a:endParaRPr lang="en-US" sz="1800" b="0" u="none" strike="noStrike">
              <a:solidFill>
                <a:srgbClr val="000000"/>
              </a:solidFill>
              <a:effectLst/>
              <a:uFillTx/>
              <a:latin typeface="Arial"/>
            </a:endParaRPr>
          </a:p>
        </p:txBody>
      </p:sp>
      <p:sp>
        <p:nvSpPr>
          <p:cNvPr id="155"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Monitoring the portfolio means hand-keying 20+ packs — every quarter</a:t>
            </a:r>
            <a:endParaRPr lang="en-US" sz="4800" b="0" u="none" strike="noStrike">
              <a:solidFill>
                <a:srgbClr val="000000"/>
              </a:solidFill>
              <a:effectLst/>
              <a:uFillTx/>
              <a:latin typeface="Arial"/>
            </a:endParaRPr>
          </a:p>
        </p:txBody>
      </p:sp>
      <p:sp>
        <p:nvSpPr>
          <p:cNvPr id="156" name="Shape 2"/>
          <p:cNvSpPr/>
          <p:nvPr/>
        </p:nvSpPr>
        <p:spPr>
          <a:xfrm>
            <a:off x="1143000" y="3886200"/>
            <a:ext cx="4927320" cy="42008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7" name="Text 3"/>
          <p:cNvSpPr/>
          <p:nvPr/>
        </p:nvSpPr>
        <p:spPr>
          <a:xfrm>
            <a:off x="1442520" y="4166640"/>
            <a:ext cx="47610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SECOND WEEK AFTER CLOSE</a:t>
            </a:r>
            <a:endParaRPr lang="en-US" sz="1800" b="0" u="none" strike="noStrike">
              <a:solidFill>
                <a:srgbClr val="000000"/>
              </a:solidFill>
              <a:effectLst/>
              <a:uFillTx/>
              <a:latin typeface="Arial"/>
            </a:endParaRPr>
          </a:p>
        </p:txBody>
      </p:sp>
      <p:sp>
        <p:nvSpPr>
          <p:cNvPr id="158" name="Text 4"/>
          <p:cNvSpPr/>
          <p:nvPr/>
        </p:nvSpPr>
        <p:spPr>
          <a:xfrm>
            <a:off x="1442520" y="4635360"/>
            <a:ext cx="476100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20+ PDF packs land</a:t>
            </a:r>
            <a:endParaRPr lang="en-US" sz="1800" b="0" u="none" strike="noStrike">
              <a:solidFill>
                <a:srgbClr val="000000"/>
              </a:solidFill>
              <a:effectLst/>
              <a:uFillTx/>
              <a:latin typeface="Arial"/>
            </a:endParaRPr>
          </a:p>
        </p:txBody>
      </p:sp>
      <p:sp>
        <p:nvSpPr>
          <p:cNvPr id="159" name="Shape 5"/>
          <p:cNvSpPr/>
          <p:nvPr/>
        </p:nvSpPr>
        <p:spPr>
          <a:xfrm>
            <a:off x="1442520" y="5031360"/>
            <a:ext cx="4327920" cy="6292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60" name="Image 0" descr="preencoded.png"/>
          <p:cNvPicPr/>
          <p:nvPr/>
        </p:nvPicPr>
        <p:blipFill>
          <a:blip r:embed="rId1">
            <a:extLst>
              <a:ext uri="{96DAC541-7B7A-43D3-8B79-37D633B846F1}">
                <asvg:svgBlip xmlns:asvg="http://schemas.microsoft.com/office/drawing/2016/SVG/main" r:embed="rId2"/>
              </a:ext>
            </a:extLst>
          </a:blip>
          <a:stretch/>
        </p:blipFill>
        <p:spPr>
          <a:xfrm>
            <a:off x="1618200" y="5241240"/>
            <a:ext cx="209160" cy="209160"/>
          </a:xfrm>
          <a:prstGeom prst="rect">
            <a:avLst/>
          </a:prstGeom>
          <a:noFill/>
          <a:ln w="0">
            <a:noFill/>
          </a:ln>
        </p:spPr>
      </p:pic>
      <p:sp>
        <p:nvSpPr>
          <p:cNvPr id="161" name="Text 6"/>
          <p:cNvSpPr/>
          <p:nvPr/>
        </p:nvSpPr>
        <p:spPr>
          <a:xfrm>
            <a:off x="1942200" y="5217840"/>
            <a:ext cx="635040" cy="28800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34000"/>
              </a:lnSpc>
              <a:tabLst>
                <a:tab pos="0" algn="l"/>
              </a:tabLst>
            </a:pPr>
            <a:r>
              <a:rPr lang="en-US" sz="1800" b="1" u="none" strike="noStrike">
                <a:solidFill>
                  <a:srgbClr val="201E1D"/>
                </a:solidFill>
                <a:effectLst/>
                <a:uFillTx/>
                <a:latin typeface="Arial"/>
                <a:ea typeface="Arial"/>
              </a:rPr>
              <a:t>SaaS</a:t>
            </a:r>
            <a:endParaRPr lang="en-US" sz="1800" b="0" u="none" strike="noStrike">
              <a:solidFill>
                <a:srgbClr val="000000"/>
              </a:solidFill>
              <a:effectLst/>
              <a:uFillTx/>
              <a:latin typeface="Arial"/>
            </a:endParaRPr>
          </a:p>
        </p:txBody>
      </p:sp>
      <p:sp>
        <p:nvSpPr>
          <p:cNvPr id="162" name="Shape 7"/>
          <p:cNvSpPr/>
          <p:nvPr/>
        </p:nvSpPr>
        <p:spPr>
          <a:xfrm>
            <a:off x="1442520" y="5746680"/>
            <a:ext cx="4327920" cy="6292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63" name="Image 1" descr="preencoded.png"/>
          <p:cNvPicPr/>
          <p:nvPr/>
        </p:nvPicPr>
        <p:blipFill>
          <a:blip r:embed="rId3">
            <a:extLst>
              <a:ext uri="{96DAC541-7B7A-43D3-8B79-37D633B846F1}">
                <asvg:svgBlip xmlns:asvg="http://schemas.microsoft.com/office/drawing/2016/SVG/main" r:embed="rId4"/>
              </a:ext>
            </a:extLst>
          </a:blip>
          <a:stretch/>
        </p:blipFill>
        <p:spPr>
          <a:xfrm>
            <a:off x="1618200" y="5956560"/>
            <a:ext cx="209160" cy="209160"/>
          </a:xfrm>
          <a:prstGeom prst="rect">
            <a:avLst/>
          </a:prstGeom>
          <a:noFill/>
          <a:ln w="0">
            <a:noFill/>
          </a:ln>
        </p:spPr>
      </p:pic>
      <p:sp>
        <p:nvSpPr>
          <p:cNvPr id="164" name="Text 8"/>
          <p:cNvSpPr/>
          <p:nvPr/>
        </p:nvSpPr>
        <p:spPr>
          <a:xfrm>
            <a:off x="1942200" y="5933160"/>
            <a:ext cx="814320" cy="28800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34000"/>
              </a:lnSpc>
              <a:tabLst>
                <a:tab pos="0" algn="l"/>
              </a:tabLst>
            </a:pPr>
            <a:r>
              <a:rPr lang="en-US" sz="1800" b="1" u="none" strike="noStrike">
                <a:solidFill>
                  <a:srgbClr val="201E1D"/>
                </a:solidFill>
                <a:effectLst/>
                <a:uFillTx/>
                <a:latin typeface="Arial"/>
                <a:ea typeface="Arial"/>
              </a:rPr>
              <a:t>Lender</a:t>
            </a:r>
            <a:endParaRPr lang="en-US" sz="1800" b="0" u="none" strike="noStrike">
              <a:solidFill>
                <a:srgbClr val="000000"/>
              </a:solidFill>
              <a:effectLst/>
              <a:uFillTx/>
              <a:latin typeface="Arial"/>
            </a:endParaRPr>
          </a:p>
        </p:txBody>
      </p:sp>
      <p:sp>
        <p:nvSpPr>
          <p:cNvPr id="165" name="Shape 9"/>
          <p:cNvSpPr/>
          <p:nvPr/>
        </p:nvSpPr>
        <p:spPr>
          <a:xfrm>
            <a:off x="1442520" y="6462000"/>
            <a:ext cx="4327920" cy="6292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66" name="Image 2" descr="preencoded.png"/>
          <p:cNvPicPr/>
          <p:nvPr/>
        </p:nvPicPr>
        <p:blipFill>
          <a:blip r:embed="rId5">
            <a:extLst>
              <a:ext uri="{96DAC541-7B7A-43D3-8B79-37D633B846F1}">
                <asvg:svgBlip xmlns:asvg="http://schemas.microsoft.com/office/drawing/2016/SVG/main" r:embed="rId6"/>
              </a:ext>
            </a:extLst>
          </a:blip>
          <a:stretch/>
        </p:blipFill>
        <p:spPr>
          <a:xfrm>
            <a:off x="1618200" y="6671880"/>
            <a:ext cx="209160" cy="209160"/>
          </a:xfrm>
          <a:prstGeom prst="rect">
            <a:avLst/>
          </a:prstGeom>
          <a:noFill/>
          <a:ln w="0">
            <a:noFill/>
          </a:ln>
        </p:spPr>
      </p:pic>
      <p:sp>
        <p:nvSpPr>
          <p:cNvPr id="167" name="Text 10"/>
          <p:cNvSpPr/>
          <p:nvPr/>
        </p:nvSpPr>
        <p:spPr>
          <a:xfrm>
            <a:off x="1942200" y="6648120"/>
            <a:ext cx="1128600" cy="28800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34000"/>
              </a:lnSpc>
              <a:tabLst>
                <a:tab pos="0" algn="l"/>
              </a:tabLst>
            </a:pPr>
            <a:r>
              <a:rPr lang="en-US" sz="1800" b="1" u="none" strike="noStrike">
                <a:solidFill>
                  <a:srgbClr val="201E1D"/>
                </a:solidFill>
                <a:effectLst/>
                <a:uFillTx/>
                <a:latin typeface="Arial"/>
                <a:ea typeface="Arial"/>
              </a:rPr>
              <a:t>Payments</a:t>
            </a:r>
            <a:endParaRPr lang="en-US" sz="1800" b="0" u="none" strike="noStrike">
              <a:solidFill>
                <a:srgbClr val="000000"/>
              </a:solidFill>
              <a:effectLst/>
              <a:uFillTx/>
              <a:latin typeface="Arial"/>
            </a:endParaRPr>
          </a:p>
        </p:txBody>
      </p:sp>
      <p:sp>
        <p:nvSpPr>
          <p:cNvPr id="168" name="Shape 11"/>
          <p:cNvSpPr/>
          <p:nvPr/>
        </p:nvSpPr>
        <p:spPr>
          <a:xfrm>
            <a:off x="1442520" y="7177320"/>
            <a:ext cx="4327920" cy="6292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69" name="Image 3" descr="preencoded.png"/>
          <p:cNvPicPr/>
          <p:nvPr/>
        </p:nvPicPr>
        <p:blipFill>
          <a:blip r:embed="rId7">
            <a:extLst>
              <a:ext uri="{96DAC541-7B7A-43D3-8B79-37D633B846F1}">
                <asvg:svgBlip xmlns:asvg="http://schemas.microsoft.com/office/drawing/2016/SVG/main" r:embed="rId8"/>
              </a:ext>
            </a:extLst>
          </a:blip>
          <a:stretch/>
        </p:blipFill>
        <p:spPr>
          <a:xfrm>
            <a:off x="1618200" y="7387200"/>
            <a:ext cx="209160" cy="209160"/>
          </a:xfrm>
          <a:prstGeom prst="rect">
            <a:avLst/>
          </a:prstGeom>
          <a:noFill/>
          <a:ln w="0">
            <a:noFill/>
          </a:ln>
        </p:spPr>
      </p:pic>
      <p:sp>
        <p:nvSpPr>
          <p:cNvPr id="170" name="Text 12"/>
          <p:cNvSpPr/>
          <p:nvPr/>
        </p:nvSpPr>
        <p:spPr>
          <a:xfrm>
            <a:off x="1942200" y="7363440"/>
            <a:ext cx="1821240" cy="28800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34000"/>
              </a:lnSpc>
              <a:tabLst>
                <a:tab pos="0" algn="l"/>
              </a:tabLst>
            </a:pPr>
            <a:r>
              <a:rPr lang="en-US" sz="1800" b="1" u="none" strike="noStrike">
                <a:solidFill>
                  <a:srgbClr val="201E1D"/>
                </a:solidFill>
                <a:effectLst/>
                <a:uFillTx/>
                <a:latin typeface="Arial"/>
                <a:ea typeface="Arial"/>
              </a:rPr>
              <a:t>Freight … +more</a:t>
            </a:r>
            <a:endParaRPr lang="en-US" sz="1800" b="0" u="none" strike="noStrike">
              <a:solidFill>
                <a:srgbClr val="000000"/>
              </a:solidFill>
              <a:effectLst/>
              <a:uFillTx/>
              <a:latin typeface="Arial"/>
            </a:endParaRPr>
          </a:p>
        </p:txBody>
      </p:sp>
      <p:sp>
        <p:nvSpPr>
          <p:cNvPr id="171" name="Text 13"/>
          <p:cNvSpPr/>
          <p:nvPr/>
        </p:nvSpPr>
        <p:spPr>
          <a:xfrm>
            <a:off x="6222960" y="583452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172" name="Shape 14"/>
          <p:cNvSpPr/>
          <p:nvPr/>
        </p:nvSpPr>
        <p:spPr>
          <a:xfrm>
            <a:off x="6680160" y="3886200"/>
            <a:ext cx="4927320" cy="420084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73" name="Image 4" descr="preencoded.png"/>
          <p:cNvPicPr/>
          <p:nvPr/>
        </p:nvPicPr>
        <p:blipFill>
          <a:blip r:embed="rId9">
            <a:extLst>
              <a:ext uri="{96DAC541-7B7A-43D3-8B79-37D633B846F1}">
                <asvg:svgBlip xmlns:asvg="http://schemas.microsoft.com/office/drawing/2016/SVG/main" r:embed="rId10"/>
              </a:ext>
            </a:extLst>
          </a:blip>
          <a:stretch/>
        </p:blipFill>
        <p:spPr>
          <a:xfrm>
            <a:off x="6979680" y="4166640"/>
            <a:ext cx="323280" cy="323280"/>
          </a:xfrm>
          <a:prstGeom prst="rect">
            <a:avLst/>
          </a:prstGeom>
          <a:noFill/>
          <a:ln w="0">
            <a:noFill/>
          </a:ln>
        </p:spPr>
      </p:pic>
      <p:sp>
        <p:nvSpPr>
          <p:cNvPr id="174" name="Text 15"/>
          <p:cNvSpPr/>
          <p:nvPr/>
        </p:nvSpPr>
        <p:spPr>
          <a:xfrm>
            <a:off x="7436880" y="4200840"/>
            <a:ext cx="1399680" cy="2937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6000"/>
              </a:lnSpc>
              <a:tabLst>
                <a:tab pos="0" algn="l"/>
              </a:tabLst>
            </a:pPr>
            <a:r>
              <a:rPr lang="en-US" sz="1800" b="1" u="none" spc="-17" strike="noStrike">
                <a:solidFill>
                  <a:srgbClr val="201E1D"/>
                </a:solidFill>
                <a:effectLst/>
                <a:uFillTx/>
                <a:latin typeface="Arial"/>
                <a:ea typeface="Arial"/>
              </a:rPr>
              <a:t>Hand-keyed</a:t>
            </a:r>
            <a:endParaRPr lang="en-US" sz="1800" b="0" u="none" strike="noStrike">
              <a:solidFill>
                <a:srgbClr val="000000"/>
              </a:solidFill>
              <a:effectLst/>
              <a:uFillTx/>
              <a:latin typeface="Arial"/>
            </a:endParaRPr>
          </a:p>
        </p:txBody>
      </p:sp>
      <p:sp>
        <p:nvSpPr>
          <p:cNvPr id="175" name="Text 16"/>
          <p:cNvSpPr/>
          <p:nvPr/>
        </p:nvSpPr>
        <p:spPr>
          <a:xfrm>
            <a:off x="6979680" y="4604760"/>
            <a:ext cx="445788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an analyst opens each one, hunts for the numbers, and types them in</a:t>
            </a:r>
            <a:endParaRPr lang="en-US" sz="1800" b="0" u="none" strike="noStrike">
              <a:solidFill>
                <a:srgbClr val="000000"/>
              </a:solidFill>
              <a:effectLst/>
              <a:uFillTx/>
              <a:latin typeface="Arial"/>
            </a:endParaRPr>
          </a:p>
        </p:txBody>
      </p:sp>
      <p:sp>
        <p:nvSpPr>
          <p:cNvPr id="176" name="Text 17"/>
          <p:cNvSpPr/>
          <p:nvPr/>
        </p:nvSpPr>
        <p:spPr>
          <a:xfrm>
            <a:off x="11760120" y="583452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177" name="Shape 18"/>
          <p:cNvSpPr/>
          <p:nvPr/>
        </p:nvSpPr>
        <p:spPr>
          <a:xfrm>
            <a:off x="12217320" y="3886200"/>
            <a:ext cx="4927320" cy="42008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Text 19"/>
          <p:cNvSpPr/>
          <p:nvPr/>
        </p:nvSpPr>
        <p:spPr>
          <a:xfrm>
            <a:off x="12516840" y="4166640"/>
            <a:ext cx="476100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One master spreadsheet</a:t>
            </a:r>
            <a:endParaRPr lang="en-US" sz="1800" b="0" u="none" strike="noStrike">
              <a:solidFill>
                <a:srgbClr val="000000"/>
              </a:solidFill>
              <a:effectLst/>
              <a:uFillTx/>
              <a:latin typeface="Arial"/>
            </a:endParaRPr>
          </a:p>
        </p:txBody>
      </p:sp>
      <p:pic>
        <p:nvPicPr>
          <p:cNvPr id="179" name="Image 5" descr="preencoded.png"/>
          <p:cNvPicPr/>
          <p:nvPr/>
        </p:nvPicPr>
        <p:blipFill>
          <a:blip r:embed="rId11">
            <a:extLst>
              <a:ext uri="{96DAC541-7B7A-43D3-8B79-37D633B846F1}">
                <asvg:svgBlip xmlns:asvg="http://schemas.microsoft.com/office/drawing/2016/SVG/main" r:embed="rId12"/>
              </a:ext>
            </a:extLst>
          </a:blip>
          <a:stretch/>
        </p:blipFill>
        <p:spPr>
          <a:xfrm>
            <a:off x="12516840" y="4581720"/>
            <a:ext cx="4327920" cy="1123560"/>
          </a:xfrm>
          <a:prstGeom prst="rect">
            <a:avLst/>
          </a:prstGeom>
          <a:noFill/>
          <a:ln w="0">
            <a:noFill/>
          </a:ln>
        </p:spPr>
      </p:pic>
      <p:sp>
        <p:nvSpPr>
          <p:cNvPr id="180" name="Text 20"/>
          <p:cNvSpPr/>
          <p:nvPr/>
        </p:nvSpPr>
        <p:spPr>
          <a:xfrm>
            <a:off x="12516840" y="5839200"/>
            <a:ext cx="47610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this review </a:t>
            </a:r>
            <a:r>
              <a:rPr lang="en-US" sz="1800" b="1" u="none" strike="noStrike">
                <a:solidFill>
                  <a:srgbClr val="201E1D"/>
                </a:solidFill>
                <a:effectLst/>
                <a:uFillTx/>
                <a:latin typeface="Arial"/>
                <a:ea typeface="Arial"/>
              </a:rPr>
              <a:t>is </a:t>
            </a:r>
            <a:r>
              <a:rPr lang="en-US" sz="1800" b="0" u="none" strike="noStrike">
                <a:solidFill>
                  <a:srgbClr val="201D1D">
                    <a:alpha val="68000"/>
                  </a:srgbClr>
                </a:solidFill>
                <a:effectLst/>
                <a:uFillTx/>
                <a:latin typeface="Arial"/>
                <a:ea typeface="Arial"/>
              </a:rPr>
              <a:t>the monitoring</a:t>
            </a:r>
            <a:endParaRPr lang="en-US" sz="1800" b="0" u="none" strike="noStrike">
              <a:solidFill>
                <a:srgbClr val="000000"/>
              </a:solidFill>
              <a:effectLst/>
              <a:uFillTx/>
              <a:latin typeface="Arial"/>
            </a:endParaRPr>
          </a:p>
        </p:txBody>
      </p:sp>
      <p:sp>
        <p:nvSpPr>
          <p:cNvPr id="181" name="Text 21"/>
          <p:cNvSpPr/>
          <p:nvPr/>
        </p:nvSpPr>
        <p:spPr>
          <a:xfrm>
            <a:off x="1143000" y="86162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Synthetic test packs — </a:t>
            </a:r>
            <a:r>
              <a:rPr lang="en-US" sz="1800" b="1" u="none" strike="noStrike">
                <a:solidFill>
                  <a:srgbClr val="201E1D"/>
                </a:solidFill>
                <a:effectLst/>
                <a:uFillTx/>
                <a:latin typeface="Arial"/>
                <a:ea typeface="Arial"/>
              </a:rPr>
              <a:t>10 companies across 24 PDFs. </a:t>
            </a:r>
            <a:r>
              <a:rPr lang="en-US" sz="1800" b="0" u="none" strike="noStrike">
                <a:solidFill>
                  <a:srgbClr val="211D1D">
                    <a:alpha val="55000"/>
                  </a:srgbClr>
                </a:solidFill>
                <a:effectLst/>
                <a:uFillTx/>
                <a:latin typeface="Arial"/>
                <a:ea typeface="Arial"/>
              </a:rPr>
              <a:t>“20+ packs,” not “20+ companies.”</a:t>
            </a:r>
            <a:endParaRPr lang="en-US" sz="1800" b="0" u="none" strike="noStrike">
              <a:solidFill>
                <a:srgbClr val="000000"/>
              </a:solidFill>
              <a:effectLst/>
              <a:uFillTx/>
              <a:latin typeface="Arial"/>
            </a:endParaRPr>
          </a:p>
        </p:txBody>
      </p:sp>
      <p:pic>
        <p:nvPicPr>
          <p:cNvPr id="182" name="Image 6" descr="preencoded.png"/>
          <p:cNvPicPr/>
          <p:nvPr/>
        </p:nvPicPr>
        <p:blipFill>
          <a:blip r:embed="rId13"/>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183"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02 · THE QUARTER-CLOSE HURTS</a:t>
            </a:r>
            <a:endParaRPr lang="en-US" sz="1800" b="0" u="none" strike="noStrike">
              <a:solidFill>
                <a:srgbClr val="000000"/>
              </a:solidFill>
              <a:effectLst/>
              <a:uFillTx/>
              <a:latin typeface="Arial"/>
            </a:endParaRPr>
          </a:p>
        </p:txBody>
      </p:sp>
      <p:sp>
        <p:nvSpPr>
          <p:cNvPr id="184" name="Text 1"/>
          <p:cNvSpPr/>
          <p:nvPr/>
        </p:nvSpPr>
        <p:spPr>
          <a:xfrm>
            <a:off x="1107720" y="1863720"/>
            <a:ext cx="17640720" cy="46008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97000"/>
              </a:lnSpc>
              <a:tabLst>
                <a:tab pos="0" algn="l"/>
              </a:tabLst>
            </a:pPr>
            <a:r>
              <a:rPr lang="en-US" sz="4800" b="1" u="none" spc="-71" strike="noStrike">
                <a:solidFill>
                  <a:srgbClr val="201E1D"/>
                </a:solidFill>
                <a:effectLst/>
                <a:uFillTx/>
                <a:latin typeface="Arial"/>
                <a:ea typeface="Arial"/>
              </a:rPr>
              <a:t>How Concord works today, end to end</a:t>
            </a:r>
            <a:endParaRPr lang="en-US" sz="4800" b="0" u="none" strike="noStrike">
              <a:solidFill>
                <a:srgbClr val="000000"/>
              </a:solidFill>
              <a:effectLst/>
              <a:uFillTx/>
              <a:latin typeface="Arial"/>
            </a:endParaRPr>
          </a:p>
        </p:txBody>
      </p:sp>
      <p:sp>
        <p:nvSpPr>
          <p:cNvPr id="185" name="Shape 2"/>
          <p:cNvSpPr/>
          <p:nvPr/>
        </p:nvSpPr>
        <p:spPr>
          <a:xfrm>
            <a:off x="1143000" y="3200400"/>
            <a:ext cx="2844000" cy="21312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6" name="Text 3"/>
          <p:cNvSpPr/>
          <p:nvPr/>
        </p:nvSpPr>
        <p:spPr>
          <a:xfrm>
            <a:off x="1309320" y="33858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1 · READ</a:t>
            </a:r>
            <a:endParaRPr lang="en-US" sz="1800" b="0" u="none" strike="noStrike">
              <a:solidFill>
                <a:srgbClr val="000000"/>
              </a:solidFill>
              <a:effectLst/>
              <a:uFillTx/>
              <a:latin typeface="Arial"/>
            </a:endParaRPr>
          </a:p>
        </p:txBody>
      </p:sp>
      <p:sp>
        <p:nvSpPr>
          <p:cNvPr id="187" name="Text 4"/>
          <p:cNvSpPr/>
          <p:nvPr/>
        </p:nvSpPr>
        <p:spPr>
          <a:xfrm>
            <a:off x="1309320" y="380664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Deterministic parser</a:t>
            </a:r>
            <a:endParaRPr lang="en-US" sz="1800" b="0" u="none" strike="noStrike">
              <a:solidFill>
                <a:srgbClr val="000000"/>
              </a:solidFill>
              <a:effectLst/>
              <a:uFillTx/>
              <a:latin typeface="Arial"/>
            </a:endParaRPr>
          </a:p>
        </p:txBody>
      </p:sp>
      <p:sp>
        <p:nvSpPr>
          <p:cNvPr id="188" name="Text 5"/>
          <p:cNvSpPr/>
          <p:nvPr/>
        </p:nvSpPr>
        <p:spPr>
          <a:xfrm>
            <a:off x="1309320" y="4136040"/>
            <a:ext cx="2762640" cy="2473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66000"/>
                  </a:srgbClr>
                </a:solidFill>
                <a:effectLst/>
                <a:uFillTx/>
                <a:latin typeface="Arial"/>
                <a:ea typeface="Arial"/>
              </a:rPr>
              <a:t>every pack, offline</a:t>
            </a:r>
            <a:endParaRPr lang="en-US" sz="1800" b="0" u="none" strike="noStrike">
              <a:solidFill>
                <a:srgbClr val="000000"/>
              </a:solidFill>
              <a:effectLst/>
              <a:uFillTx/>
              <a:latin typeface="Arial"/>
            </a:endParaRPr>
          </a:p>
        </p:txBody>
      </p:sp>
      <p:sp>
        <p:nvSpPr>
          <p:cNvPr id="189" name="Text 6"/>
          <p:cNvSpPr/>
          <p:nvPr/>
        </p:nvSpPr>
        <p:spPr>
          <a:xfrm>
            <a:off x="4092120" y="415188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190" name="Shape 7"/>
          <p:cNvSpPr/>
          <p:nvPr/>
        </p:nvSpPr>
        <p:spPr>
          <a:xfrm>
            <a:off x="4425480" y="3200400"/>
            <a:ext cx="2844360" cy="21312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1" name="Text 8"/>
          <p:cNvSpPr/>
          <p:nvPr/>
        </p:nvSpPr>
        <p:spPr>
          <a:xfrm>
            <a:off x="4591800" y="3385800"/>
            <a:ext cx="27630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2 · UNDERSTAND</a:t>
            </a:r>
            <a:endParaRPr lang="en-US" sz="1800" b="0" u="none" strike="noStrike">
              <a:solidFill>
                <a:srgbClr val="000000"/>
              </a:solidFill>
              <a:effectLst/>
              <a:uFillTx/>
              <a:latin typeface="Arial"/>
            </a:endParaRPr>
          </a:p>
        </p:txBody>
      </p:sp>
      <p:sp>
        <p:nvSpPr>
          <p:cNvPr id="192" name="Text 9"/>
          <p:cNvSpPr/>
          <p:nvPr/>
        </p:nvSpPr>
        <p:spPr>
          <a:xfrm>
            <a:off x="4591800" y="3806640"/>
            <a:ext cx="276300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Classify + normalize</a:t>
            </a:r>
            <a:endParaRPr lang="en-US" sz="1800" b="0" u="none" strike="noStrike">
              <a:solidFill>
                <a:srgbClr val="000000"/>
              </a:solidFill>
              <a:effectLst/>
              <a:uFillTx/>
              <a:latin typeface="Arial"/>
            </a:endParaRPr>
          </a:p>
        </p:txBody>
      </p:sp>
      <p:sp>
        <p:nvSpPr>
          <p:cNvPr id="193" name="Text 10"/>
          <p:cNvSpPr/>
          <p:nvPr/>
        </p:nvSpPr>
        <p:spPr>
          <a:xfrm>
            <a:off x="4591800" y="4136040"/>
            <a:ext cx="2587680" cy="4568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66000"/>
                  </a:srgbClr>
                </a:solidFill>
                <a:effectLst/>
                <a:uFillTx/>
                <a:latin typeface="Arial"/>
                <a:ea typeface="Arial"/>
              </a:rPr>
              <a:t>equity / credit · one vocabulary · unit + scale</a:t>
            </a:r>
            <a:endParaRPr lang="en-US" sz="1800" b="0" u="none" strike="noStrike">
              <a:solidFill>
                <a:srgbClr val="000000"/>
              </a:solidFill>
              <a:effectLst/>
              <a:uFillTx/>
              <a:latin typeface="Arial"/>
            </a:endParaRPr>
          </a:p>
        </p:txBody>
      </p:sp>
      <p:sp>
        <p:nvSpPr>
          <p:cNvPr id="194" name="Text 11"/>
          <p:cNvSpPr/>
          <p:nvPr/>
        </p:nvSpPr>
        <p:spPr>
          <a:xfrm>
            <a:off x="7374600" y="415188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195" name="Shape 12"/>
          <p:cNvSpPr/>
          <p:nvPr/>
        </p:nvSpPr>
        <p:spPr>
          <a:xfrm>
            <a:off x="7707960" y="3200400"/>
            <a:ext cx="2844000" cy="21312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6" name="Text 13"/>
          <p:cNvSpPr/>
          <p:nvPr/>
        </p:nvSpPr>
        <p:spPr>
          <a:xfrm>
            <a:off x="7874280" y="33858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3 · CROSS-CHECK</a:t>
            </a:r>
            <a:endParaRPr lang="en-US" sz="1800" b="0" u="none" strike="noStrike">
              <a:solidFill>
                <a:srgbClr val="000000"/>
              </a:solidFill>
              <a:effectLst/>
              <a:uFillTx/>
              <a:latin typeface="Arial"/>
            </a:endParaRPr>
          </a:p>
        </p:txBody>
      </p:sp>
      <p:sp>
        <p:nvSpPr>
          <p:cNvPr id="197" name="Text 14"/>
          <p:cNvSpPr/>
          <p:nvPr/>
        </p:nvSpPr>
        <p:spPr>
          <a:xfrm>
            <a:off x="7874280" y="380664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Reconcile</a:t>
            </a:r>
            <a:endParaRPr lang="en-US" sz="1800" b="0" u="none" strike="noStrike">
              <a:solidFill>
                <a:srgbClr val="000000"/>
              </a:solidFill>
              <a:effectLst/>
              <a:uFillTx/>
              <a:latin typeface="Arial"/>
            </a:endParaRPr>
          </a:p>
        </p:txBody>
      </p:sp>
      <p:sp>
        <p:nvSpPr>
          <p:cNvPr id="198" name="Text 15"/>
          <p:cNvSpPr/>
          <p:nvPr/>
        </p:nvSpPr>
        <p:spPr>
          <a:xfrm>
            <a:off x="7874280" y="4136040"/>
            <a:ext cx="2587680" cy="4568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66000"/>
                  </a:srgbClr>
                </a:solidFill>
                <a:effectLst/>
                <a:uFillTx/>
                <a:latin typeface="Arial"/>
                <a:ea typeface="Arial"/>
              </a:rPr>
              <a:t>against the company's own report</a:t>
            </a:r>
            <a:endParaRPr lang="en-US" sz="1800" b="0" u="none" strike="noStrike">
              <a:solidFill>
                <a:srgbClr val="000000"/>
              </a:solidFill>
              <a:effectLst/>
              <a:uFillTx/>
              <a:latin typeface="Arial"/>
            </a:endParaRPr>
          </a:p>
        </p:txBody>
      </p:sp>
      <p:sp>
        <p:nvSpPr>
          <p:cNvPr id="199" name="Text 16"/>
          <p:cNvSpPr/>
          <p:nvPr/>
        </p:nvSpPr>
        <p:spPr>
          <a:xfrm>
            <a:off x="10657080" y="415188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200" name="Shape 17"/>
          <p:cNvSpPr/>
          <p:nvPr/>
        </p:nvSpPr>
        <p:spPr>
          <a:xfrm>
            <a:off x="10990440" y="3200400"/>
            <a:ext cx="2872080" cy="213120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1" name="Text 18"/>
          <p:cNvSpPr/>
          <p:nvPr/>
        </p:nvSpPr>
        <p:spPr>
          <a:xfrm>
            <a:off x="11170440" y="3399840"/>
            <a:ext cx="2587680" cy="746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4 · COMPARABILITY GATE</a:t>
            </a:r>
            <a:endParaRPr lang="en-US" sz="1800" b="0" u="none" strike="noStrike">
              <a:solidFill>
                <a:srgbClr val="000000"/>
              </a:solidFill>
              <a:effectLst/>
              <a:uFillTx/>
              <a:latin typeface="Arial"/>
            </a:endParaRPr>
          </a:p>
        </p:txBody>
      </p:sp>
      <p:sp>
        <p:nvSpPr>
          <p:cNvPr id="202" name="Text 19"/>
          <p:cNvSpPr/>
          <p:nvPr/>
        </p:nvSpPr>
        <p:spPr>
          <a:xfrm>
            <a:off x="11170440" y="417456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Safe, like-for-like?</a:t>
            </a:r>
            <a:endParaRPr lang="en-US" sz="1800" b="0" u="none" strike="noStrike">
              <a:solidFill>
                <a:srgbClr val="000000"/>
              </a:solidFill>
              <a:effectLst/>
              <a:uFillTx/>
              <a:latin typeface="Arial"/>
            </a:endParaRPr>
          </a:p>
        </p:txBody>
      </p:sp>
      <p:sp>
        <p:nvSpPr>
          <p:cNvPr id="203" name="Text 20"/>
          <p:cNvSpPr/>
          <p:nvPr/>
        </p:nvSpPr>
        <p:spPr>
          <a:xfrm>
            <a:off x="11170440" y="4504320"/>
            <a:ext cx="2587680" cy="666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80000"/>
                  </a:srgbClr>
                </a:solidFill>
                <a:effectLst/>
                <a:uFillTx/>
                <a:latin typeface="Arial"/>
                <a:ea typeface="Arial"/>
              </a:rPr>
              <a:t>✔ YES → rank in sector · ✖ NO → show, but REFUSE</a:t>
            </a:r>
            <a:endParaRPr lang="en-US" sz="1800" b="0" u="none" strike="noStrike">
              <a:solidFill>
                <a:srgbClr val="000000"/>
              </a:solidFill>
              <a:effectLst/>
              <a:uFillTx/>
              <a:latin typeface="Arial"/>
            </a:endParaRPr>
          </a:p>
        </p:txBody>
      </p:sp>
      <p:sp>
        <p:nvSpPr>
          <p:cNvPr id="204" name="Text 21"/>
          <p:cNvSpPr/>
          <p:nvPr/>
        </p:nvSpPr>
        <p:spPr>
          <a:xfrm>
            <a:off x="13967280" y="415188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205" name="Shape 22"/>
          <p:cNvSpPr/>
          <p:nvPr/>
        </p:nvSpPr>
        <p:spPr>
          <a:xfrm>
            <a:off x="14300640" y="3200400"/>
            <a:ext cx="2844000" cy="21312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23"/>
          <p:cNvSpPr/>
          <p:nvPr/>
        </p:nvSpPr>
        <p:spPr>
          <a:xfrm>
            <a:off x="14466960" y="33858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5 · COCKPIT</a:t>
            </a:r>
            <a:endParaRPr lang="en-US" sz="1800" b="0" u="none" strike="noStrike">
              <a:solidFill>
                <a:srgbClr val="000000"/>
              </a:solidFill>
              <a:effectLst/>
              <a:uFillTx/>
              <a:latin typeface="Arial"/>
            </a:endParaRPr>
          </a:p>
        </p:txBody>
      </p:sp>
      <p:sp>
        <p:nvSpPr>
          <p:cNvPr id="207" name="Text 24"/>
          <p:cNvSpPr/>
          <p:nvPr/>
        </p:nvSpPr>
        <p:spPr>
          <a:xfrm>
            <a:off x="14466960" y="3806640"/>
            <a:ext cx="2587680" cy="563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Click any number → its source</a:t>
            </a:r>
            <a:endParaRPr lang="en-US" sz="1800" b="0" u="none" strike="noStrike">
              <a:solidFill>
                <a:srgbClr val="000000"/>
              </a:solidFill>
              <a:effectLst/>
              <a:uFillTx/>
              <a:latin typeface="Arial"/>
            </a:endParaRPr>
          </a:p>
        </p:txBody>
      </p:sp>
      <p:sp>
        <p:nvSpPr>
          <p:cNvPr id="208" name="Shape 25"/>
          <p:cNvSpPr/>
          <p:nvPr/>
        </p:nvSpPr>
        <p:spPr>
          <a:xfrm>
            <a:off x="1143000" y="5541480"/>
            <a:ext cx="16001640" cy="6181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09" name="Image 0" descr="preencoded.png"/>
          <p:cNvPicPr/>
          <p:nvPr/>
        </p:nvPicPr>
        <p:blipFill>
          <a:blip r:embed="rId1">
            <a:extLst>
              <a:ext uri="{96DAC541-7B7A-43D3-8B79-37D633B846F1}">
                <asvg:svgBlip xmlns:asvg="http://schemas.microsoft.com/office/drawing/2016/SVG/main" r:embed="rId2"/>
              </a:ext>
            </a:extLst>
          </a:blip>
          <a:stretch/>
        </p:blipFill>
        <p:spPr>
          <a:xfrm>
            <a:off x="1366200" y="5707800"/>
            <a:ext cx="285480" cy="285480"/>
          </a:xfrm>
          <a:prstGeom prst="rect">
            <a:avLst/>
          </a:prstGeom>
          <a:noFill/>
          <a:ln w="0">
            <a:noFill/>
          </a:ln>
        </p:spPr>
      </p:pic>
      <p:sp>
        <p:nvSpPr>
          <p:cNvPr id="210" name="Text 26"/>
          <p:cNvSpPr/>
          <p:nvPr/>
        </p:nvSpPr>
        <p:spPr>
          <a:xfrm>
            <a:off x="1785240" y="5707800"/>
            <a:ext cx="134622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Provenance runs under the whole pipeline </a:t>
            </a:r>
            <a:r>
              <a:rPr lang="en-US" sz="1800" b="0" u="none" strike="noStrike">
                <a:solidFill>
                  <a:srgbClr val="201D1D">
                    <a:alpha val="68000"/>
                  </a:srgbClr>
                </a:solidFill>
                <a:effectLst/>
                <a:uFillTx/>
                <a:latin typeface="Arial"/>
                <a:ea typeface="Arial"/>
              </a:rPr>
              <a:t>— one offline click, and a human owns every number that leaves the building.</a:t>
            </a:r>
            <a:endParaRPr lang="en-US" sz="1800" b="0" u="none" strike="noStrike">
              <a:solidFill>
                <a:srgbClr val="000000"/>
              </a:solidFill>
              <a:effectLst/>
              <a:uFillTx/>
              <a:latin typeface="Arial"/>
            </a:endParaRPr>
          </a:p>
        </p:txBody>
      </p:sp>
      <p:sp>
        <p:nvSpPr>
          <p:cNvPr id="211" name="Text 27"/>
          <p:cNvSpPr/>
          <p:nvPr/>
        </p:nvSpPr>
        <p:spPr>
          <a:xfrm>
            <a:off x="1143000" y="633132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Reading the number is the easy </a:t>
            </a:r>
            <a:r>
              <a:rPr lang="en-US" sz="1800" b="1" u="none" strike="noStrike">
                <a:solidFill>
                  <a:srgbClr val="201E1D"/>
                </a:solidFill>
                <a:effectLst/>
                <a:uFillTx/>
                <a:latin typeface="Arial"/>
                <a:ea typeface="Arial"/>
              </a:rPr>
              <a:t>10%</a:t>
            </a:r>
            <a:r>
              <a:rPr lang="en-US" sz="1800" b="0" u="none" strike="noStrike">
                <a:solidFill>
                  <a:srgbClr val="211D1D">
                    <a:alpha val="55000"/>
                  </a:srgbClr>
                </a:solidFill>
                <a:effectLst/>
                <a:uFillTx/>
                <a:latin typeface="Arial"/>
                <a:ea typeface="Arial"/>
              </a:rPr>
              <a:t>; everything below — comparability + trust — is the expensive </a:t>
            </a:r>
            <a:r>
              <a:rPr lang="en-US" sz="1800" b="1" u="none" strike="noStrike">
                <a:solidFill>
                  <a:srgbClr val="201E1D"/>
                </a:solidFill>
                <a:effectLst/>
                <a:uFillTx/>
                <a:latin typeface="Arial"/>
                <a:ea typeface="Arial"/>
              </a:rPr>
              <a:t>90%</a:t>
            </a: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212" name="Text 28"/>
          <p:cNvSpPr/>
          <p:nvPr/>
        </p:nvSpPr>
        <p:spPr>
          <a:xfrm>
            <a:off x="1143000" y="701712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This is what runs </a:t>
            </a:r>
            <a:r>
              <a:rPr lang="en-US" sz="1800" b="1" u="none" strike="noStrike">
                <a:solidFill>
                  <a:srgbClr val="201E1D"/>
                </a:solidFill>
                <a:effectLst/>
                <a:uFillTx/>
                <a:latin typeface="Arial"/>
                <a:ea typeface="Arial"/>
              </a:rPr>
              <a:t>today </a:t>
            </a:r>
            <a:r>
              <a:rPr lang="en-US" sz="1800" b="0" u="none" strike="noStrike">
                <a:solidFill>
                  <a:srgbClr val="211D1D">
                    <a:alpha val="55000"/>
                  </a:srgbClr>
                </a:solidFill>
                <a:effectLst/>
                <a:uFillTx/>
                <a:latin typeface="Arial"/>
                <a:ea typeface="Arial"/>
              </a:rPr>
              <a:t>— one deterministic pass; provenance is </a:t>
            </a:r>
            <a:r>
              <a:rPr lang="en-US" sz="1800" b="1" u="none" strike="noStrike">
                <a:solidFill>
                  <a:srgbClr val="201E1D"/>
                </a:solidFill>
                <a:effectLst/>
                <a:uFillTx/>
                <a:latin typeface="Arial"/>
                <a:ea typeface="Arial"/>
              </a:rPr>
              <a:t>file-level</a:t>
            </a:r>
            <a:r>
              <a:rPr lang="en-US" sz="1800" b="0" u="none" strike="noStrike">
                <a:solidFill>
                  <a:srgbClr val="211D1D">
                    <a:alpha val="55000"/>
                  </a:srgbClr>
                </a:solidFill>
                <a:effectLst/>
                <a:uFillTx/>
                <a:latin typeface="Arial"/>
                <a:ea typeface="Arial"/>
              </a:rPr>
              <a:t>. The redundant / orchestrator version is the future (deck slide 17).</a:t>
            </a:r>
            <a:endParaRPr lang="en-US" sz="1800" b="0" u="none" strike="noStrike">
              <a:solidFill>
                <a:srgbClr val="000000"/>
              </a:solidFill>
              <a:effectLst/>
              <a:uFillTx/>
              <a:latin typeface="Arial"/>
            </a:endParaRPr>
          </a:p>
        </p:txBody>
      </p:sp>
      <p:pic>
        <p:nvPicPr>
          <p:cNvPr id="213" name="Image 1" descr="preencoded.png"/>
          <p:cNvPicPr/>
          <p:nvPr/>
        </p:nvPicPr>
        <p:blipFill>
          <a:blip r:embed="rId3"/>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214"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02 · THE QUARTER-CLOSE HURTS</a:t>
            </a:r>
            <a:endParaRPr lang="en-US" sz="1800" b="0" u="none" strike="noStrike">
              <a:solidFill>
                <a:srgbClr val="000000"/>
              </a:solidFill>
              <a:effectLst/>
              <a:uFillTx/>
              <a:latin typeface="Arial"/>
            </a:endParaRPr>
          </a:p>
        </p:txBody>
      </p:sp>
      <p:sp>
        <p:nvSpPr>
          <p:cNvPr id="215"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Four traps in the manual close — each one provable in the packs</a:t>
            </a:r>
            <a:endParaRPr lang="en-US" sz="4800" b="0" u="none" strike="noStrike">
              <a:solidFill>
                <a:srgbClr val="000000"/>
              </a:solidFill>
              <a:effectLst/>
              <a:uFillTx/>
              <a:latin typeface="Arial"/>
            </a:endParaRPr>
          </a:p>
        </p:txBody>
      </p:sp>
      <p:sp>
        <p:nvSpPr>
          <p:cNvPr id="216" name="Shape 2"/>
          <p:cNvSpPr/>
          <p:nvPr/>
        </p:nvSpPr>
        <p:spPr>
          <a:xfrm>
            <a:off x="1143000" y="3886200"/>
            <a:ext cx="7886160" cy="18864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7" name="Text 3"/>
          <p:cNvSpPr/>
          <p:nvPr/>
        </p:nvSpPr>
        <p:spPr>
          <a:xfrm>
            <a:off x="1442520" y="4166640"/>
            <a:ext cx="80157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1 · SAME METRIC, MANY NAMES</a:t>
            </a:r>
            <a:endParaRPr lang="en-US" sz="1800" b="0" u="none" strike="noStrike">
              <a:solidFill>
                <a:srgbClr val="000000"/>
              </a:solidFill>
              <a:effectLst/>
              <a:uFillTx/>
              <a:latin typeface="Arial"/>
            </a:endParaRPr>
          </a:p>
        </p:txBody>
      </p:sp>
      <p:sp>
        <p:nvSpPr>
          <p:cNvPr id="218" name="Text 4"/>
          <p:cNvSpPr/>
          <p:nvPr/>
        </p:nvSpPr>
        <p:spPr>
          <a:xfrm>
            <a:off x="1442520" y="4635360"/>
            <a:ext cx="7505640" cy="8949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NovaCloud ARR </a:t>
            </a:r>
            <a:r>
              <a:rPr lang="en-US" sz="1800" b="0" u="none" strike="noStrike">
                <a:solidFill>
                  <a:srgbClr val="201D1D">
                    <a:alpha val="68000"/>
                  </a:srgbClr>
                </a:solidFill>
                <a:effectLst/>
                <a:uFillTx/>
                <a:latin typeface="Arial"/>
                <a:ea typeface="Arial"/>
              </a:rPr>
              <a:t>appears as “End-of-Period ARR” and “ARR (End of Period)” — two labels, one line. Miss a relabel and the trend silently splits.</a:t>
            </a:r>
            <a:endParaRPr lang="en-US" sz="1800" b="0" u="none" strike="noStrike">
              <a:solidFill>
                <a:srgbClr val="000000"/>
              </a:solidFill>
              <a:effectLst/>
              <a:uFillTx/>
              <a:latin typeface="Arial"/>
            </a:endParaRPr>
          </a:p>
        </p:txBody>
      </p:sp>
      <p:sp>
        <p:nvSpPr>
          <p:cNvPr id="219" name="Shape 5"/>
          <p:cNvSpPr/>
          <p:nvPr/>
        </p:nvSpPr>
        <p:spPr>
          <a:xfrm>
            <a:off x="9258120" y="3886200"/>
            <a:ext cx="7886520" cy="18864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0" name="Text 6"/>
          <p:cNvSpPr/>
          <p:nvPr/>
        </p:nvSpPr>
        <p:spPr>
          <a:xfrm>
            <a:off x="9558000" y="4166640"/>
            <a:ext cx="80157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2 · SAME NAME, DIFFERENT MEANING</a:t>
            </a:r>
            <a:endParaRPr lang="en-US" sz="1800" b="0" u="none" strike="noStrike">
              <a:solidFill>
                <a:srgbClr val="000000"/>
              </a:solidFill>
              <a:effectLst/>
              <a:uFillTx/>
              <a:latin typeface="Arial"/>
            </a:endParaRPr>
          </a:p>
        </p:txBody>
      </p:sp>
      <p:sp>
        <p:nvSpPr>
          <p:cNvPr id="221" name="Text 7"/>
          <p:cNvSpPr/>
          <p:nvPr/>
        </p:nvSpPr>
        <p:spPr>
          <a:xfrm>
            <a:off x="9558000" y="4635360"/>
            <a:ext cx="75056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SaaS delivery-margin vs </a:t>
            </a:r>
            <a:r>
              <a:rPr lang="en-US" sz="1800" b="1" u="none" strike="noStrike">
                <a:solidFill>
                  <a:srgbClr val="201E1D"/>
                </a:solidFill>
                <a:effectLst/>
                <a:uFillTx/>
                <a:latin typeface="Arial"/>
                <a:ea typeface="Arial"/>
              </a:rPr>
              <a:t>LendBridge </a:t>
            </a:r>
            <a:r>
              <a:rPr lang="en-US" sz="1800" b="0" u="none" strike="noStrike">
                <a:solidFill>
                  <a:srgbClr val="201D1D">
                    <a:alpha val="68000"/>
                  </a:srgbClr>
                </a:solidFill>
                <a:effectLst/>
                <a:uFillTx/>
                <a:latin typeface="Arial"/>
                <a:ea typeface="Arial"/>
              </a:rPr>
              <a:t>interest-margin — put them in </a:t>
            </a:r>
            <a:r>
              <a:rPr lang="en-US" sz="1800" b="0" u="none" strike="sngStrike">
                <a:solidFill>
                  <a:srgbClr val="1F1F1D">
                    <a:alpha val="45000"/>
                  </a:srgbClr>
                </a:solidFill>
                <a:effectLst/>
                <a:uFillTx/>
                <a:latin typeface="Arial"/>
                <a:ea typeface="Arial"/>
              </a:rPr>
              <a:t>one shared column </a:t>
            </a:r>
            <a:r>
              <a:rPr lang="en-US" sz="1800" b="0" u="none" strike="noStrike">
                <a:solidFill>
                  <a:srgbClr val="201D1D">
                    <a:alpha val="68000"/>
                  </a:srgbClr>
                </a:solidFill>
                <a:effectLst/>
                <a:uFillTx/>
                <a:latin typeface="Arial"/>
                <a:ea typeface="Arial"/>
              </a:rPr>
              <a:t>and you're quietly wrong.</a:t>
            </a:r>
            <a:endParaRPr lang="en-US" sz="1800" b="0" u="none" strike="noStrike">
              <a:solidFill>
                <a:srgbClr val="000000"/>
              </a:solidFill>
              <a:effectLst/>
              <a:uFillTx/>
              <a:latin typeface="Arial"/>
            </a:endParaRPr>
          </a:p>
        </p:txBody>
      </p:sp>
      <p:sp>
        <p:nvSpPr>
          <p:cNvPr id="222" name="Shape 8"/>
          <p:cNvSpPr/>
          <p:nvPr/>
        </p:nvSpPr>
        <p:spPr>
          <a:xfrm>
            <a:off x="1143000" y="6001560"/>
            <a:ext cx="7886160" cy="16005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Text 9"/>
          <p:cNvSpPr/>
          <p:nvPr/>
        </p:nvSpPr>
        <p:spPr>
          <a:xfrm>
            <a:off x="1442520" y="6282000"/>
            <a:ext cx="80157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3 · RIGHT NUMBER, WRONG BASIS</a:t>
            </a:r>
            <a:endParaRPr lang="en-US" sz="1800" b="0" u="none" strike="noStrike">
              <a:solidFill>
                <a:srgbClr val="000000"/>
              </a:solidFill>
              <a:effectLst/>
              <a:uFillTx/>
              <a:latin typeface="Arial"/>
            </a:endParaRPr>
          </a:p>
        </p:txBody>
      </p:sp>
      <p:sp>
        <p:nvSpPr>
          <p:cNvPr id="224" name="Text 10"/>
          <p:cNvSpPr/>
          <p:nvPr/>
        </p:nvSpPr>
        <p:spPr>
          <a:xfrm>
            <a:off x="1442520" y="6750720"/>
            <a:ext cx="75056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ClearPay </a:t>
            </a:r>
            <a:r>
              <a:rPr lang="en-US" sz="1800" b="0" u="none" strike="noStrike">
                <a:solidFill>
                  <a:srgbClr val="201D1D">
                    <a:alpha val="68000"/>
                  </a:srgbClr>
                </a:solidFill>
                <a:effectLst/>
                <a:uFillTx/>
                <a:latin typeface="Arial"/>
                <a:ea typeface="Arial"/>
              </a:rPr>
              <a:t>“Cash $38.4M” includes $6.2M restricted client float — true spendable is </a:t>
            </a:r>
            <a:r>
              <a:rPr lang="en-US" sz="1800" b="0" u="none" strike="sngStrike">
                <a:solidFill>
                  <a:srgbClr val="1F1F1D">
                    <a:alpha val="45000"/>
                  </a:srgbClr>
                </a:solidFill>
                <a:effectLst/>
                <a:uFillTx/>
                <a:latin typeface="Arial"/>
                <a:ea typeface="Arial"/>
              </a:rPr>
              <a:t>$38.4M </a:t>
            </a:r>
            <a:r>
              <a:rPr lang="en-US" sz="1800" b="0" u="none" strike="noStrike">
                <a:solidFill>
                  <a:srgbClr val="201D1D">
                    <a:alpha val="68000"/>
                  </a:srgbClr>
                </a:solidFill>
                <a:effectLst/>
                <a:uFillTx/>
                <a:latin typeface="Arial"/>
                <a:ea typeface="Arial"/>
              </a:rPr>
              <a:t>$32.2M.</a:t>
            </a:r>
            <a:endParaRPr lang="en-US" sz="1800" b="0" u="none" strike="noStrike">
              <a:solidFill>
                <a:srgbClr val="000000"/>
              </a:solidFill>
              <a:effectLst/>
              <a:uFillTx/>
              <a:latin typeface="Arial"/>
            </a:endParaRPr>
          </a:p>
        </p:txBody>
      </p:sp>
      <p:sp>
        <p:nvSpPr>
          <p:cNvPr id="225" name="Shape 11"/>
          <p:cNvSpPr/>
          <p:nvPr/>
        </p:nvSpPr>
        <p:spPr>
          <a:xfrm>
            <a:off x="9258120" y="6001560"/>
            <a:ext cx="7886520" cy="16005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Text 12"/>
          <p:cNvSpPr/>
          <p:nvPr/>
        </p:nvSpPr>
        <p:spPr>
          <a:xfrm>
            <a:off x="9558000" y="6282000"/>
            <a:ext cx="80157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4 · CAN'T PROVE IT</a:t>
            </a:r>
            <a:endParaRPr lang="en-US" sz="1800" b="0" u="none" strike="noStrike">
              <a:solidFill>
                <a:srgbClr val="000000"/>
              </a:solidFill>
              <a:effectLst/>
              <a:uFillTx/>
              <a:latin typeface="Arial"/>
            </a:endParaRPr>
          </a:p>
        </p:txBody>
      </p:sp>
      <p:sp>
        <p:nvSpPr>
          <p:cNvPr id="227" name="Text 13"/>
          <p:cNvSpPr/>
          <p:nvPr/>
        </p:nvSpPr>
        <p:spPr>
          <a:xfrm>
            <a:off x="9558000" y="6750720"/>
            <a:ext cx="75056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The sheet is stale, retyped — </a:t>
            </a:r>
            <a:r>
              <a:rPr lang="en-US" sz="1800" b="1" u="none" strike="noStrike">
                <a:solidFill>
                  <a:srgbClr val="201E1D"/>
                </a:solidFill>
                <a:effectLst/>
                <a:uFillTx/>
                <a:latin typeface="Arial"/>
                <a:ea typeface="Arial"/>
              </a:rPr>
              <a:t>no number links back to its source. </a:t>
            </a:r>
            <a:r>
              <a:rPr lang="en-US" sz="1800" b="0" u="none" strike="noStrike">
                <a:solidFill>
                  <a:srgbClr val="201D1D">
                    <a:alpha val="68000"/>
                  </a:srgbClr>
                </a:solidFill>
                <a:effectLst/>
                <a:uFillTx/>
                <a:latin typeface="Arial"/>
                <a:ea typeface="Arial"/>
              </a:rPr>
              <a:t>“Where did this come from?” → “let me re-open the PDF.”</a:t>
            </a:r>
            <a:endParaRPr lang="en-US" sz="1800" b="0" u="none" strike="noStrike">
              <a:solidFill>
                <a:srgbClr val="000000"/>
              </a:solidFill>
              <a:effectLst/>
              <a:uFillTx/>
              <a:latin typeface="Arial"/>
            </a:endParaRPr>
          </a:p>
        </p:txBody>
      </p:sp>
      <p:pic>
        <p:nvPicPr>
          <p:cNvPr id="228" name="Image 0" descr="preencoded.png"/>
          <p:cNvPicPr/>
          <p:nvPr/>
        </p:nvPicPr>
        <p:blipFill>
          <a:blip r:embed="rId1"/>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229"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03 · COMPARABILITY IS THE PRODUCT</a:t>
            </a:r>
            <a:endParaRPr lang="en-US" sz="1800" b="0" u="none" strike="noStrike">
              <a:solidFill>
                <a:srgbClr val="000000"/>
              </a:solidFill>
              <a:effectLst/>
              <a:uFillTx/>
              <a:latin typeface="Arial"/>
            </a:endParaRPr>
          </a:p>
        </p:txBody>
      </p:sp>
      <p:sp>
        <p:nvSpPr>
          <p:cNvPr id="230"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Same label ≠ same metric — comparability is the product, not extraction</a:t>
            </a:r>
            <a:endParaRPr lang="en-US" sz="4800" b="0" u="none" strike="noStrike">
              <a:solidFill>
                <a:srgbClr val="000000"/>
              </a:solidFill>
              <a:effectLst/>
              <a:uFillTx/>
              <a:latin typeface="Arial"/>
            </a:endParaRPr>
          </a:p>
        </p:txBody>
      </p:sp>
      <p:sp>
        <p:nvSpPr>
          <p:cNvPr id="231" name="Shape 2"/>
          <p:cNvSpPr/>
          <p:nvPr/>
        </p:nvSpPr>
        <p:spPr>
          <a:xfrm>
            <a:off x="1143000" y="3886200"/>
            <a:ext cx="7422840" cy="19814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2" name="Text 3"/>
          <p:cNvSpPr/>
          <p:nvPr/>
        </p:nvSpPr>
        <p:spPr>
          <a:xfrm>
            <a:off x="1442520" y="4166640"/>
            <a:ext cx="75060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11D1D">
                    <a:alpha val="55000"/>
                  </a:srgbClr>
                </a:solidFill>
                <a:effectLst/>
                <a:uFillTx/>
                <a:latin typeface="Arial"/>
                <a:ea typeface="Arial"/>
              </a:rPr>
              <a:t>SAAS COMPANY</a:t>
            </a:r>
            <a:endParaRPr lang="en-US" sz="1800" b="0" u="none" strike="noStrike">
              <a:solidFill>
                <a:srgbClr val="000000"/>
              </a:solidFill>
              <a:effectLst/>
              <a:uFillTx/>
              <a:latin typeface="Arial"/>
            </a:endParaRPr>
          </a:p>
        </p:txBody>
      </p:sp>
      <p:sp>
        <p:nvSpPr>
          <p:cNvPr id="233" name="Text 4"/>
          <p:cNvSpPr/>
          <p:nvPr/>
        </p:nvSpPr>
        <p:spPr>
          <a:xfrm>
            <a:off x="1442520" y="4635360"/>
            <a:ext cx="7506000" cy="590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4350" b="1" u="none" spc="-88" strike="noStrike">
                <a:solidFill>
                  <a:srgbClr val="201E1D"/>
                </a:solidFill>
                <a:effectLst/>
                <a:uFillTx/>
                <a:latin typeface="Arial"/>
                <a:ea typeface="Arial"/>
              </a:rPr>
              <a:t>60%</a:t>
            </a:r>
            <a:endParaRPr lang="en-US" sz="4350" b="0" u="none" strike="noStrike">
              <a:solidFill>
                <a:srgbClr val="000000"/>
              </a:solidFill>
              <a:effectLst/>
              <a:uFillTx/>
              <a:latin typeface="Arial"/>
            </a:endParaRPr>
          </a:p>
        </p:txBody>
      </p:sp>
      <p:sp>
        <p:nvSpPr>
          <p:cNvPr id="234" name="Text 5"/>
          <p:cNvSpPr/>
          <p:nvPr/>
        </p:nvSpPr>
        <p:spPr>
          <a:xfrm>
            <a:off x="1442520" y="5302080"/>
            <a:ext cx="75060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“gross margin” </a:t>
            </a:r>
            <a:r>
              <a:rPr lang="en-US" sz="1800" b="0" u="none" strike="noStrike">
                <a:solidFill>
                  <a:srgbClr val="201D1D">
                    <a:alpha val="68000"/>
                  </a:srgbClr>
                </a:solidFill>
                <a:effectLst/>
                <a:uFillTx/>
                <a:latin typeface="Arial"/>
                <a:ea typeface="Arial"/>
              </a:rPr>
              <a:t>(illustrative) — a delivery margin</a:t>
            </a:r>
            <a:endParaRPr lang="en-US" sz="1800" b="0" u="none" strike="noStrike">
              <a:solidFill>
                <a:srgbClr val="000000"/>
              </a:solidFill>
              <a:effectLst/>
              <a:uFillTx/>
              <a:latin typeface="Arial"/>
            </a:endParaRPr>
          </a:p>
        </p:txBody>
      </p:sp>
      <p:sp>
        <p:nvSpPr>
          <p:cNvPr id="235" name="Text 6"/>
          <p:cNvSpPr/>
          <p:nvPr/>
        </p:nvSpPr>
        <p:spPr>
          <a:xfrm>
            <a:off x="8813880" y="4553280"/>
            <a:ext cx="735840" cy="685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87000"/>
              </a:lnSpc>
              <a:tabLst>
                <a:tab pos="0" algn="l"/>
              </a:tabLst>
            </a:pPr>
            <a:r>
              <a:rPr lang="en-US" sz="5100" b="1" u="none" strike="noStrike">
                <a:solidFill>
                  <a:srgbClr val="EC3013"/>
                </a:solidFill>
                <a:effectLst/>
                <a:uFillTx/>
                <a:latin typeface="Arial"/>
                <a:ea typeface="Arial"/>
              </a:rPr>
              <a:t>=?</a:t>
            </a:r>
            <a:endParaRPr lang="en-US" sz="5100" b="0" u="none" strike="noStrike">
              <a:solidFill>
                <a:srgbClr val="000000"/>
              </a:solidFill>
              <a:effectLst/>
              <a:uFillTx/>
              <a:latin typeface="Arial"/>
            </a:endParaRPr>
          </a:p>
        </p:txBody>
      </p:sp>
      <p:sp>
        <p:nvSpPr>
          <p:cNvPr id="236" name="Shape 7"/>
          <p:cNvSpPr/>
          <p:nvPr/>
        </p:nvSpPr>
        <p:spPr>
          <a:xfrm>
            <a:off x="9721440" y="3886200"/>
            <a:ext cx="7423200" cy="19814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7" name="Text 8"/>
          <p:cNvSpPr/>
          <p:nvPr/>
        </p:nvSpPr>
        <p:spPr>
          <a:xfrm>
            <a:off x="10021320" y="4166640"/>
            <a:ext cx="75063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11D1D">
                    <a:alpha val="55000"/>
                  </a:srgbClr>
                </a:solidFill>
                <a:effectLst/>
                <a:uFillTx/>
                <a:latin typeface="Arial"/>
                <a:ea typeface="Arial"/>
              </a:rPr>
              <a:t>LENDER</a:t>
            </a:r>
            <a:endParaRPr lang="en-US" sz="1800" b="0" u="none" strike="noStrike">
              <a:solidFill>
                <a:srgbClr val="000000"/>
              </a:solidFill>
              <a:effectLst/>
              <a:uFillTx/>
              <a:latin typeface="Arial"/>
            </a:endParaRPr>
          </a:p>
        </p:txBody>
      </p:sp>
      <p:sp>
        <p:nvSpPr>
          <p:cNvPr id="238" name="Text 9"/>
          <p:cNvSpPr/>
          <p:nvPr/>
        </p:nvSpPr>
        <p:spPr>
          <a:xfrm>
            <a:off x="10021320" y="4635360"/>
            <a:ext cx="7506360" cy="590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4350" b="1" u="none" spc="-88" strike="noStrike">
                <a:solidFill>
                  <a:srgbClr val="201E1D"/>
                </a:solidFill>
                <a:effectLst/>
                <a:uFillTx/>
                <a:latin typeface="Arial"/>
                <a:ea typeface="Arial"/>
              </a:rPr>
              <a:t>60%</a:t>
            </a:r>
            <a:endParaRPr lang="en-US" sz="4350" b="0" u="none" strike="noStrike">
              <a:solidFill>
                <a:srgbClr val="000000"/>
              </a:solidFill>
              <a:effectLst/>
              <a:uFillTx/>
              <a:latin typeface="Arial"/>
            </a:endParaRPr>
          </a:p>
        </p:txBody>
      </p:sp>
      <p:sp>
        <p:nvSpPr>
          <p:cNvPr id="239" name="Text 10"/>
          <p:cNvSpPr/>
          <p:nvPr/>
        </p:nvSpPr>
        <p:spPr>
          <a:xfrm>
            <a:off x="10021320" y="5302080"/>
            <a:ext cx="750636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“gross margin” </a:t>
            </a:r>
            <a:r>
              <a:rPr lang="en-US" sz="1800" b="0" u="none" strike="noStrike">
                <a:solidFill>
                  <a:srgbClr val="201D1D">
                    <a:alpha val="68000"/>
                  </a:srgbClr>
                </a:solidFill>
                <a:effectLst/>
                <a:uFillTx/>
                <a:latin typeface="Arial"/>
                <a:ea typeface="Arial"/>
              </a:rPr>
              <a:t>(illustrative) — an interest margin</a:t>
            </a:r>
            <a:endParaRPr lang="en-US" sz="1800" b="0" u="none" strike="noStrike">
              <a:solidFill>
                <a:srgbClr val="000000"/>
              </a:solidFill>
              <a:effectLst/>
              <a:uFillTx/>
              <a:latin typeface="Arial"/>
            </a:endParaRPr>
          </a:p>
        </p:txBody>
      </p:sp>
      <p:sp>
        <p:nvSpPr>
          <p:cNvPr id="240" name="Text 11"/>
          <p:cNvSpPr/>
          <p:nvPr/>
        </p:nvSpPr>
        <p:spPr>
          <a:xfrm>
            <a:off x="1143000" y="6243840"/>
            <a:ext cx="25682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01E1D"/>
                </a:solidFill>
                <a:effectLst/>
                <a:uFillTx/>
                <a:latin typeface="Arial"/>
                <a:ea typeface="Arial"/>
              </a:rPr>
              <a:t>THE NAIVE MERGE</a:t>
            </a:r>
            <a:endParaRPr lang="en-US" sz="1800" b="0" u="none" strike="noStrike">
              <a:solidFill>
                <a:srgbClr val="000000"/>
              </a:solidFill>
              <a:effectLst/>
              <a:uFillTx/>
              <a:latin typeface="Arial"/>
            </a:endParaRPr>
          </a:p>
        </p:txBody>
      </p:sp>
      <p:sp>
        <p:nvSpPr>
          <p:cNvPr id="241" name="Text 12"/>
          <p:cNvSpPr/>
          <p:nvPr/>
        </p:nvSpPr>
        <p:spPr>
          <a:xfrm>
            <a:off x="3668400" y="6236280"/>
            <a:ext cx="4227840" cy="4068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6000"/>
              </a:lnSpc>
              <a:tabLst>
                <a:tab pos="0" algn="l"/>
              </a:tabLst>
            </a:pPr>
            <a:r>
              <a:rPr lang="en-US" sz="1870" b="1" u="none" strike="sngStrike">
                <a:solidFill>
                  <a:srgbClr val="1F1F1D">
                    <a:alpha val="45000"/>
                  </a:srgbClr>
                </a:solidFill>
                <a:effectLst/>
                <a:uFillTx/>
                <a:latin typeface="Arial"/>
                <a:ea typeface="Arial"/>
              </a:rPr>
              <a:t>one shared “gross margin” column</a:t>
            </a:r>
            <a:endParaRPr lang="en-US" sz="1870" b="0" u="none" strike="noStrike">
              <a:solidFill>
                <a:srgbClr val="000000"/>
              </a:solidFill>
              <a:effectLst/>
              <a:uFillTx/>
              <a:latin typeface="Arial"/>
            </a:endParaRPr>
          </a:p>
        </p:txBody>
      </p:sp>
      <p:sp>
        <p:nvSpPr>
          <p:cNvPr id="242" name="Text 13"/>
          <p:cNvSpPr/>
          <p:nvPr/>
        </p:nvSpPr>
        <p:spPr>
          <a:xfrm>
            <a:off x="7702560" y="6243840"/>
            <a:ext cx="9586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trike="noStrike">
                <a:solidFill>
                  <a:srgbClr val="EC3013"/>
                </a:solidFill>
                <a:effectLst/>
                <a:uFillTx/>
                <a:latin typeface="Arial"/>
                <a:ea typeface="Arial"/>
              </a:rPr>
              <a:t>splits →</a:t>
            </a:r>
            <a:endParaRPr lang="en-US" sz="1800" b="0" u="none" strike="noStrike">
              <a:solidFill>
                <a:srgbClr val="000000"/>
              </a:solidFill>
              <a:effectLst/>
              <a:uFillTx/>
              <a:latin typeface="Arial"/>
            </a:endParaRPr>
          </a:p>
        </p:txBody>
      </p:sp>
      <p:sp>
        <p:nvSpPr>
          <p:cNvPr id="243" name="Shape 14"/>
          <p:cNvSpPr/>
          <p:nvPr/>
        </p:nvSpPr>
        <p:spPr>
          <a:xfrm>
            <a:off x="8776080" y="6096960"/>
            <a:ext cx="8368560" cy="6483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Text 15"/>
          <p:cNvSpPr/>
          <p:nvPr/>
        </p:nvSpPr>
        <p:spPr>
          <a:xfrm>
            <a:off x="8980200" y="6243840"/>
            <a:ext cx="3368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trike="noStrike">
                <a:solidFill>
                  <a:srgbClr val="EC3013"/>
                </a:solidFill>
                <a:effectLst/>
                <a:uFillTx/>
                <a:latin typeface="Arial"/>
                <a:ea typeface="Arial"/>
              </a:rPr>
              <a:t>SaaS lane </a:t>
            </a:r>
            <a:r>
              <a:rPr lang="en-US" sz="1800" b="0" u="none" strike="noStrike">
                <a:solidFill>
                  <a:srgbClr val="201E1D"/>
                </a:solidFill>
                <a:effectLst/>
                <a:uFillTx/>
                <a:latin typeface="Arial"/>
                <a:ea typeface="Arial"/>
              </a:rPr>
              <a:t>delivery-margin</a:t>
            </a:r>
            <a:endParaRPr lang="en-US" sz="1800" b="0" u="none" strike="noStrike">
              <a:solidFill>
                <a:srgbClr val="000000"/>
              </a:solidFill>
              <a:effectLst/>
              <a:uFillTx/>
              <a:latin typeface="Arial"/>
            </a:endParaRPr>
          </a:p>
        </p:txBody>
      </p:sp>
      <p:sp>
        <p:nvSpPr>
          <p:cNvPr id="245" name="Text 16"/>
          <p:cNvSpPr/>
          <p:nvPr/>
        </p:nvSpPr>
        <p:spPr>
          <a:xfrm>
            <a:off x="12233520" y="6243840"/>
            <a:ext cx="1317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E">
                    <a:alpha val="40000"/>
                  </a:srgbClr>
                </a:solidFill>
                <a:effectLst/>
                <a:uFillTx/>
                <a:latin typeface="Arial"/>
                <a:ea typeface="Arial"/>
              </a:rPr>
              <a:t>|</a:t>
            </a:r>
            <a:endParaRPr lang="en-US" sz="1800" b="0" u="none" strike="noStrike">
              <a:solidFill>
                <a:srgbClr val="000000"/>
              </a:solidFill>
              <a:effectLst/>
              <a:uFillTx/>
              <a:latin typeface="Arial"/>
            </a:endParaRPr>
          </a:p>
        </p:txBody>
      </p:sp>
      <p:sp>
        <p:nvSpPr>
          <p:cNvPr id="246" name="Text 17"/>
          <p:cNvSpPr/>
          <p:nvPr/>
        </p:nvSpPr>
        <p:spPr>
          <a:xfrm>
            <a:off x="12480120" y="6243840"/>
            <a:ext cx="36842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trike="noStrike">
                <a:solidFill>
                  <a:srgbClr val="EC3013"/>
                </a:solidFill>
                <a:effectLst/>
                <a:uFillTx/>
                <a:latin typeface="Arial"/>
                <a:ea typeface="Arial"/>
              </a:rPr>
              <a:t>Lender lane </a:t>
            </a:r>
            <a:r>
              <a:rPr lang="en-US" sz="1800" b="0" u="none" strike="noStrike">
                <a:solidFill>
                  <a:srgbClr val="201E1D"/>
                </a:solidFill>
                <a:effectLst/>
                <a:uFillTx/>
                <a:latin typeface="Arial"/>
                <a:ea typeface="Arial"/>
              </a:rPr>
              <a:t>interest-margin</a:t>
            </a:r>
            <a:endParaRPr lang="en-US" sz="1800" b="0" u="none" strike="noStrike">
              <a:solidFill>
                <a:srgbClr val="000000"/>
              </a:solidFill>
              <a:effectLst/>
              <a:uFillTx/>
              <a:latin typeface="Arial"/>
            </a:endParaRPr>
          </a:p>
        </p:txBody>
      </p:sp>
      <p:sp>
        <p:nvSpPr>
          <p:cNvPr id="247" name="Shape 18"/>
          <p:cNvSpPr/>
          <p:nvPr/>
        </p:nvSpPr>
        <p:spPr>
          <a:xfrm>
            <a:off x="1143000" y="6916680"/>
            <a:ext cx="16001640" cy="74088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19"/>
          <p:cNvSpPr/>
          <p:nvPr/>
        </p:nvSpPr>
        <p:spPr>
          <a:xfrm>
            <a:off x="1347480" y="7110360"/>
            <a:ext cx="18424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01E1D"/>
                </a:solidFill>
                <a:effectLst/>
                <a:uFillTx/>
                <a:latin typeface="Arial"/>
                <a:ea typeface="Arial"/>
              </a:rPr>
              <a:t>THE INVERSE</a:t>
            </a:r>
            <a:endParaRPr lang="en-US" sz="1800" b="0" u="none" strike="noStrike">
              <a:solidFill>
                <a:srgbClr val="000000"/>
              </a:solidFill>
              <a:effectLst/>
              <a:uFillTx/>
              <a:latin typeface="Arial"/>
            </a:endParaRPr>
          </a:p>
        </p:txBody>
      </p:sp>
      <p:sp>
        <p:nvSpPr>
          <p:cNvPr id="249" name="Text 20"/>
          <p:cNvSpPr/>
          <p:nvPr/>
        </p:nvSpPr>
        <p:spPr>
          <a:xfrm>
            <a:off x="3174840" y="7110360"/>
            <a:ext cx="81406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one metric, many names — “End-of-Period ARR” = “ARR (End of Period)”</a:t>
            </a:r>
            <a:endParaRPr lang="en-US" sz="1800" b="0" u="none" strike="noStrike">
              <a:solidFill>
                <a:srgbClr val="000000"/>
              </a:solidFill>
              <a:effectLst/>
              <a:uFillTx/>
              <a:latin typeface="Arial"/>
            </a:endParaRPr>
          </a:p>
        </p:txBody>
      </p:sp>
      <p:sp>
        <p:nvSpPr>
          <p:cNvPr id="250" name="Text 21"/>
          <p:cNvSpPr/>
          <p:nvPr/>
        </p:nvSpPr>
        <p:spPr>
          <a:xfrm>
            <a:off x="10728360" y="717300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251" name="Shape 22"/>
          <p:cNvSpPr/>
          <p:nvPr/>
        </p:nvSpPr>
        <p:spPr>
          <a:xfrm>
            <a:off x="11109240" y="7073640"/>
            <a:ext cx="2026800" cy="427320"/>
          </a:xfrm>
          <a:prstGeom prst="rect">
            <a:avLst/>
          </a:prstGeom>
          <a:noFill/>
          <a:ln w="13912">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2" name="Text 23"/>
          <p:cNvSpPr/>
          <p:nvPr/>
        </p:nvSpPr>
        <p:spPr>
          <a:xfrm>
            <a:off x="11265840" y="7173000"/>
            <a:ext cx="178956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AE1800"/>
                </a:solidFill>
                <a:effectLst/>
                <a:uFillTx/>
                <a:latin typeface="Arial"/>
                <a:ea typeface="Arial"/>
              </a:rPr>
              <a:t>one stitched line</a:t>
            </a:r>
            <a:endParaRPr lang="en-US" sz="1800" b="0" u="none" strike="noStrike">
              <a:solidFill>
                <a:srgbClr val="000000"/>
              </a:solidFill>
              <a:effectLst/>
              <a:uFillTx/>
              <a:latin typeface="Arial"/>
            </a:endParaRPr>
          </a:p>
        </p:txBody>
      </p:sp>
      <p:sp>
        <p:nvSpPr>
          <p:cNvPr id="253" name="Text 24"/>
          <p:cNvSpPr/>
          <p:nvPr/>
        </p:nvSpPr>
        <p:spPr>
          <a:xfrm>
            <a:off x="1143000" y="8186760"/>
            <a:ext cx="14715720" cy="518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Illustrative numbers. Live, this fires on </a:t>
            </a:r>
            <a:r>
              <a:rPr lang="en-US" sz="1800" b="1" u="none" strike="noStrike">
                <a:solidFill>
                  <a:srgbClr val="201E1D"/>
                </a:solidFill>
                <a:effectLst/>
                <a:uFillTx/>
                <a:latin typeface="Arial"/>
                <a:ea typeface="Arial"/>
              </a:rPr>
              <a:t>LendBridge's </a:t>
            </a:r>
            <a:r>
              <a:rPr lang="en-US" sz="1800" b="0" u="none" strike="noStrike">
                <a:solidFill>
                  <a:srgbClr val="211D1D">
                    <a:alpha val="55000"/>
                  </a:srgbClr>
                </a:solidFill>
                <a:effectLst/>
                <a:uFillTx/>
                <a:latin typeface="Arial"/>
                <a:ea typeface="Arial"/>
              </a:rPr>
              <a:t>real interest-margin (a lender's “gross margin,” 58→62%) — shown in full, never ranked against a SaaS margin.</a:t>
            </a:r>
            <a:endParaRPr lang="en-US" sz="1800" b="0" u="none" strike="noStrike">
              <a:solidFill>
                <a:srgbClr val="000000"/>
              </a:solidFill>
              <a:effectLst/>
              <a:uFillTx/>
              <a:latin typeface="Arial"/>
            </a:endParaRPr>
          </a:p>
        </p:txBody>
      </p:sp>
      <p:pic>
        <p:nvPicPr>
          <p:cNvPr id="254" name="Image 0" descr="preencoded.png"/>
          <p:cNvPicPr/>
          <p:nvPr/>
        </p:nvPicPr>
        <p:blipFill>
          <a:blip r:embed="rId1"/>
          <a:stretch/>
        </p:blipFill>
        <p:spPr>
          <a:xfrm>
            <a:off x="1143000" y="8987040"/>
            <a:ext cx="335484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255"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03 · COMPARABILITY IS THE PRODUCT</a:t>
            </a:r>
            <a:endParaRPr lang="en-US" sz="1800" b="0" u="none" strike="noStrike">
              <a:solidFill>
                <a:srgbClr val="000000"/>
              </a:solidFill>
              <a:effectLst/>
              <a:uFillTx/>
              <a:latin typeface="Arial"/>
            </a:endParaRPr>
          </a:p>
        </p:txBody>
      </p:sp>
      <p:sp>
        <p:nvSpPr>
          <p:cNvPr id="256"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Rules never invent a number — deterministic on purpose, not production-grade yet</a:t>
            </a:r>
            <a:endParaRPr lang="en-US" sz="4800" b="0" u="none" strike="noStrike">
              <a:solidFill>
                <a:srgbClr val="000000"/>
              </a:solidFill>
              <a:effectLst/>
              <a:uFillTx/>
              <a:latin typeface="Arial"/>
            </a:endParaRPr>
          </a:p>
        </p:txBody>
      </p:sp>
      <p:sp>
        <p:nvSpPr>
          <p:cNvPr id="257" name="Shape 2"/>
          <p:cNvSpPr/>
          <p:nvPr/>
        </p:nvSpPr>
        <p:spPr>
          <a:xfrm>
            <a:off x="1143000" y="3886200"/>
            <a:ext cx="7810200" cy="23238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Text 3"/>
          <p:cNvSpPr/>
          <p:nvPr/>
        </p:nvSpPr>
        <p:spPr>
          <a:xfrm>
            <a:off x="1442520" y="41666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ON PURPOSE</a:t>
            </a:r>
            <a:endParaRPr lang="en-US" sz="1800" b="0" u="none" strike="noStrike">
              <a:solidFill>
                <a:srgbClr val="000000"/>
              </a:solidFill>
              <a:effectLst/>
              <a:uFillTx/>
              <a:latin typeface="Arial"/>
            </a:endParaRPr>
          </a:p>
        </p:txBody>
      </p:sp>
      <p:sp>
        <p:nvSpPr>
          <p:cNvPr id="259" name="Text 4"/>
          <p:cNvSpPr/>
          <p:nvPr/>
        </p:nvSpPr>
        <p:spPr>
          <a:xfrm>
            <a:off x="1442520" y="4635360"/>
            <a:ext cx="79318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A single deterministic method — fixed rules</a:t>
            </a:r>
            <a:endParaRPr lang="en-US" sz="2020" b="0" u="none" strike="noStrike">
              <a:solidFill>
                <a:srgbClr val="000000"/>
              </a:solidFill>
              <a:effectLst/>
              <a:uFillTx/>
              <a:latin typeface="Arial"/>
            </a:endParaRPr>
          </a:p>
        </p:txBody>
      </p:sp>
      <p:sp>
        <p:nvSpPr>
          <p:cNvPr id="260" name="Text 5"/>
          <p:cNvSpPr/>
          <p:nvPr/>
        </p:nvSpPr>
        <p:spPr>
          <a:xfrm>
            <a:off x="1442520" y="5045040"/>
            <a:ext cx="79318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it never invents a number — a flagged blank beats a confident guess</a:t>
            </a:r>
            <a:endParaRPr lang="en-US" sz="1800" b="0" u="none" strike="noStrike">
              <a:solidFill>
                <a:srgbClr val="000000"/>
              </a:solidFill>
              <a:effectLst/>
              <a:uFillTx/>
              <a:latin typeface="Arial"/>
            </a:endParaRPr>
          </a:p>
        </p:txBody>
      </p:sp>
      <p:sp>
        <p:nvSpPr>
          <p:cNvPr id="261" name="Shape 6"/>
          <p:cNvSpPr/>
          <p:nvPr/>
        </p:nvSpPr>
        <p:spPr>
          <a:xfrm>
            <a:off x="1442520" y="5502240"/>
            <a:ext cx="96228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2" name="Text 7"/>
          <p:cNvSpPr/>
          <p:nvPr/>
        </p:nvSpPr>
        <p:spPr>
          <a:xfrm>
            <a:off x="1599480" y="5601960"/>
            <a:ext cx="725040" cy="26604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86000"/>
              </a:lnSpc>
              <a:tabLst>
                <a:tab pos="0" algn="l"/>
              </a:tabLst>
            </a:pPr>
            <a:r>
              <a:rPr lang="en-US" sz="1800" b="1" u="none" strike="noStrike">
                <a:solidFill>
                  <a:srgbClr val="201E1D"/>
                </a:solidFill>
                <a:effectLst/>
                <a:uFillTx/>
                <a:latin typeface="Arial"/>
                <a:ea typeface="Arial"/>
              </a:rPr>
              <a:t>cheap</a:t>
            </a:r>
            <a:endParaRPr lang="en-US" sz="1800" b="0" u="none" strike="noStrike">
              <a:solidFill>
                <a:srgbClr val="000000"/>
              </a:solidFill>
              <a:effectLst/>
              <a:uFillTx/>
              <a:latin typeface="Arial"/>
            </a:endParaRPr>
          </a:p>
        </p:txBody>
      </p:sp>
      <p:sp>
        <p:nvSpPr>
          <p:cNvPr id="263" name="Shape 8"/>
          <p:cNvSpPr/>
          <p:nvPr/>
        </p:nvSpPr>
        <p:spPr>
          <a:xfrm>
            <a:off x="2538360" y="5502240"/>
            <a:ext cx="70488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9"/>
          <p:cNvSpPr/>
          <p:nvPr/>
        </p:nvSpPr>
        <p:spPr>
          <a:xfrm>
            <a:off x="2695320" y="5601960"/>
            <a:ext cx="467280" cy="26604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86000"/>
              </a:lnSpc>
              <a:tabLst>
                <a:tab pos="0" algn="l"/>
              </a:tabLst>
            </a:pPr>
            <a:r>
              <a:rPr lang="en-US" sz="1800" b="1" u="none" strike="noStrike">
                <a:solidFill>
                  <a:srgbClr val="201E1D"/>
                </a:solidFill>
                <a:effectLst/>
                <a:uFillTx/>
                <a:latin typeface="Arial"/>
                <a:ea typeface="Arial"/>
              </a:rPr>
              <a:t>fast</a:t>
            </a:r>
            <a:endParaRPr lang="en-US" sz="1800" b="0" u="none" strike="noStrike">
              <a:solidFill>
                <a:srgbClr val="000000"/>
              </a:solidFill>
              <a:effectLst/>
              <a:uFillTx/>
              <a:latin typeface="Arial"/>
            </a:endParaRPr>
          </a:p>
        </p:txBody>
      </p:sp>
      <p:sp>
        <p:nvSpPr>
          <p:cNvPr id="265" name="Shape 10"/>
          <p:cNvSpPr/>
          <p:nvPr/>
        </p:nvSpPr>
        <p:spPr>
          <a:xfrm>
            <a:off x="3376800" y="5502240"/>
            <a:ext cx="115668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11"/>
          <p:cNvSpPr/>
          <p:nvPr/>
        </p:nvSpPr>
        <p:spPr>
          <a:xfrm>
            <a:off x="3533760" y="5601960"/>
            <a:ext cx="919440" cy="26604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86000"/>
              </a:lnSpc>
              <a:tabLst>
                <a:tab pos="0" algn="l"/>
              </a:tabLst>
            </a:pPr>
            <a:r>
              <a:rPr lang="en-US" sz="1800" b="1" u="none" strike="noStrike">
                <a:solidFill>
                  <a:srgbClr val="201E1D"/>
                </a:solidFill>
                <a:effectLst/>
                <a:uFillTx/>
                <a:latin typeface="Arial"/>
                <a:ea typeface="Arial"/>
              </a:rPr>
              <a:t>testable</a:t>
            </a:r>
            <a:endParaRPr lang="en-US" sz="1800" b="0" u="none" strike="noStrike">
              <a:solidFill>
                <a:srgbClr val="000000"/>
              </a:solidFill>
              <a:effectLst/>
              <a:uFillTx/>
              <a:latin typeface="Arial"/>
            </a:endParaRPr>
          </a:p>
        </p:txBody>
      </p:sp>
      <p:sp>
        <p:nvSpPr>
          <p:cNvPr id="267" name="Shape 12"/>
          <p:cNvSpPr/>
          <p:nvPr/>
        </p:nvSpPr>
        <p:spPr>
          <a:xfrm>
            <a:off x="4667400" y="5502240"/>
            <a:ext cx="96156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8" name="Text 13"/>
          <p:cNvSpPr/>
          <p:nvPr/>
        </p:nvSpPr>
        <p:spPr>
          <a:xfrm>
            <a:off x="4824000" y="5601960"/>
            <a:ext cx="72396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offline</a:t>
            </a:r>
            <a:endParaRPr lang="en-US" sz="1800" b="0" u="none" strike="noStrike">
              <a:solidFill>
                <a:srgbClr val="000000"/>
              </a:solidFill>
              <a:effectLst/>
              <a:uFillTx/>
              <a:latin typeface="Arial"/>
            </a:endParaRPr>
          </a:p>
        </p:txBody>
      </p:sp>
      <p:sp>
        <p:nvSpPr>
          <p:cNvPr id="269" name="Shape 14"/>
          <p:cNvSpPr/>
          <p:nvPr/>
        </p:nvSpPr>
        <p:spPr>
          <a:xfrm>
            <a:off x="9334440" y="3886200"/>
            <a:ext cx="7810200" cy="232380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0" name="Text 15"/>
          <p:cNvSpPr/>
          <p:nvPr/>
        </p:nvSpPr>
        <p:spPr>
          <a:xfrm>
            <a:off x="9638280" y="4171320"/>
            <a:ext cx="79225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THE HONEST CAVEAT</a:t>
            </a:r>
            <a:endParaRPr lang="en-US" sz="1800" b="0" u="none" strike="noStrike">
              <a:solidFill>
                <a:srgbClr val="000000"/>
              </a:solidFill>
              <a:effectLst/>
              <a:uFillTx/>
              <a:latin typeface="Arial"/>
            </a:endParaRPr>
          </a:p>
        </p:txBody>
      </p:sp>
      <p:sp>
        <p:nvSpPr>
          <p:cNvPr id="271" name="Text 16"/>
          <p:cNvSpPr/>
          <p:nvPr/>
        </p:nvSpPr>
        <p:spPr>
          <a:xfrm>
            <a:off x="9638280" y="4639680"/>
            <a:ext cx="792252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One method ≠ production-grade</a:t>
            </a:r>
            <a:endParaRPr lang="en-US" sz="2020" b="0" u="none" strike="noStrike">
              <a:solidFill>
                <a:srgbClr val="000000"/>
              </a:solidFill>
              <a:effectLst/>
              <a:uFillTx/>
              <a:latin typeface="Arial"/>
            </a:endParaRPr>
          </a:p>
        </p:txBody>
      </p:sp>
      <p:sp>
        <p:nvSpPr>
          <p:cNvPr id="272" name="Text 17"/>
          <p:cNvSpPr/>
          <p:nvPr/>
        </p:nvSpPr>
        <p:spPr>
          <a:xfrm>
            <a:off x="9638280" y="5049720"/>
            <a:ext cx="741816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 lone reader, however good, can be wrong — and you'd never know. The redundant path (§8) is what I'd build for real.</a:t>
            </a:r>
            <a:endParaRPr lang="en-US" sz="1800" b="0" u="none" strike="noStrike">
              <a:solidFill>
                <a:srgbClr val="000000"/>
              </a:solidFill>
              <a:effectLst/>
              <a:uFillTx/>
              <a:latin typeface="Arial"/>
            </a:endParaRPr>
          </a:p>
        </p:txBody>
      </p:sp>
      <p:sp>
        <p:nvSpPr>
          <p:cNvPr id="273" name="Shape 18"/>
          <p:cNvSpPr/>
          <p:nvPr/>
        </p:nvSpPr>
        <p:spPr>
          <a:xfrm>
            <a:off x="1143000" y="6381720"/>
            <a:ext cx="16001640" cy="68652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4" name="Text 19"/>
          <p:cNvSpPr/>
          <p:nvPr/>
        </p:nvSpPr>
        <p:spPr>
          <a:xfrm>
            <a:off x="1347480" y="6548040"/>
            <a:ext cx="4232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01E1D"/>
                </a:solidFill>
                <a:effectLst/>
                <a:uFillTx/>
                <a:latin typeface="Arial"/>
                <a:ea typeface="Arial"/>
              </a:rPr>
              <a:t>FIRECRAWL → DETERMINISTIC</a:t>
            </a:r>
            <a:endParaRPr lang="en-US" sz="1800" b="0" u="none" strike="noStrike">
              <a:solidFill>
                <a:srgbClr val="000000"/>
              </a:solidFill>
              <a:effectLst/>
              <a:uFillTx/>
              <a:latin typeface="Arial"/>
            </a:endParaRPr>
          </a:p>
        </p:txBody>
      </p:sp>
      <p:sp>
        <p:nvSpPr>
          <p:cNvPr id="275" name="Text 20"/>
          <p:cNvSpPr/>
          <p:nvPr/>
        </p:nvSpPr>
        <p:spPr>
          <a:xfrm>
            <a:off x="5348160" y="6548040"/>
            <a:ext cx="126972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first build used Firecrawl (paid extraction) → hit errors + ran out of credit → switched. The right move for a </a:t>
            </a:r>
            <a:r>
              <a:rPr lang="en-US" sz="1800" b="1" u="none" strike="noStrike">
                <a:solidFill>
                  <a:srgbClr val="201E1D"/>
                </a:solidFill>
                <a:effectLst/>
                <a:uFillTx/>
                <a:latin typeface="Arial"/>
                <a:ea typeface="Arial"/>
              </a:rPr>
              <a:t>trust </a:t>
            </a:r>
            <a:r>
              <a:rPr lang="en-US" sz="1800" b="0" u="none" strike="noStrike">
                <a:solidFill>
                  <a:srgbClr val="201E1D"/>
                </a:solidFill>
                <a:effectLst/>
                <a:uFillTx/>
                <a:latin typeface="Arial"/>
                <a:ea typeface="Arial"/>
              </a:rPr>
              <a:t>tool.</a:t>
            </a:r>
            <a:endParaRPr lang="en-US" sz="1800" b="0" u="none" strike="noStrike">
              <a:solidFill>
                <a:srgbClr val="000000"/>
              </a:solidFill>
              <a:effectLst/>
              <a:uFillTx/>
              <a:latin typeface="Arial"/>
            </a:endParaRPr>
          </a:p>
        </p:txBody>
      </p:sp>
      <p:sp>
        <p:nvSpPr>
          <p:cNvPr id="276" name="Text 21"/>
          <p:cNvSpPr/>
          <p:nvPr/>
        </p:nvSpPr>
        <p:spPr>
          <a:xfrm>
            <a:off x="1143000" y="75974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Any vendor accuracy % = the vendor's own claim, not our measured result.</a:t>
            </a:r>
            <a:endParaRPr lang="en-US" sz="1800" b="0" u="none" strike="noStrike">
              <a:solidFill>
                <a:srgbClr val="000000"/>
              </a:solidFill>
              <a:effectLst/>
              <a:uFillTx/>
              <a:latin typeface="Arial"/>
            </a:endParaRPr>
          </a:p>
        </p:txBody>
      </p:sp>
      <p:pic>
        <p:nvPicPr>
          <p:cNvPr id="277"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278"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03 · COMPARABILITY IS THE PRODUCT</a:t>
            </a:r>
            <a:endParaRPr lang="en-US" sz="1800" b="0" u="none" strike="noStrike">
              <a:solidFill>
                <a:srgbClr val="000000"/>
              </a:solidFill>
              <a:effectLst/>
              <a:uFillTx/>
              <a:latin typeface="Arial"/>
            </a:endParaRPr>
          </a:p>
        </p:txBody>
      </p:sp>
      <p:sp>
        <p:nvSpPr>
          <p:cNvPr id="279"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What I'd build for real: redundant readers — the disagreement is the alarm</a:t>
            </a:r>
            <a:endParaRPr lang="en-US" sz="4800" b="0" u="none" strike="noStrike">
              <a:solidFill>
                <a:srgbClr val="000000"/>
              </a:solidFill>
              <a:effectLst/>
              <a:uFillTx/>
              <a:latin typeface="Arial"/>
            </a:endParaRPr>
          </a:p>
        </p:txBody>
      </p:sp>
      <p:sp>
        <p:nvSpPr>
          <p:cNvPr id="280" name="Shape 2"/>
          <p:cNvSpPr/>
          <p:nvPr/>
        </p:nvSpPr>
        <p:spPr>
          <a:xfrm>
            <a:off x="1143000" y="3924360"/>
            <a:ext cx="4807800" cy="5950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3"/>
          <p:cNvSpPr/>
          <p:nvPr/>
        </p:nvSpPr>
        <p:spPr>
          <a:xfrm>
            <a:off x="1328400" y="4090680"/>
            <a:ext cx="488088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Firecrawl</a:t>
            </a:r>
            <a:endParaRPr lang="en-US" sz="1800" b="0" u="none" strike="noStrike">
              <a:solidFill>
                <a:srgbClr val="000000"/>
              </a:solidFill>
              <a:effectLst/>
              <a:uFillTx/>
              <a:latin typeface="Arial"/>
            </a:endParaRPr>
          </a:p>
        </p:txBody>
      </p:sp>
      <p:sp>
        <p:nvSpPr>
          <p:cNvPr id="282" name="Shape 4"/>
          <p:cNvSpPr/>
          <p:nvPr/>
        </p:nvSpPr>
        <p:spPr>
          <a:xfrm>
            <a:off x="1143000" y="4615200"/>
            <a:ext cx="4807800" cy="5950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3" name="Text 5"/>
          <p:cNvSpPr/>
          <p:nvPr/>
        </p:nvSpPr>
        <p:spPr>
          <a:xfrm>
            <a:off x="1328400" y="4781160"/>
            <a:ext cx="488088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OCR</a:t>
            </a:r>
            <a:endParaRPr lang="en-US" sz="1800" b="0" u="none" strike="noStrike">
              <a:solidFill>
                <a:srgbClr val="000000"/>
              </a:solidFill>
              <a:effectLst/>
              <a:uFillTx/>
              <a:latin typeface="Arial"/>
            </a:endParaRPr>
          </a:p>
        </p:txBody>
      </p:sp>
      <p:sp>
        <p:nvSpPr>
          <p:cNvPr id="284" name="Shape 6"/>
          <p:cNvSpPr/>
          <p:nvPr/>
        </p:nvSpPr>
        <p:spPr>
          <a:xfrm>
            <a:off x="1143000" y="5305680"/>
            <a:ext cx="4807800" cy="5950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5" name="Text 7"/>
          <p:cNvSpPr/>
          <p:nvPr/>
        </p:nvSpPr>
        <p:spPr>
          <a:xfrm>
            <a:off x="1328400" y="5472000"/>
            <a:ext cx="488088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Vision-LLM</a:t>
            </a:r>
            <a:endParaRPr lang="en-US" sz="1800" b="0" u="none" strike="noStrike">
              <a:solidFill>
                <a:srgbClr val="000000"/>
              </a:solidFill>
              <a:effectLst/>
              <a:uFillTx/>
              <a:latin typeface="Arial"/>
            </a:endParaRPr>
          </a:p>
        </p:txBody>
      </p:sp>
      <p:sp>
        <p:nvSpPr>
          <p:cNvPr id="286" name="Text 8"/>
          <p:cNvSpPr/>
          <p:nvPr/>
        </p:nvSpPr>
        <p:spPr>
          <a:xfrm>
            <a:off x="1143000" y="6015240"/>
            <a:ext cx="4951800" cy="746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34000"/>
              </a:lnSpc>
              <a:tabLst>
                <a:tab pos="0" algn="l"/>
              </a:tabLst>
            </a:pPr>
            <a:endParaRPr lang="en-US" sz="1800" b="0" u="none" strike="noStrike">
              <a:solidFill>
                <a:srgbClr val="000000"/>
              </a:solidFill>
              <a:effectLst/>
              <a:uFillTx/>
              <a:latin typeface="Arial"/>
            </a:endParaRPr>
          </a:p>
        </p:txBody>
      </p:sp>
      <p:sp>
        <p:nvSpPr>
          <p:cNvPr id="287" name="Text 9"/>
          <p:cNvSpPr/>
          <p:nvPr/>
        </p:nvSpPr>
        <p:spPr>
          <a:xfrm>
            <a:off x="6103440" y="517176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288" name="Shape 10"/>
          <p:cNvSpPr/>
          <p:nvPr/>
        </p:nvSpPr>
        <p:spPr>
          <a:xfrm>
            <a:off x="6560280" y="4523400"/>
            <a:ext cx="4926240" cy="160056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9" name="Text 11"/>
          <p:cNvSpPr/>
          <p:nvPr/>
        </p:nvSpPr>
        <p:spPr>
          <a:xfrm>
            <a:off x="6860160" y="4804200"/>
            <a:ext cx="47595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ORCHESTRATOR</a:t>
            </a:r>
            <a:endParaRPr lang="en-US" sz="1800" b="0" u="none" strike="noStrike">
              <a:solidFill>
                <a:srgbClr val="000000"/>
              </a:solidFill>
              <a:effectLst/>
              <a:uFillTx/>
              <a:latin typeface="Arial"/>
            </a:endParaRPr>
          </a:p>
        </p:txBody>
      </p:sp>
      <p:sp>
        <p:nvSpPr>
          <p:cNvPr id="290" name="Text 12"/>
          <p:cNvSpPr/>
          <p:nvPr/>
        </p:nvSpPr>
        <p:spPr>
          <a:xfrm>
            <a:off x="6860160" y="5272560"/>
            <a:ext cx="4456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collects answers, checks agreement — tiered consensus</a:t>
            </a:r>
            <a:endParaRPr lang="en-US" sz="1800" b="0" u="none" strike="noStrike">
              <a:solidFill>
                <a:srgbClr val="000000"/>
              </a:solidFill>
              <a:effectLst/>
              <a:uFillTx/>
              <a:latin typeface="Arial"/>
            </a:endParaRPr>
          </a:p>
        </p:txBody>
      </p:sp>
      <p:sp>
        <p:nvSpPr>
          <p:cNvPr id="291" name="Text 13"/>
          <p:cNvSpPr/>
          <p:nvPr/>
        </p:nvSpPr>
        <p:spPr>
          <a:xfrm>
            <a:off x="11639520" y="517176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292" name="Shape 14"/>
          <p:cNvSpPr/>
          <p:nvPr/>
        </p:nvSpPr>
        <p:spPr>
          <a:xfrm>
            <a:off x="12096360" y="3886200"/>
            <a:ext cx="5048280" cy="12236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15"/>
          <p:cNvSpPr/>
          <p:nvPr/>
        </p:nvSpPr>
        <p:spPr>
          <a:xfrm>
            <a:off x="12396240" y="4166640"/>
            <a:ext cx="48938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 Agree</a:t>
            </a:r>
            <a:endParaRPr lang="en-US" sz="1800" b="0" u="none" strike="noStrike">
              <a:solidFill>
                <a:srgbClr val="000000"/>
              </a:solidFill>
              <a:effectLst/>
              <a:uFillTx/>
              <a:latin typeface="Arial"/>
            </a:endParaRPr>
          </a:p>
        </p:txBody>
      </p:sp>
      <p:sp>
        <p:nvSpPr>
          <p:cNvPr id="294" name="Text 16"/>
          <p:cNvSpPr/>
          <p:nvPr/>
        </p:nvSpPr>
        <p:spPr>
          <a:xfrm>
            <a:off x="12396240" y="4543920"/>
            <a:ext cx="48938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 higher confidence (tiered)</a:t>
            </a:r>
            <a:endParaRPr lang="en-US" sz="1800" b="0" u="none" strike="noStrike">
              <a:solidFill>
                <a:srgbClr val="000000"/>
              </a:solidFill>
              <a:effectLst/>
              <a:uFillTx/>
              <a:latin typeface="Arial"/>
            </a:endParaRPr>
          </a:p>
        </p:txBody>
      </p:sp>
      <p:sp>
        <p:nvSpPr>
          <p:cNvPr id="295" name="Shape 17"/>
          <p:cNvSpPr/>
          <p:nvPr/>
        </p:nvSpPr>
        <p:spPr>
          <a:xfrm>
            <a:off x="12096360" y="5243400"/>
            <a:ext cx="5048280" cy="151812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Text 18"/>
          <p:cNvSpPr/>
          <p:nvPr/>
        </p:nvSpPr>
        <p:spPr>
          <a:xfrm>
            <a:off x="12400560" y="5528520"/>
            <a:ext cx="488412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AE1800"/>
                </a:solidFill>
                <a:effectLst/>
                <a:uFillTx/>
                <a:latin typeface="Arial"/>
                <a:ea typeface="Arial"/>
              </a:rPr>
              <a:t>⚠ Disagree</a:t>
            </a:r>
            <a:endParaRPr lang="en-US" sz="1800" b="0" u="none" strike="noStrike">
              <a:solidFill>
                <a:srgbClr val="000000"/>
              </a:solidFill>
              <a:effectLst/>
              <a:uFillTx/>
              <a:latin typeface="Arial"/>
            </a:endParaRPr>
          </a:p>
        </p:txBody>
      </p:sp>
      <p:sp>
        <p:nvSpPr>
          <p:cNvPr id="297" name="Text 19"/>
          <p:cNvSpPr/>
          <p:nvPr/>
        </p:nvSpPr>
        <p:spPr>
          <a:xfrm>
            <a:off x="12400560" y="5905440"/>
            <a:ext cx="45734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 flag + human review, answers side by side</a:t>
            </a:r>
            <a:endParaRPr lang="en-US" sz="1800" b="0" u="none" strike="noStrike">
              <a:solidFill>
                <a:srgbClr val="000000"/>
              </a:solidFill>
              <a:effectLst/>
              <a:uFillTx/>
              <a:latin typeface="Arial"/>
            </a:endParaRPr>
          </a:p>
        </p:txBody>
      </p:sp>
      <p:sp>
        <p:nvSpPr>
          <p:cNvPr id="298" name="Text 20"/>
          <p:cNvSpPr/>
          <p:nvPr/>
        </p:nvSpPr>
        <p:spPr>
          <a:xfrm>
            <a:off x="1143000" y="7290720"/>
            <a:ext cx="14715720" cy="518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22000"/>
              </a:lnSpc>
              <a:tabLst>
                <a:tab pos="0" algn="l"/>
              </a:tabLst>
            </a:pPr>
            <a:r>
              <a:rPr lang="en-US" sz="1800" b="1" u="none" strike="noStrike">
                <a:solidFill>
                  <a:srgbClr val="201E1D"/>
                </a:solidFill>
                <a:effectLst/>
                <a:uFillTx/>
                <a:latin typeface="Arial"/>
                <a:ea typeface="Arial"/>
              </a:rPr>
              <a:t>Designed, not built </a:t>
            </a:r>
            <a:r>
              <a:rPr lang="en-US" sz="1800" b="0" u="none" strike="noStrike">
                <a:solidFill>
                  <a:srgbClr val="211D1D">
                    <a:alpha val="55000"/>
                  </a:srgbClr>
                </a:solidFill>
                <a:effectLst/>
                <a:uFillTx/>
                <a:latin typeface="Arial"/>
                <a:ea typeface="Arial"/>
              </a:rPr>
              <a:t>— today's demo runs the single deterministic method. “Independent” is never total: agreement is strong evidence, not proof.</a:t>
            </a:r>
            <a:endParaRPr lang="en-US" sz="1800" b="0" u="none" strike="noStrike">
              <a:solidFill>
                <a:srgbClr val="000000"/>
              </a:solidFill>
              <a:effectLst/>
              <a:uFillTx/>
              <a:latin typeface="Arial"/>
            </a:endParaRPr>
          </a:p>
        </p:txBody>
      </p:sp>
      <p:pic>
        <p:nvPicPr>
          <p:cNvPr id="299"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00"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04 · AI SUGGESTS, HUMANS DECIDE</a:t>
            </a:r>
            <a:endParaRPr lang="en-US" sz="1800" b="0" u="none" strike="noStrike">
              <a:solidFill>
                <a:srgbClr val="000000"/>
              </a:solidFill>
              <a:effectLst/>
              <a:uFillTx/>
              <a:latin typeface="Arial"/>
            </a:endParaRPr>
          </a:p>
        </p:txBody>
      </p:sp>
      <p:sp>
        <p:nvSpPr>
          <p:cNvPr id="301"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a:bodyPr>
          <a:p>
            <a:pPr defTabSz="914400">
              <a:lnSpc>
                <a:spcPct val="97000"/>
              </a:lnSpc>
              <a:tabLst>
                <a:tab pos="0" algn="l"/>
              </a:tabLst>
            </a:pPr>
            <a:r>
              <a:rPr lang="en-US" sz="4800" b="1" u="none" spc="-71" strike="noStrike">
                <a:solidFill>
                  <a:srgbClr val="201E1D"/>
                </a:solidFill>
                <a:effectLst/>
                <a:uFillTx/>
                <a:latin typeface="Arial"/>
                <a:ea typeface="Arial"/>
              </a:rPr>
              <a:t>Be AI-first, but human-decision-driven — AI never decides</a:t>
            </a:r>
            <a:endParaRPr lang="en-US" sz="4800" b="0" u="none" strike="noStrike">
              <a:solidFill>
                <a:srgbClr val="000000"/>
              </a:solidFill>
              <a:effectLst/>
              <a:uFillTx/>
              <a:latin typeface="Arial"/>
            </a:endParaRPr>
          </a:p>
        </p:txBody>
      </p:sp>
      <p:sp>
        <p:nvSpPr>
          <p:cNvPr id="302" name="Shape 2"/>
          <p:cNvSpPr/>
          <p:nvPr/>
        </p:nvSpPr>
        <p:spPr>
          <a:xfrm>
            <a:off x="1143000" y="3886200"/>
            <a:ext cx="8042040" cy="30290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3" name="Text 3"/>
          <p:cNvSpPr/>
          <p:nvPr/>
        </p:nvSpPr>
        <p:spPr>
          <a:xfrm>
            <a:off x="1442520" y="4166640"/>
            <a:ext cx="81871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AI / RULES · DOES THE HEAVY WORK</a:t>
            </a:r>
            <a:endParaRPr lang="en-US" sz="1800" b="0" u="none" strike="noStrike">
              <a:solidFill>
                <a:srgbClr val="000000"/>
              </a:solidFill>
              <a:effectLst/>
              <a:uFillTx/>
              <a:latin typeface="Arial"/>
            </a:endParaRPr>
          </a:p>
        </p:txBody>
      </p:sp>
      <p:sp>
        <p:nvSpPr>
          <p:cNvPr id="304" name="Text 4"/>
          <p:cNvSpPr/>
          <p:nvPr/>
        </p:nvSpPr>
        <p:spPr>
          <a:xfrm>
            <a:off x="1690200" y="4673160"/>
            <a:ext cx="79394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read 20+ packs, pull the numbers</a:t>
            </a:r>
            <a:endParaRPr lang="en-US" sz="1800" b="0" u="none" strike="noStrike">
              <a:solidFill>
                <a:srgbClr val="000000"/>
              </a:solidFill>
              <a:effectLst/>
              <a:uFillTx/>
              <a:latin typeface="Arial"/>
            </a:endParaRPr>
          </a:p>
        </p:txBody>
      </p:sp>
      <p:sp>
        <p:nvSpPr>
          <p:cNvPr id="305" name="Text 5"/>
          <p:cNvSpPr/>
          <p:nvPr/>
        </p:nvSpPr>
        <p:spPr>
          <a:xfrm>
            <a:off x="1690200" y="5073120"/>
            <a:ext cx="79394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stitch renamed labels into one series</a:t>
            </a:r>
            <a:endParaRPr lang="en-US" sz="1800" b="0" u="none" strike="noStrike">
              <a:solidFill>
                <a:srgbClr val="000000"/>
              </a:solidFill>
              <a:effectLst/>
              <a:uFillTx/>
              <a:latin typeface="Arial"/>
            </a:endParaRPr>
          </a:p>
        </p:txBody>
      </p:sp>
      <p:sp>
        <p:nvSpPr>
          <p:cNvPr id="306" name="Text 6"/>
          <p:cNvSpPr/>
          <p:nvPr/>
        </p:nvSpPr>
        <p:spPr>
          <a:xfrm>
            <a:off x="1690200" y="5473080"/>
            <a:ext cx="79394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flag disagreement &amp; low confidence</a:t>
            </a:r>
            <a:endParaRPr lang="en-US" sz="1800" b="0" u="none" strike="noStrike">
              <a:solidFill>
                <a:srgbClr val="000000"/>
              </a:solidFill>
              <a:effectLst/>
              <a:uFillTx/>
              <a:latin typeface="Arial"/>
            </a:endParaRPr>
          </a:p>
        </p:txBody>
      </p:sp>
      <p:sp>
        <p:nvSpPr>
          <p:cNvPr id="307" name="Text 7"/>
          <p:cNvSpPr/>
          <p:nvPr/>
        </p:nvSpPr>
        <p:spPr>
          <a:xfrm>
            <a:off x="1690200" y="5873040"/>
            <a:ext cx="79394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suggest — </a:t>
            </a:r>
            <a:r>
              <a:rPr lang="en-US" sz="1800" b="1" u="none" strike="noStrike">
                <a:solidFill>
                  <a:srgbClr val="201E1D"/>
                </a:solidFill>
                <a:effectLst/>
                <a:uFillTx/>
                <a:latin typeface="Arial"/>
                <a:ea typeface="Arial"/>
              </a:rPr>
              <a:t>with reasons</a:t>
            </a:r>
            <a:endParaRPr lang="en-US" sz="1800" b="0" u="none" strike="noStrike">
              <a:solidFill>
                <a:srgbClr val="000000"/>
              </a:solidFill>
              <a:effectLst/>
              <a:uFillTx/>
              <a:latin typeface="Arial"/>
            </a:endParaRPr>
          </a:p>
        </p:txBody>
      </p:sp>
      <p:sp>
        <p:nvSpPr>
          <p:cNvPr id="308" name="Text 8"/>
          <p:cNvSpPr/>
          <p:nvPr/>
        </p:nvSpPr>
        <p:spPr>
          <a:xfrm>
            <a:off x="1442520" y="6349320"/>
            <a:ext cx="818712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probabilistic — a likely answer, not a certain one</a:t>
            </a:r>
            <a:endParaRPr lang="en-US" sz="1800" b="0" u="none" strike="noStrike">
              <a:solidFill>
                <a:srgbClr val="000000"/>
              </a:solidFill>
              <a:effectLst/>
              <a:uFillTx/>
              <a:latin typeface="Arial"/>
            </a:endParaRPr>
          </a:p>
        </p:txBody>
      </p:sp>
      <p:sp>
        <p:nvSpPr>
          <p:cNvPr id="309" name="Text 9"/>
          <p:cNvSpPr/>
          <p:nvPr/>
        </p:nvSpPr>
        <p:spPr>
          <a:xfrm>
            <a:off x="9817560" y="5004720"/>
            <a:ext cx="456840" cy="4186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5000"/>
              </a:lnSpc>
              <a:tabLst>
                <a:tab pos="0" algn="l"/>
              </a:tabLst>
            </a:pPr>
            <a:r>
              <a:rPr lang="en-US" sz="3000" b="1" u="none" strike="noStrike">
                <a:solidFill>
                  <a:srgbClr val="BAB6B6"/>
                </a:solidFill>
                <a:effectLst/>
                <a:uFillTx/>
                <a:latin typeface="Arial"/>
                <a:ea typeface="Arial"/>
              </a:rPr>
              <a:t>→</a:t>
            </a:r>
            <a:endParaRPr lang="en-US" sz="3000" b="0" u="none" strike="noStrike">
              <a:solidFill>
                <a:srgbClr val="000000"/>
              </a:solidFill>
              <a:effectLst/>
              <a:uFillTx/>
              <a:latin typeface="Arial"/>
            </a:endParaRPr>
          </a:p>
        </p:txBody>
      </p:sp>
      <p:sp>
        <p:nvSpPr>
          <p:cNvPr id="310" name="Text 10"/>
          <p:cNvSpPr/>
          <p:nvPr/>
        </p:nvSpPr>
        <p:spPr>
          <a:xfrm>
            <a:off x="9356760" y="5442840"/>
            <a:ext cx="1432080" cy="3920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34000"/>
              </a:lnSpc>
              <a:tabLst>
                <a:tab pos="0" algn="l"/>
              </a:tabLst>
            </a:pPr>
            <a:r>
              <a:rPr lang="en-US" sz="1800" b="1" u="none" spc="145" strike="noStrike">
                <a:solidFill>
                  <a:srgbClr val="AE1800"/>
                </a:solidFill>
                <a:effectLst/>
                <a:uFillTx/>
                <a:latin typeface="Arial"/>
                <a:ea typeface="Arial"/>
              </a:rPr>
              <a:t>SUGGESTS</a:t>
            </a:r>
            <a:endParaRPr lang="en-US" sz="1800" b="0" u="none" strike="noStrike">
              <a:solidFill>
                <a:srgbClr val="000000"/>
              </a:solidFill>
              <a:effectLst/>
              <a:uFillTx/>
              <a:latin typeface="Arial"/>
            </a:endParaRPr>
          </a:p>
        </p:txBody>
      </p:sp>
      <p:sp>
        <p:nvSpPr>
          <p:cNvPr id="311" name="Shape 11"/>
          <p:cNvSpPr/>
          <p:nvPr/>
        </p:nvSpPr>
        <p:spPr>
          <a:xfrm>
            <a:off x="10830600" y="3886200"/>
            <a:ext cx="6314040" cy="302904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Text 12"/>
          <p:cNvSpPr/>
          <p:nvPr/>
        </p:nvSpPr>
        <p:spPr>
          <a:xfrm>
            <a:off x="11134440" y="4171320"/>
            <a:ext cx="62766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THE HUMAN DECISION GATE · DECIDES</a:t>
            </a:r>
            <a:endParaRPr lang="en-US" sz="1800" b="0" u="none" strike="noStrike">
              <a:solidFill>
                <a:srgbClr val="000000"/>
              </a:solidFill>
              <a:effectLst/>
              <a:uFillTx/>
              <a:latin typeface="Arial"/>
            </a:endParaRPr>
          </a:p>
        </p:txBody>
      </p:sp>
      <p:sp>
        <p:nvSpPr>
          <p:cNvPr id="313" name="Text 13"/>
          <p:cNvSpPr/>
          <p:nvPr/>
        </p:nvSpPr>
        <p:spPr>
          <a:xfrm>
            <a:off x="10974600" y="4677840"/>
            <a:ext cx="5942520" cy="112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8000"/>
              </a:lnSpc>
              <a:tabLst>
                <a:tab pos="0" algn="l"/>
              </a:tabLst>
            </a:pPr>
            <a:r>
              <a:rPr lang="en-US" sz="1800" b="0" u="none" strike="noStrike">
                <a:solidFill>
                  <a:srgbClr val="201E1D"/>
                </a:solidFill>
                <a:effectLst/>
                <a:uFillTx/>
                <a:latin typeface="Arial"/>
                <a:ea typeface="Arial"/>
              </a:rPr>
              <a:t>“is this right enough for a report?”</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sign-off</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solidFill>
                <a:effectLst/>
                <a:uFillTx/>
                <a:latin typeface="Arial"/>
                <a:ea typeface="Arial"/>
              </a:rPr>
              <a:t>the mark / the IC call</a:t>
            </a:r>
            <a:endParaRPr lang="en-US" sz="1800" b="0" u="none" strike="noStrike">
              <a:solidFill>
                <a:srgbClr val="000000"/>
              </a:solidFill>
              <a:effectLst/>
              <a:uFillTx/>
              <a:latin typeface="Arial"/>
            </a:endParaRPr>
          </a:p>
        </p:txBody>
      </p:sp>
      <p:sp>
        <p:nvSpPr>
          <p:cNvPr id="314" name="Text 14"/>
          <p:cNvSpPr/>
          <p:nvPr/>
        </p:nvSpPr>
        <p:spPr>
          <a:xfrm>
            <a:off x="11134440" y="5953680"/>
            <a:ext cx="62766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the center of every decision that reaches a report</a:t>
            </a:r>
            <a:endParaRPr lang="en-US" sz="1800" b="0" u="none" strike="noStrike">
              <a:solidFill>
                <a:srgbClr val="000000"/>
              </a:solidFill>
              <a:effectLst/>
              <a:uFillTx/>
              <a:latin typeface="Arial"/>
            </a:endParaRPr>
          </a:p>
        </p:txBody>
      </p:sp>
      <p:pic>
        <p:nvPicPr>
          <p:cNvPr id="315"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16"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05 · CAUGHT BEFORE THE IC BEATS HOURS</a:t>
            </a:r>
            <a:endParaRPr lang="en-US" sz="1800" b="0" u="none" strike="noStrike">
              <a:solidFill>
                <a:srgbClr val="000000"/>
              </a:solidFill>
              <a:effectLst/>
              <a:uFillTx/>
              <a:latin typeface="Arial"/>
            </a:endParaRPr>
          </a:p>
        </p:txBody>
      </p:sp>
      <p:sp>
        <p:nvSpPr>
          <p:cNvPr id="317"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The win isn't the hours — it's a wrong number caught before the IC</a:t>
            </a:r>
            <a:endParaRPr lang="en-US" sz="4800" b="0" u="none" strike="noStrike">
              <a:solidFill>
                <a:srgbClr val="000000"/>
              </a:solidFill>
              <a:effectLst/>
              <a:uFillTx/>
              <a:latin typeface="Arial"/>
            </a:endParaRPr>
          </a:p>
        </p:txBody>
      </p:sp>
      <p:sp>
        <p:nvSpPr>
          <p:cNvPr id="318" name="Shape 2"/>
          <p:cNvSpPr/>
          <p:nvPr/>
        </p:nvSpPr>
        <p:spPr>
          <a:xfrm>
            <a:off x="1143000" y="3886200"/>
            <a:ext cx="7810200" cy="17618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9" name="Text 3"/>
          <p:cNvSpPr/>
          <p:nvPr/>
        </p:nvSpPr>
        <p:spPr>
          <a:xfrm>
            <a:off x="1442520" y="41666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TODAY</a:t>
            </a:r>
            <a:endParaRPr lang="en-US" sz="1800" b="0" u="none" strike="noStrike">
              <a:solidFill>
                <a:srgbClr val="000000"/>
              </a:solidFill>
              <a:effectLst/>
              <a:uFillTx/>
              <a:latin typeface="Arial"/>
            </a:endParaRPr>
          </a:p>
        </p:txBody>
      </p:sp>
      <p:pic>
        <p:nvPicPr>
          <p:cNvPr id="320" name="Image 0" descr="preencoded.png"/>
          <p:cNvPicPr/>
          <p:nvPr/>
        </p:nvPicPr>
        <p:blipFill>
          <a:blip r:embed="rId1">
            <a:extLst>
              <a:ext uri="{96DAC541-7B7A-43D3-8B79-37D633B846F1}">
                <asvg:svgBlip xmlns:asvg="http://schemas.microsoft.com/office/drawing/2016/SVG/main" r:embed="rId2"/>
              </a:ext>
            </a:extLst>
          </a:blip>
          <a:stretch/>
        </p:blipFill>
        <p:spPr>
          <a:xfrm>
            <a:off x="1442520" y="4635360"/>
            <a:ext cx="323280" cy="323280"/>
          </a:xfrm>
          <a:prstGeom prst="rect">
            <a:avLst/>
          </a:prstGeom>
          <a:noFill/>
          <a:ln w="0">
            <a:noFill/>
          </a:ln>
        </p:spPr>
      </p:pic>
      <p:sp>
        <p:nvSpPr>
          <p:cNvPr id="321" name="Text 4"/>
          <p:cNvSpPr/>
          <p:nvPr/>
        </p:nvSpPr>
        <p:spPr>
          <a:xfrm>
            <a:off x="1880640" y="4658400"/>
            <a:ext cx="1477080" cy="3150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1950" b="1" u="none" spc="-20" strike="noStrike">
                <a:solidFill>
                  <a:srgbClr val="201E1D"/>
                </a:solidFill>
                <a:effectLst/>
                <a:uFillTx/>
                <a:latin typeface="Arial"/>
                <a:ea typeface="Arial"/>
              </a:rPr>
              <a:t>Hours–days</a:t>
            </a:r>
            <a:endParaRPr lang="en-US" sz="1950" b="0" u="none" strike="noStrike">
              <a:solidFill>
                <a:srgbClr val="000000"/>
              </a:solidFill>
              <a:effectLst/>
              <a:uFillTx/>
              <a:latin typeface="Arial"/>
            </a:endParaRPr>
          </a:p>
        </p:txBody>
      </p:sp>
      <p:sp>
        <p:nvSpPr>
          <p:cNvPr id="322" name="Text 5"/>
          <p:cNvSpPr/>
          <p:nvPr/>
        </p:nvSpPr>
        <p:spPr>
          <a:xfrm>
            <a:off x="1442520" y="5073120"/>
            <a:ext cx="79318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re-typing 20+ packs by hand before anyone can even see the portfolio</a:t>
            </a:r>
            <a:endParaRPr lang="en-US" sz="1800" b="0" u="none" strike="noStrike">
              <a:solidFill>
                <a:srgbClr val="000000"/>
              </a:solidFill>
              <a:effectLst/>
              <a:uFillTx/>
              <a:latin typeface="Arial"/>
            </a:endParaRPr>
          </a:p>
        </p:txBody>
      </p:sp>
      <p:sp>
        <p:nvSpPr>
          <p:cNvPr id="323" name="Shape 6"/>
          <p:cNvSpPr/>
          <p:nvPr/>
        </p:nvSpPr>
        <p:spPr>
          <a:xfrm>
            <a:off x="9334440" y="3886200"/>
            <a:ext cx="7810200" cy="176184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4" name="Text 7"/>
          <p:cNvSpPr/>
          <p:nvPr/>
        </p:nvSpPr>
        <p:spPr>
          <a:xfrm>
            <a:off x="9638280" y="4171320"/>
            <a:ext cx="79225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WITH CONCORD</a:t>
            </a:r>
            <a:endParaRPr lang="en-US" sz="1800" b="0" u="none" strike="noStrike">
              <a:solidFill>
                <a:srgbClr val="000000"/>
              </a:solidFill>
              <a:effectLst/>
              <a:uFillTx/>
              <a:latin typeface="Arial"/>
            </a:endParaRPr>
          </a:p>
        </p:txBody>
      </p:sp>
      <p:pic>
        <p:nvPicPr>
          <p:cNvPr id="325" name="Image 1" descr="preencoded.png"/>
          <p:cNvPicPr/>
          <p:nvPr/>
        </p:nvPicPr>
        <p:blipFill>
          <a:blip r:embed="rId3">
            <a:extLst>
              <a:ext uri="{96DAC541-7B7A-43D3-8B79-37D633B846F1}">
                <asvg:svgBlip xmlns:asvg="http://schemas.microsoft.com/office/drawing/2016/SVG/main" r:embed="rId4"/>
              </a:ext>
            </a:extLst>
          </a:blip>
          <a:stretch/>
        </p:blipFill>
        <p:spPr>
          <a:xfrm>
            <a:off x="9638280" y="4639680"/>
            <a:ext cx="323280" cy="323280"/>
          </a:xfrm>
          <a:prstGeom prst="rect">
            <a:avLst/>
          </a:prstGeom>
          <a:noFill/>
          <a:ln w="0">
            <a:noFill/>
          </a:ln>
        </p:spPr>
      </p:pic>
      <p:sp>
        <p:nvSpPr>
          <p:cNvPr id="326" name="Text 8"/>
          <p:cNvSpPr/>
          <p:nvPr/>
        </p:nvSpPr>
        <p:spPr>
          <a:xfrm>
            <a:off x="10076400" y="4662720"/>
            <a:ext cx="1139760" cy="3150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7000"/>
              </a:lnSpc>
              <a:tabLst>
                <a:tab pos="0" algn="l"/>
              </a:tabLst>
            </a:pPr>
            <a:r>
              <a:rPr lang="en-US" sz="1950" b="1" u="none" spc="-20" strike="noStrike">
                <a:solidFill>
                  <a:srgbClr val="201E1D"/>
                </a:solidFill>
                <a:effectLst/>
                <a:uFillTx/>
                <a:latin typeface="Arial"/>
                <a:ea typeface="Arial"/>
              </a:rPr>
              <a:t>One click</a:t>
            </a:r>
            <a:endParaRPr lang="en-US" sz="1950" b="0" u="none" strike="noStrike">
              <a:solidFill>
                <a:srgbClr val="000000"/>
              </a:solidFill>
              <a:effectLst/>
              <a:uFillTx/>
              <a:latin typeface="Arial"/>
            </a:endParaRPr>
          </a:p>
        </p:txBody>
      </p:sp>
      <p:sp>
        <p:nvSpPr>
          <p:cNvPr id="327" name="Text 9"/>
          <p:cNvSpPr/>
          <p:nvPr/>
        </p:nvSpPr>
        <p:spPr>
          <a:xfrm>
            <a:off x="9638280" y="5077800"/>
            <a:ext cx="792252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 comparable, source-traced view — time goes to judgment, not typing</a:t>
            </a:r>
            <a:endParaRPr lang="en-US" sz="1800" b="0" u="none" strike="noStrike">
              <a:solidFill>
                <a:srgbClr val="000000"/>
              </a:solidFill>
              <a:effectLst/>
              <a:uFillTx/>
              <a:latin typeface="Arial"/>
            </a:endParaRPr>
          </a:p>
        </p:txBody>
      </p:sp>
      <p:sp>
        <p:nvSpPr>
          <p:cNvPr id="328" name="Shape 10"/>
          <p:cNvSpPr/>
          <p:nvPr/>
        </p:nvSpPr>
        <p:spPr>
          <a:xfrm>
            <a:off x="1143000" y="5896080"/>
            <a:ext cx="16001640" cy="726840"/>
          </a:xfrm>
          <a:prstGeom prst="rect">
            <a:avLst/>
          </a:prstGeom>
          <a:noFill/>
          <a:ln w="13912">
            <a:solidFill>
              <a:srgbClr val="201E1D"/>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9" name="Shape 11"/>
          <p:cNvSpPr/>
          <p:nvPr/>
        </p:nvSpPr>
        <p:spPr>
          <a:xfrm>
            <a:off x="1157040" y="5910120"/>
            <a:ext cx="3894120" cy="699120"/>
          </a:xfrm>
          <a:prstGeom prst="rect">
            <a:avLst/>
          </a:prstGeom>
          <a:solidFill>
            <a:srgbClr val="EAE9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0" name="Shape 12"/>
          <p:cNvSpPr/>
          <p:nvPr/>
        </p:nvSpPr>
        <p:spPr>
          <a:xfrm>
            <a:off x="1157040" y="6602400"/>
            <a:ext cx="3894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31" name="Shape 13"/>
          <p:cNvSpPr/>
          <p:nvPr/>
        </p:nvSpPr>
        <p:spPr>
          <a:xfrm>
            <a:off x="1157040" y="5910120"/>
            <a:ext cx="38941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32" name="Shape 14"/>
          <p:cNvSpPr/>
          <p:nvPr/>
        </p:nvSpPr>
        <p:spPr>
          <a:xfrm>
            <a:off x="1157040" y="5910120"/>
            <a:ext cx="9000" cy="69912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3" name="Shape 15"/>
          <p:cNvSpPr/>
          <p:nvPr/>
        </p:nvSpPr>
        <p:spPr>
          <a:xfrm>
            <a:off x="5037480" y="5910120"/>
            <a:ext cx="13680" cy="699120"/>
          </a:xfrm>
          <a:prstGeom prst="rect">
            <a:avLst/>
          </a:prstGeom>
          <a:solidFill>
            <a:srgbClr val="201E1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Text 16"/>
          <p:cNvSpPr/>
          <p:nvPr/>
        </p:nvSpPr>
        <p:spPr>
          <a:xfrm>
            <a:off x="1392480" y="6126480"/>
            <a:ext cx="375768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trike="noStrike">
                <a:solidFill>
                  <a:srgbClr val="201E1D"/>
                </a:solidFill>
                <a:effectLst/>
                <a:uFillTx/>
                <a:latin typeface="Arial"/>
                <a:ea typeface="Arial"/>
              </a:rPr>
              <a:t>typing saved</a:t>
            </a:r>
            <a:endParaRPr lang="en-US" sz="1800" b="0" u="none" strike="noStrike">
              <a:solidFill>
                <a:srgbClr val="000000"/>
              </a:solidFill>
              <a:effectLst/>
              <a:uFillTx/>
              <a:latin typeface="Arial"/>
            </a:endParaRPr>
          </a:p>
        </p:txBody>
      </p:sp>
      <p:sp>
        <p:nvSpPr>
          <p:cNvPr id="335" name="Shape 17"/>
          <p:cNvSpPr/>
          <p:nvPr/>
        </p:nvSpPr>
        <p:spPr>
          <a:xfrm>
            <a:off x="5051160" y="5910120"/>
            <a:ext cx="12079440" cy="699120"/>
          </a:xfrm>
          <a:prstGeom prst="rect">
            <a:avLst/>
          </a:prstGeom>
          <a:solidFill>
            <a:srgbClr val="EC301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6" name="Shape 18"/>
          <p:cNvSpPr/>
          <p:nvPr/>
        </p:nvSpPr>
        <p:spPr>
          <a:xfrm>
            <a:off x="5051160" y="6602400"/>
            <a:ext cx="120794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37" name="Shape 19"/>
          <p:cNvSpPr/>
          <p:nvPr/>
        </p:nvSpPr>
        <p:spPr>
          <a:xfrm>
            <a:off x="5051160" y="5910120"/>
            <a:ext cx="120794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38" name="Shape 20"/>
          <p:cNvSpPr/>
          <p:nvPr/>
        </p:nvSpPr>
        <p:spPr>
          <a:xfrm>
            <a:off x="5051160" y="5910120"/>
            <a:ext cx="9000" cy="69912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9" name="Text 21"/>
          <p:cNvSpPr/>
          <p:nvPr/>
        </p:nvSpPr>
        <p:spPr>
          <a:xfrm>
            <a:off x="5286960" y="6126480"/>
            <a:ext cx="127767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1" u="none" strike="noStrike">
                <a:solidFill>
                  <a:srgbClr val="F3F2F2"/>
                </a:solidFill>
                <a:effectLst/>
                <a:uFillTx/>
                <a:latin typeface="Arial"/>
                <a:ea typeface="Arial"/>
              </a:rPr>
              <a:t>a wrong number caught before the investment committee </a:t>
            </a:r>
            <a:r>
              <a:rPr lang="en-US" sz="1800" b="0" u="none" strike="noStrike">
                <a:solidFill>
                  <a:srgbClr val="F3F2F2"/>
                </a:solidFill>
                <a:effectLst/>
                <a:uFillTx/>
                <a:latin typeface="Arial"/>
                <a:ea typeface="Arial"/>
              </a:rPr>
              <a:t>— worth far more</a:t>
            </a:r>
            <a:endParaRPr lang="en-US" sz="1800" b="0" u="none" strike="noStrike">
              <a:solidFill>
                <a:srgbClr val="000000"/>
              </a:solidFill>
              <a:effectLst/>
              <a:uFillTx/>
              <a:latin typeface="Arial"/>
            </a:endParaRPr>
          </a:p>
        </p:txBody>
      </p:sp>
      <p:sp>
        <p:nvSpPr>
          <p:cNvPr id="340" name="Text 22"/>
          <p:cNvSpPr/>
          <p:nvPr/>
        </p:nvSpPr>
        <p:spPr>
          <a:xfrm>
            <a:off x="1143000" y="715248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Qualitative only — no invented hours, no dollar figure, no fund-return math.</a:t>
            </a:r>
            <a:endParaRPr lang="en-US" sz="1800" b="0" u="none" strike="noStrike">
              <a:solidFill>
                <a:srgbClr val="000000"/>
              </a:solidFill>
              <a:effectLst/>
              <a:uFillTx/>
              <a:latin typeface="Arial"/>
            </a:endParaRPr>
          </a:p>
        </p:txBody>
      </p:sp>
      <p:pic>
        <p:nvPicPr>
          <p:cNvPr id="341" name="Image 2" descr="preencoded.png"/>
          <p:cNvPicPr/>
          <p:nvPr/>
        </p:nvPicPr>
        <p:blipFill>
          <a:blip r:embed="rId5"/>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42" name="Text 0"/>
          <p:cNvSpPr/>
          <p:nvPr/>
        </p:nvSpPr>
        <p:spPr>
          <a:xfrm>
            <a:off x="1143000" y="3000960"/>
            <a:ext cx="17601840" cy="45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5000"/>
              </a:lnSpc>
              <a:tabLst>
                <a:tab pos="0" algn="l"/>
              </a:tabLst>
            </a:pPr>
            <a:r>
              <a:rPr lang="en-US" sz="2100" b="1" u="none" spc="167" strike="noStrike">
                <a:solidFill>
                  <a:srgbClr val="EC3013"/>
                </a:solidFill>
                <a:effectLst/>
                <a:uFillTx/>
                <a:latin typeface="Arial"/>
                <a:ea typeface="Arial"/>
              </a:rPr>
              <a:t>▶ LIVE DEMO</a:t>
            </a:r>
            <a:endParaRPr lang="en-US" sz="2100" b="0" u="none" strike="noStrike">
              <a:solidFill>
                <a:srgbClr val="000000"/>
              </a:solidFill>
              <a:effectLst/>
              <a:uFillTx/>
              <a:latin typeface="Arial"/>
            </a:endParaRPr>
          </a:p>
        </p:txBody>
      </p:sp>
      <p:pic>
        <p:nvPicPr>
          <p:cNvPr id="343" name="Image 0" descr="preencoded.png"/>
          <p:cNvPicPr/>
          <p:nvPr/>
        </p:nvPicPr>
        <p:blipFill>
          <a:blip r:embed="rId1">
            <a:extLst>
              <a:ext uri="{96DAC541-7B7A-43D3-8B79-37D633B846F1}">
                <asvg:svgBlip xmlns:asvg="http://schemas.microsoft.com/office/drawing/2016/SVG/main" r:embed="rId2"/>
              </a:ext>
            </a:extLst>
          </a:blip>
          <a:stretch/>
        </p:blipFill>
        <p:spPr>
          <a:xfrm>
            <a:off x="1143000" y="3961080"/>
            <a:ext cx="1237680" cy="799560"/>
          </a:xfrm>
          <a:prstGeom prst="rect">
            <a:avLst/>
          </a:prstGeom>
          <a:noFill/>
          <a:ln w="0">
            <a:noFill/>
          </a:ln>
        </p:spPr>
      </p:pic>
      <p:sp>
        <p:nvSpPr>
          <p:cNvPr id="344" name="Text 1"/>
          <p:cNvSpPr/>
          <p:nvPr/>
        </p:nvSpPr>
        <p:spPr>
          <a:xfrm>
            <a:off x="2666880" y="3795120"/>
            <a:ext cx="5240880" cy="1169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8000"/>
              </a:lnSpc>
              <a:tabLst>
                <a:tab pos="0" algn="l"/>
              </a:tabLst>
            </a:pPr>
            <a:r>
              <a:rPr lang="en-US" sz="9900" b="1" u="none" spc="-198" strike="noStrike">
                <a:solidFill>
                  <a:srgbClr val="201E1D"/>
                </a:solidFill>
                <a:effectLst/>
                <a:uFillTx/>
                <a:latin typeface="Arial"/>
                <a:ea typeface="Arial"/>
              </a:rPr>
              <a:t>Concord</a:t>
            </a:r>
            <a:endParaRPr lang="en-US" sz="9900" b="0" u="none" strike="noStrike">
              <a:solidFill>
                <a:srgbClr val="000000"/>
              </a:solidFill>
              <a:effectLst/>
              <a:uFillTx/>
              <a:latin typeface="Arial"/>
            </a:endParaRPr>
          </a:p>
        </p:txBody>
      </p:sp>
      <p:sp>
        <p:nvSpPr>
          <p:cNvPr id="345" name="Text 2"/>
          <p:cNvSpPr/>
          <p:nvPr/>
        </p:nvSpPr>
        <p:spPr>
          <a:xfrm>
            <a:off x="1143000" y="5307840"/>
            <a:ext cx="8541360" cy="9788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2000"/>
              </a:lnSpc>
              <a:tabLst>
                <a:tab pos="0" algn="l"/>
              </a:tabLst>
            </a:pPr>
            <a:r>
              <a:rPr lang="en-US" sz="2850" b="0" u="none" strike="noStrike">
                <a:solidFill>
                  <a:srgbClr val="201D1D">
                    <a:alpha val="68000"/>
                  </a:srgbClr>
                </a:solidFill>
                <a:effectLst/>
                <a:uFillTx/>
                <a:latin typeface="Arial"/>
                <a:ea typeface="Arial"/>
              </a:rPr>
              <a:t>One comparable, source-traced view of every portfolio company — run live and offline.</a:t>
            </a:r>
            <a:endParaRPr lang="en-US" sz="2850" b="0" u="none" strike="noStrike">
              <a:solidFill>
                <a:srgbClr val="000000"/>
              </a:solidFill>
              <a:effectLst/>
              <a:uFillTx/>
              <a:latin typeface="Arial"/>
            </a:endParaRPr>
          </a:p>
        </p:txBody>
      </p:sp>
      <p:sp>
        <p:nvSpPr>
          <p:cNvPr id="346" name="Shape 3"/>
          <p:cNvSpPr/>
          <p:nvPr/>
        </p:nvSpPr>
        <p:spPr>
          <a:xfrm>
            <a:off x="1143000" y="6629760"/>
            <a:ext cx="96156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7" name="Text 4"/>
          <p:cNvSpPr/>
          <p:nvPr/>
        </p:nvSpPr>
        <p:spPr>
          <a:xfrm>
            <a:off x="1299600" y="6729480"/>
            <a:ext cx="72396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offline</a:t>
            </a:r>
            <a:endParaRPr lang="en-US" sz="1800" b="0" u="none" strike="noStrike">
              <a:solidFill>
                <a:srgbClr val="000000"/>
              </a:solidFill>
              <a:effectLst/>
              <a:uFillTx/>
              <a:latin typeface="Arial"/>
            </a:endParaRPr>
          </a:p>
        </p:txBody>
      </p:sp>
      <p:sp>
        <p:nvSpPr>
          <p:cNvPr id="348" name="Shape 5"/>
          <p:cNvSpPr/>
          <p:nvPr/>
        </p:nvSpPr>
        <p:spPr>
          <a:xfrm>
            <a:off x="2257200" y="6629760"/>
            <a:ext cx="168300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9" name="Text 6"/>
          <p:cNvSpPr/>
          <p:nvPr/>
        </p:nvSpPr>
        <p:spPr>
          <a:xfrm>
            <a:off x="2413800" y="6729480"/>
            <a:ext cx="144576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deterministic</a:t>
            </a:r>
            <a:endParaRPr lang="en-US" sz="1800" b="0" u="none" strike="noStrike">
              <a:solidFill>
                <a:srgbClr val="000000"/>
              </a:solidFill>
              <a:effectLst/>
              <a:uFillTx/>
              <a:latin typeface="Arial"/>
            </a:endParaRPr>
          </a:p>
        </p:txBody>
      </p:sp>
      <p:sp>
        <p:nvSpPr>
          <p:cNvPr id="350" name="Shape 7"/>
          <p:cNvSpPr/>
          <p:nvPr/>
        </p:nvSpPr>
        <p:spPr>
          <a:xfrm>
            <a:off x="4092840" y="6629760"/>
            <a:ext cx="237096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1" name="Text 8"/>
          <p:cNvSpPr/>
          <p:nvPr/>
        </p:nvSpPr>
        <p:spPr>
          <a:xfrm>
            <a:off x="4249800" y="6729480"/>
            <a:ext cx="213336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provenance-tagged</a:t>
            </a:r>
            <a:endParaRPr lang="en-US" sz="1800" b="0" u="none" strike="noStrike">
              <a:solidFill>
                <a:srgbClr val="000000"/>
              </a:solidFill>
              <a:effectLst/>
              <a:uFillTx/>
              <a:latin typeface="Arial"/>
            </a:endParaRPr>
          </a:p>
        </p:txBody>
      </p:sp>
      <p:sp>
        <p:nvSpPr>
          <p:cNvPr id="352" name="Text 9"/>
          <p:cNvSpPr/>
          <p:nvPr/>
        </p:nvSpPr>
        <p:spPr>
          <a:xfrm>
            <a:off x="1143000" y="8987040"/>
            <a:ext cx="233676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Run live from the app</a:t>
            </a:r>
            <a:endParaRPr lang="en-US" sz="1800" b="0" u="none" strike="noStrike">
              <a:solidFill>
                <a:srgbClr val="000000"/>
              </a:solidFill>
              <a:effectLst/>
              <a:uFillTx/>
              <a:latin typeface="Arial"/>
            </a:endParaRPr>
          </a:p>
        </p:txBody>
      </p:sp>
      <p:sp>
        <p:nvSpPr>
          <p:cNvPr id="353" name="Text 10"/>
          <p:cNvSpPr/>
          <p:nvPr/>
        </p:nvSpPr>
        <p:spPr>
          <a:xfrm>
            <a:off x="3439080" y="8987040"/>
            <a:ext cx="151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354" name="Text 11"/>
          <p:cNvSpPr/>
          <p:nvPr/>
        </p:nvSpPr>
        <p:spPr>
          <a:xfrm>
            <a:off x="3686400" y="8987040"/>
            <a:ext cx="638136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the three beats and every caveat are spoken, not on slides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55"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a:t>
            </a:r>
            <a:endParaRPr lang="en-US" sz="1800" b="0" u="none" strike="noStrike">
              <a:solidFill>
                <a:srgbClr val="000000"/>
              </a:solidFill>
              <a:effectLst/>
              <a:uFillTx/>
              <a:latin typeface="Arial"/>
            </a:endParaRPr>
          </a:p>
        </p:txBody>
      </p:sp>
      <p:sp>
        <p:nvSpPr>
          <p:cNvPr id="356"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Reliability isn't more AI — it's more agreement, more human judgment, and a record of both</a:t>
            </a:r>
            <a:endParaRPr lang="en-US" sz="4800" b="0" u="none" strike="noStrike">
              <a:solidFill>
                <a:srgbClr val="000000"/>
              </a:solidFill>
              <a:effectLst/>
              <a:uFillTx/>
              <a:latin typeface="Arial"/>
            </a:endParaRPr>
          </a:p>
        </p:txBody>
      </p:sp>
      <p:sp>
        <p:nvSpPr>
          <p:cNvPr id="357" name="Shape 2"/>
          <p:cNvSpPr/>
          <p:nvPr/>
        </p:nvSpPr>
        <p:spPr>
          <a:xfrm>
            <a:off x="1143000" y="3886200"/>
            <a:ext cx="5130360" cy="2284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58" name="Image 0" descr="preencoded.png"/>
          <p:cNvPicPr/>
          <p:nvPr/>
        </p:nvPicPr>
        <p:blipFill>
          <a:blip r:embed="rId1">
            <a:extLst>
              <a:ext uri="{96DAC541-7B7A-43D3-8B79-37D633B846F1}">
                <asvg:svgBlip xmlns:asvg="http://schemas.microsoft.com/office/drawing/2016/SVG/main" r:embed="rId2"/>
              </a:ext>
            </a:extLst>
          </a:blip>
          <a:stretch/>
        </p:blipFill>
        <p:spPr>
          <a:xfrm>
            <a:off x="1461600" y="4223880"/>
            <a:ext cx="437760" cy="437760"/>
          </a:xfrm>
          <a:prstGeom prst="rect">
            <a:avLst/>
          </a:prstGeom>
          <a:noFill/>
          <a:ln w="0">
            <a:noFill/>
          </a:ln>
        </p:spPr>
      </p:pic>
      <p:sp>
        <p:nvSpPr>
          <p:cNvPr id="359" name="Text 3"/>
          <p:cNvSpPr/>
          <p:nvPr/>
        </p:nvSpPr>
        <p:spPr>
          <a:xfrm>
            <a:off x="1461600" y="481464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More agreement</a:t>
            </a:r>
            <a:endParaRPr lang="en-US" sz="2020" b="0" u="none" strike="noStrike">
              <a:solidFill>
                <a:srgbClr val="000000"/>
              </a:solidFill>
              <a:effectLst/>
              <a:uFillTx/>
              <a:latin typeface="Arial"/>
            </a:endParaRPr>
          </a:p>
        </p:txBody>
      </p:sp>
      <p:sp>
        <p:nvSpPr>
          <p:cNvPr id="360" name="Text 4"/>
          <p:cNvSpPr/>
          <p:nvPr/>
        </p:nvSpPr>
        <p:spPr>
          <a:xfrm>
            <a:off x="1461600" y="5262480"/>
            <a:ext cx="4627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independent readers that fail differently — the ensemble raises warnings</a:t>
            </a:r>
            <a:endParaRPr lang="en-US" sz="1800" b="0" u="none" strike="noStrike">
              <a:solidFill>
                <a:srgbClr val="000000"/>
              </a:solidFill>
              <a:effectLst/>
              <a:uFillTx/>
              <a:latin typeface="Arial"/>
            </a:endParaRPr>
          </a:p>
        </p:txBody>
      </p:sp>
      <p:sp>
        <p:nvSpPr>
          <p:cNvPr id="361" name="Shape 5"/>
          <p:cNvSpPr/>
          <p:nvPr/>
        </p:nvSpPr>
        <p:spPr>
          <a:xfrm>
            <a:off x="6578640" y="3886200"/>
            <a:ext cx="5130360" cy="2284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62" name="Image 1" descr="preencoded.png"/>
          <p:cNvPicPr/>
          <p:nvPr/>
        </p:nvPicPr>
        <p:blipFill>
          <a:blip r:embed="rId3">
            <a:extLst>
              <a:ext uri="{96DAC541-7B7A-43D3-8B79-37D633B846F1}">
                <asvg:svgBlip xmlns:asvg="http://schemas.microsoft.com/office/drawing/2016/SVG/main" r:embed="rId4"/>
              </a:ext>
            </a:extLst>
          </a:blip>
          <a:stretch/>
        </p:blipFill>
        <p:spPr>
          <a:xfrm>
            <a:off x="6897240" y="4223880"/>
            <a:ext cx="437760" cy="437760"/>
          </a:xfrm>
          <a:prstGeom prst="rect">
            <a:avLst/>
          </a:prstGeom>
          <a:noFill/>
          <a:ln w="0">
            <a:noFill/>
          </a:ln>
        </p:spPr>
      </p:pic>
      <p:sp>
        <p:nvSpPr>
          <p:cNvPr id="363" name="Text 6"/>
          <p:cNvSpPr/>
          <p:nvPr/>
        </p:nvSpPr>
        <p:spPr>
          <a:xfrm>
            <a:off x="6897240" y="481464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More human judgment</a:t>
            </a:r>
            <a:endParaRPr lang="en-US" sz="2020" b="0" u="none" strike="noStrike">
              <a:solidFill>
                <a:srgbClr val="000000"/>
              </a:solidFill>
              <a:effectLst/>
              <a:uFillTx/>
              <a:latin typeface="Arial"/>
            </a:endParaRPr>
          </a:p>
        </p:txBody>
      </p:sp>
      <p:sp>
        <p:nvSpPr>
          <p:cNvPr id="364" name="Text 7"/>
          <p:cNvSpPr/>
          <p:nvPr/>
        </p:nvSpPr>
        <p:spPr>
          <a:xfrm>
            <a:off x="6897240" y="5262480"/>
            <a:ext cx="4627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the machine flags; a human decides every call that reaches a report</a:t>
            </a:r>
            <a:endParaRPr lang="en-US" sz="1800" b="0" u="none" strike="noStrike">
              <a:solidFill>
                <a:srgbClr val="000000"/>
              </a:solidFill>
              <a:effectLst/>
              <a:uFillTx/>
              <a:latin typeface="Arial"/>
            </a:endParaRPr>
          </a:p>
        </p:txBody>
      </p:sp>
      <p:sp>
        <p:nvSpPr>
          <p:cNvPr id="365" name="Shape 8"/>
          <p:cNvSpPr/>
          <p:nvPr/>
        </p:nvSpPr>
        <p:spPr>
          <a:xfrm>
            <a:off x="12014280" y="3886200"/>
            <a:ext cx="5130360" cy="2284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66" name="Image 2" descr="preencoded.png"/>
          <p:cNvPicPr/>
          <p:nvPr/>
        </p:nvPicPr>
        <p:blipFill>
          <a:blip r:embed="rId5">
            <a:extLst>
              <a:ext uri="{96DAC541-7B7A-43D3-8B79-37D633B846F1}">
                <asvg:svgBlip xmlns:asvg="http://schemas.microsoft.com/office/drawing/2016/SVG/main" r:embed="rId6"/>
              </a:ext>
            </a:extLst>
          </a:blip>
          <a:stretch/>
        </p:blipFill>
        <p:spPr>
          <a:xfrm>
            <a:off x="12332880" y="4223880"/>
            <a:ext cx="437760" cy="437760"/>
          </a:xfrm>
          <a:prstGeom prst="rect">
            <a:avLst/>
          </a:prstGeom>
          <a:noFill/>
          <a:ln w="0">
            <a:noFill/>
          </a:ln>
        </p:spPr>
      </p:pic>
      <p:sp>
        <p:nvSpPr>
          <p:cNvPr id="367" name="Text 9"/>
          <p:cNvSpPr/>
          <p:nvPr/>
        </p:nvSpPr>
        <p:spPr>
          <a:xfrm>
            <a:off x="12332880" y="481464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A record of both</a:t>
            </a:r>
            <a:endParaRPr lang="en-US" sz="2020" b="0" u="none" strike="noStrike">
              <a:solidFill>
                <a:srgbClr val="000000"/>
              </a:solidFill>
              <a:effectLst/>
              <a:uFillTx/>
              <a:latin typeface="Arial"/>
            </a:endParaRPr>
          </a:p>
        </p:txBody>
      </p:sp>
      <p:sp>
        <p:nvSpPr>
          <p:cNvPr id="368" name="Text 10"/>
          <p:cNvSpPr/>
          <p:nvPr/>
        </p:nvSpPr>
        <p:spPr>
          <a:xfrm>
            <a:off x="12332880" y="5262480"/>
            <a:ext cx="4627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 permanent, exportable trail — who decided what, and why</a:t>
            </a:r>
            <a:endParaRPr lang="en-US" sz="1800" b="0" u="none" strike="noStrike">
              <a:solidFill>
                <a:srgbClr val="000000"/>
              </a:solidFill>
              <a:effectLst/>
              <a:uFillTx/>
              <a:latin typeface="Arial"/>
            </a:endParaRPr>
          </a:p>
        </p:txBody>
      </p:sp>
      <p:sp>
        <p:nvSpPr>
          <p:cNvPr id="369" name="Text 11"/>
          <p:cNvSpPr/>
          <p:nvPr/>
        </p:nvSpPr>
        <p:spPr>
          <a:xfrm>
            <a:off x="1143000" y="670068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Everything in this section is </a:t>
            </a:r>
            <a:r>
              <a:rPr lang="en-US" sz="1800" b="1" u="none" strike="noStrike">
                <a:solidFill>
                  <a:srgbClr val="201E1D"/>
                </a:solidFill>
                <a:effectLst/>
                <a:uFillTx/>
                <a:latin typeface="Arial"/>
                <a:ea typeface="Arial"/>
              </a:rPr>
              <a:t>designed, not built </a:t>
            </a:r>
            <a:r>
              <a:rPr lang="en-US" sz="1800" b="0" u="none" strike="noStrike">
                <a:solidFill>
                  <a:srgbClr val="211D1D">
                    <a:alpha val="55000"/>
                  </a:srgbClr>
                </a:solidFill>
                <a:effectLst/>
                <a:uFillTx/>
                <a:latin typeface="Arial"/>
                <a:ea typeface="Arial"/>
              </a:rPr>
              <a:t>— four I'll walk through, all roadmap.</a:t>
            </a:r>
            <a:endParaRPr lang="en-US" sz="1800" b="0" u="none" strike="noStrike">
              <a:solidFill>
                <a:srgbClr val="000000"/>
              </a:solidFill>
              <a:effectLst/>
              <a:uFillTx/>
              <a:latin typeface="Arial"/>
            </a:endParaRPr>
          </a:p>
        </p:txBody>
      </p:sp>
      <p:pic>
        <p:nvPicPr>
          <p:cNvPr id="370" name="Image 3" descr="preencoded.png"/>
          <p:cNvPicPr/>
          <p:nvPr/>
        </p:nvPicPr>
        <p:blipFill>
          <a:blip r:embed="rId7"/>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71"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 · GROUP A</a:t>
            </a:r>
            <a:endParaRPr lang="en-US" sz="1800" b="0" u="none" strike="noStrike">
              <a:solidFill>
                <a:srgbClr val="000000"/>
              </a:solidFill>
              <a:effectLst/>
              <a:uFillTx/>
              <a:latin typeface="Arial"/>
            </a:endParaRPr>
          </a:p>
        </p:txBody>
      </p:sp>
      <p:sp>
        <p:nvSpPr>
          <p:cNvPr id="372"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Correlated readers can outvote the one that's right — so independence, not count, decides</a:t>
            </a:r>
            <a:endParaRPr lang="en-US" sz="4800" b="0" u="none" strike="noStrike">
              <a:solidFill>
                <a:srgbClr val="000000"/>
              </a:solidFill>
              <a:effectLst/>
              <a:uFillTx/>
              <a:latin typeface="Arial"/>
            </a:endParaRPr>
          </a:p>
        </p:txBody>
      </p:sp>
      <p:sp>
        <p:nvSpPr>
          <p:cNvPr id="373" name="Shape 2"/>
          <p:cNvSpPr/>
          <p:nvPr/>
        </p:nvSpPr>
        <p:spPr>
          <a:xfrm>
            <a:off x="1143000" y="3986640"/>
            <a:ext cx="5177880" cy="556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4" name="Text 3"/>
          <p:cNvSpPr/>
          <p:nvPr/>
        </p:nvSpPr>
        <p:spPr>
          <a:xfrm>
            <a:off x="1328400" y="4133880"/>
            <a:ext cx="52880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Firecrawl </a:t>
            </a:r>
            <a:r>
              <a:rPr lang="en-US" sz="1800" b="0" u="none" spc="-17" strike="noStrike">
                <a:solidFill>
                  <a:srgbClr val="211D1D">
                    <a:alpha val="55000"/>
                  </a:srgbClr>
                </a:solidFill>
                <a:effectLst/>
                <a:uFillTx/>
                <a:latin typeface="Arial"/>
                <a:ea typeface="Arial"/>
              </a:rPr>
              <a:t>— flattens odd tables</a:t>
            </a:r>
            <a:endParaRPr lang="en-US" sz="1800" b="0" u="none" strike="noStrike">
              <a:solidFill>
                <a:srgbClr val="000000"/>
              </a:solidFill>
              <a:effectLst/>
              <a:uFillTx/>
              <a:latin typeface="Arial"/>
            </a:endParaRPr>
          </a:p>
        </p:txBody>
      </p:sp>
      <p:sp>
        <p:nvSpPr>
          <p:cNvPr id="375" name="Shape 4"/>
          <p:cNvSpPr/>
          <p:nvPr/>
        </p:nvSpPr>
        <p:spPr>
          <a:xfrm>
            <a:off x="1143000" y="4629240"/>
            <a:ext cx="5177880" cy="556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5"/>
          <p:cNvSpPr/>
          <p:nvPr/>
        </p:nvSpPr>
        <p:spPr>
          <a:xfrm>
            <a:off x="1328400" y="4776480"/>
            <a:ext cx="52880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Doc-AI / OCR </a:t>
            </a:r>
            <a:r>
              <a:rPr lang="en-US" sz="1800" b="0" u="none" spc="-17" strike="noStrike">
                <a:solidFill>
                  <a:srgbClr val="211D1D">
                    <a:alpha val="55000"/>
                  </a:srgbClr>
                </a:solidFill>
                <a:effectLst/>
                <a:uFillTx/>
                <a:latin typeface="Arial"/>
                <a:ea typeface="Arial"/>
              </a:rPr>
              <a:t>— fails quietly</a:t>
            </a:r>
            <a:endParaRPr lang="en-US" sz="1800" b="0" u="none" strike="noStrike">
              <a:solidFill>
                <a:srgbClr val="000000"/>
              </a:solidFill>
              <a:effectLst/>
              <a:uFillTx/>
              <a:latin typeface="Arial"/>
            </a:endParaRPr>
          </a:p>
        </p:txBody>
      </p:sp>
      <p:sp>
        <p:nvSpPr>
          <p:cNvPr id="377" name="Shape 6"/>
          <p:cNvSpPr/>
          <p:nvPr/>
        </p:nvSpPr>
        <p:spPr>
          <a:xfrm>
            <a:off x="1143000" y="5272200"/>
            <a:ext cx="5177880" cy="55692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8" name="Text 7"/>
          <p:cNvSpPr/>
          <p:nvPr/>
        </p:nvSpPr>
        <p:spPr>
          <a:xfrm>
            <a:off x="1328400" y="5419440"/>
            <a:ext cx="52880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Vision-LLM </a:t>
            </a:r>
            <a:r>
              <a:rPr lang="en-US" sz="1800" b="0" u="none" spc="-17" strike="noStrike">
                <a:solidFill>
                  <a:srgbClr val="211D1D">
                    <a:alpha val="55000"/>
                  </a:srgbClr>
                </a:solidFill>
                <a:effectLst/>
                <a:uFillTx/>
                <a:latin typeface="Arial"/>
                <a:ea typeface="Arial"/>
              </a:rPr>
              <a:t>— fails silently</a:t>
            </a:r>
            <a:endParaRPr lang="en-US" sz="1800" b="0" u="none" strike="noStrike">
              <a:solidFill>
                <a:srgbClr val="000000"/>
              </a:solidFill>
              <a:effectLst/>
              <a:uFillTx/>
              <a:latin typeface="Arial"/>
            </a:endParaRPr>
          </a:p>
        </p:txBody>
      </p:sp>
      <p:sp>
        <p:nvSpPr>
          <p:cNvPr id="379" name="Text 8"/>
          <p:cNvSpPr/>
          <p:nvPr/>
        </p:nvSpPr>
        <p:spPr>
          <a:xfrm>
            <a:off x="1143000" y="5933880"/>
            <a:ext cx="5333400" cy="746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45" strike="noStrike">
                <a:solidFill>
                  <a:srgbClr val="211D1D">
                    <a:alpha val="55000"/>
                  </a:srgbClr>
                </a:solidFill>
                <a:effectLst/>
                <a:uFillTx/>
                <a:latin typeface="Arial"/>
                <a:ea typeface="Arial"/>
              </a:rPr>
              <a:t>DIFFERENT MECHANISMS → ERRORS DECORRELATE</a:t>
            </a:r>
            <a:endParaRPr lang="en-US" sz="1800" b="0" u="none" strike="noStrike">
              <a:solidFill>
                <a:srgbClr val="000000"/>
              </a:solidFill>
              <a:effectLst/>
              <a:uFillTx/>
              <a:latin typeface="Arial"/>
            </a:endParaRPr>
          </a:p>
        </p:txBody>
      </p:sp>
      <p:sp>
        <p:nvSpPr>
          <p:cNvPr id="380" name="Text 9"/>
          <p:cNvSpPr/>
          <p:nvPr/>
        </p:nvSpPr>
        <p:spPr>
          <a:xfrm>
            <a:off x="6473520" y="516204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381" name="Shape 10"/>
          <p:cNvSpPr/>
          <p:nvPr/>
        </p:nvSpPr>
        <p:spPr>
          <a:xfrm>
            <a:off x="6930720" y="4371120"/>
            <a:ext cx="4876560" cy="188640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2" name="Text 11"/>
          <p:cNvSpPr/>
          <p:nvPr/>
        </p:nvSpPr>
        <p:spPr>
          <a:xfrm>
            <a:off x="7230240" y="4651560"/>
            <a:ext cx="47052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ORCHESTRATOR</a:t>
            </a:r>
            <a:endParaRPr lang="en-US" sz="1800" b="0" u="none" strike="noStrike">
              <a:solidFill>
                <a:srgbClr val="000000"/>
              </a:solidFill>
              <a:effectLst/>
              <a:uFillTx/>
              <a:latin typeface="Arial"/>
            </a:endParaRPr>
          </a:p>
        </p:txBody>
      </p:sp>
      <p:sp>
        <p:nvSpPr>
          <p:cNvPr id="383" name="Text 12"/>
          <p:cNvSpPr/>
          <p:nvPr/>
        </p:nvSpPr>
        <p:spPr>
          <a:xfrm>
            <a:off x="7230240" y="5120280"/>
            <a:ext cx="4405680" cy="8949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compares normalized tuples · weights independence, not just the vote · tiered consensus</a:t>
            </a:r>
            <a:endParaRPr lang="en-US" sz="1800" b="0" u="none" strike="noStrike">
              <a:solidFill>
                <a:srgbClr val="000000"/>
              </a:solidFill>
              <a:effectLst/>
              <a:uFillTx/>
              <a:latin typeface="Arial"/>
            </a:endParaRPr>
          </a:p>
        </p:txBody>
      </p:sp>
      <p:sp>
        <p:nvSpPr>
          <p:cNvPr id="384" name="Text 13"/>
          <p:cNvSpPr/>
          <p:nvPr/>
        </p:nvSpPr>
        <p:spPr>
          <a:xfrm>
            <a:off x="11959920" y="516204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385" name="Shape 14"/>
          <p:cNvSpPr/>
          <p:nvPr/>
        </p:nvSpPr>
        <p:spPr>
          <a:xfrm>
            <a:off x="12417120" y="3886200"/>
            <a:ext cx="4727520" cy="12236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6" name="Text 15"/>
          <p:cNvSpPr/>
          <p:nvPr/>
        </p:nvSpPr>
        <p:spPr>
          <a:xfrm>
            <a:off x="12716640" y="4166640"/>
            <a:ext cx="45410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 Validated</a:t>
            </a:r>
            <a:endParaRPr lang="en-US" sz="1800" b="0" u="none" strike="noStrike">
              <a:solidFill>
                <a:srgbClr val="000000"/>
              </a:solidFill>
              <a:effectLst/>
              <a:uFillTx/>
              <a:latin typeface="Arial"/>
            </a:endParaRPr>
          </a:p>
        </p:txBody>
      </p:sp>
      <p:sp>
        <p:nvSpPr>
          <p:cNvPr id="387" name="Text 16"/>
          <p:cNvSpPr/>
          <p:nvPr/>
        </p:nvSpPr>
        <p:spPr>
          <a:xfrm>
            <a:off x="12716640" y="4543920"/>
            <a:ext cx="45410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all agree within tolerance → auto-trust</a:t>
            </a:r>
            <a:endParaRPr lang="en-US" sz="1800" b="0" u="none" strike="noStrike">
              <a:solidFill>
                <a:srgbClr val="000000"/>
              </a:solidFill>
              <a:effectLst/>
              <a:uFillTx/>
              <a:latin typeface="Arial"/>
            </a:endParaRPr>
          </a:p>
        </p:txBody>
      </p:sp>
      <p:sp>
        <p:nvSpPr>
          <p:cNvPr id="388" name="Shape 17"/>
          <p:cNvSpPr/>
          <p:nvPr/>
        </p:nvSpPr>
        <p:spPr>
          <a:xfrm>
            <a:off x="12417120" y="5224320"/>
            <a:ext cx="4727520" cy="151812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9" name="Text 18"/>
          <p:cNvSpPr/>
          <p:nvPr/>
        </p:nvSpPr>
        <p:spPr>
          <a:xfrm>
            <a:off x="12720960" y="5509440"/>
            <a:ext cx="453168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AE1800"/>
                </a:solidFill>
                <a:effectLst/>
                <a:uFillTx/>
                <a:latin typeface="Arial"/>
                <a:ea typeface="Arial"/>
              </a:rPr>
              <a:t>⚠ Disagree</a:t>
            </a:r>
            <a:endParaRPr lang="en-US" sz="1800" b="0" u="none" strike="noStrike">
              <a:solidFill>
                <a:srgbClr val="000000"/>
              </a:solidFill>
              <a:effectLst/>
              <a:uFillTx/>
              <a:latin typeface="Arial"/>
            </a:endParaRPr>
          </a:p>
        </p:txBody>
      </p:sp>
      <p:sp>
        <p:nvSpPr>
          <p:cNvPr id="390" name="Text 19"/>
          <p:cNvSpPr/>
          <p:nvPr/>
        </p:nvSpPr>
        <p:spPr>
          <a:xfrm>
            <a:off x="12720960" y="5886360"/>
            <a:ext cx="424332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no quorum, or the most-trusted dissents → human queue</a:t>
            </a:r>
            <a:endParaRPr lang="en-US" sz="1800" b="0" u="none" strike="noStrike">
              <a:solidFill>
                <a:srgbClr val="000000"/>
              </a:solidFill>
              <a:effectLst/>
              <a:uFillTx/>
              <a:latin typeface="Arial"/>
            </a:endParaRPr>
          </a:p>
        </p:txBody>
      </p:sp>
      <p:sp>
        <p:nvSpPr>
          <p:cNvPr id="391" name="Text 20"/>
          <p:cNvSpPr/>
          <p:nvPr/>
        </p:nvSpPr>
        <p:spPr>
          <a:xfrm>
            <a:off x="1143000" y="69714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3 copies of one model share blind spots — </a:t>
            </a:r>
            <a:r>
              <a:rPr lang="en-US" sz="1800" b="1" u="none" strike="noStrike">
                <a:solidFill>
                  <a:srgbClr val="201E1D"/>
                </a:solidFill>
                <a:effectLst/>
                <a:uFillTx/>
                <a:latin typeface="Arial"/>
                <a:ea typeface="Arial"/>
              </a:rPr>
              <a:t>confidently wrong the same way </a:t>
            </a:r>
            <a:r>
              <a:rPr lang="en-US" sz="1800" b="0" u="none" strike="noStrike">
                <a:solidFill>
                  <a:srgbClr val="211D1D">
                    <a:alpha val="55000"/>
                  </a:srgbClr>
                </a:solidFill>
                <a:effectLst/>
                <a:uFillTx/>
                <a:latin typeface="Arial"/>
                <a:ea typeface="Arial"/>
              </a:rPr>
              <a:t>(correlated failure). Independence, not count, decides.</a:t>
            </a:r>
            <a:endParaRPr lang="en-US" sz="1800" b="0" u="none" strike="noStrike">
              <a:solidFill>
                <a:srgbClr val="000000"/>
              </a:solidFill>
              <a:effectLst/>
              <a:uFillTx/>
              <a:latin typeface="Arial"/>
            </a:endParaRPr>
          </a:p>
        </p:txBody>
      </p:sp>
      <p:sp>
        <p:nvSpPr>
          <p:cNvPr id="392" name="Text 21"/>
          <p:cNvSpPr/>
          <p:nvPr/>
        </p:nvSpPr>
        <p:spPr>
          <a:xfrm>
            <a:off x="1143000" y="76572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1" u="none" strike="noStrike">
                <a:solidFill>
                  <a:srgbClr val="201E1D"/>
                </a:solidFill>
                <a:effectLst/>
                <a:uFillTx/>
                <a:latin typeface="Arial"/>
                <a:ea typeface="Arial"/>
              </a:rPr>
              <a:t>Designed, not built </a:t>
            </a:r>
            <a:r>
              <a:rPr lang="en-US" sz="1800" b="0" u="none" strike="noStrike">
                <a:solidFill>
                  <a:srgbClr val="211D1D">
                    <a:alpha val="55000"/>
                  </a:srgbClr>
                </a:solidFill>
                <a:effectLst/>
                <a:uFillTx/>
                <a:latin typeface="Arial"/>
                <a:ea typeface="Arial"/>
              </a:rPr>
              <a:t>— no auto-accept rate until it runs on real packs. Reducto ~99% and any vendor figure is the vendor's own claim.</a:t>
            </a:r>
            <a:endParaRPr lang="en-US" sz="1800" b="0" u="none" strike="noStrike">
              <a:solidFill>
                <a:srgbClr val="000000"/>
              </a:solidFill>
              <a:effectLst/>
              <a:uFillTx/>
              <a:latin typeface="Arial"/>
            </a:endParaRPr>
          </a:p>
        </p:txBody>
      </p:sp>
      <p:pic>
        <p:nvPicPr>
          <p:cNvPr id="393"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394"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 · GROUP A</a:t>
            </a:r>
            <a:endParaRPr lang="en-US" sz="1800" b="0" u="none" strike="noStrike">
              <a:solidFill>
                <a:srgbClr val="000000"/>
              </a:solidFill>
              <a:effectLst/>
              <a:uFillTx/>
              <a:latin typeface="Arial"/>
            </a:endParaRPr>
          </a:p>
        </p:txBody>
      </p:sp>
      <p:sp>
        <p:nvSpPr>
          <p:cNvPr id="395" name="Text 1"/>
          <p:cNvSpPr/>
          <p:nvPr/>
        </p:nvSpPr>
        <p:spPr>
          <a:xfrm>
            <a:off x="1107720" y="1863720"/>
            <a:ext cx="17640720" cy="46008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97000"/>
              </a:lnSpc>
              <a:tabLst>
                <a:tab pos="0" algn="l"/>
              </a:tabLst>
            </a:pPr>
            <a:r>
              <a:rPr lang="en-US" sz="4800" b="1" u="none" spc="-71" strike="noStrike">
                <a:solidFill>
                  <a:srgbClr val="201E1D"/>
                </a:solidFill>
                <a:effectLst/>
                <a:uFillTx/>
                <a:latin typeface="Arial"/>
                <a:ea typeface="Arial"/>
              </a:rPr>
              <a:t>The architecture in one picture</a:t>
            </a:r>
            <a:endParaRPr lang="en-US" sz="4800" b="0" u="none" strike="noStrike">
              <a:solidFill>
                <a:srgbClr val="000000"/>
              </a:solidFill>
              <a:effectLst/>
              <a:uFillTx/>
              <a:latin typeface="Arial"/>
            </a:endParaRPr>
          </a:p>
        </p:txBody>
      </p:sp>
      <p:sp>
        <p:nvSpPr>
          <p:cNvPr id="396" name="Shape 2"/>
          <p:cNvSpPr/>
          <p:nvPr/>
        </p:nvSpPr>
        <p:spPr>
          <a:xfrm>
            <a:off x="6171120" y="2446200"/>
            <a:ext cx="5945040" cy="4986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7" name="Text 3"/>
          <p:cNvSpPr/>
          <p:nvPr/>
        </p:nvSpPr>
        <p:spPr>
          <a:xfrm>
            <a:off x="6203520" y="2555280"/>
            <a:ext cx="5880600" cy="3186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70" b="1" u="none" spc="-20" strike="noStrike">
                <a:solidFill>
                  <a:srgbClr val="201E1D"/>
                </a:solidFill>
                <a:effectLst/>
                <a:uFillTx/>
                <a:latin typeface="Arial"/>
                <a:ea typeface="Arial"/>
              </a:rPr>
              <a:t>One quarterly PDF pack </a:t>
            </a:r>
            <a:r>
              <a:rPr lang="en-US" sz="1870" b="0" u="none" spc="-20" strike="noStrike">
                <a:solidFill>
                  <a:srgbClr val="211D1D">
                    <a:alpha val="55000"/>
                  </a:srgbClr>
                </a:solidFill>
                <a:effectLst/>
                <a:uFillTx/>
                <a:latin typeface="Arial"/>
                <a:ea typeface="Arial"/>
              </a:rPr>
              <a:t>— e.g. ClearPay, Q2 2025</a:t>
            </a:r>
            <a:endParaRPr lang="en-US" sz="1870" b="0" u="none" strike="noStrike">
              <a:solidFill>
                <a:srgbClr val="000000"/>
              </a:solidFill>
              <a:effectLst/>
              <a:uFillTx/>
              <a:latin typeface="Arial"/>
            </a:endParaRPr>
          </a:p>
        </p:txBody>
      </p:sp>
      <p:sp>
        <p:nvSpPr>
          <p:cNvPr id="398" name="Text 4"/>
          <p:cNvSpPr/>
          <p:nvPr/>
        </p:nvSpPr>
        <p:spPr>
          <a:xfrm>
            <a:off x="9086760" y="2973600"/>
            <a:ext cx="19008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399" name="Shape 5"/>
          <p:cNvSpPr/>
          <p:nvPr/>
        </p:nvSpPr>
        <p:spPr>
          <a:xfrm>
            <a:off x="1143000" y="3230640"/>
            <a:ext cx="5206680" cy="4946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0" name="Text 6"/>
          <p:cNvSpPr/>
          <p:nvPr/>
        </p:nvSpPr>
        <p:spPr>
          <a:xfrm>
            <a:off x="2594520" y="3339720"/>
            <a:ext cx="2303280" cy="31464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70" b="1" u="none" spc="-20" strike="noStrike">
                <a:solidFill>
                  <a:srgbClr val="201E1D"/>
                </a:solidFill>
                <a:effectLst/>
                <a:uFillTx/>
                <a:latin typeface="Arial"/>
                <a:ea typeface="Arial"/>
              </a:rPr>
              <a:t>Firecrawl </a:t>
            </a:r>
            <a:r>
              <a:rPr lang="en-US" sz="1800" b="0" u="none" spc="-20" strike="noStrike">
                <a:solidFill>
                  <a:srgbClr val="211D1D">
                    <a:alpha val="55000"/>
                  </a:srgbClr>
                </a:solidFill>
                <a:effectLst/>
                <a:uFillTx/>
                <a:latin typeface="Arial"/>
                <a:ea typeface="Arial"/>
              </a:rPr>
              <a:t>· AI parser</a:t>
            </a:r>
            <a:endParaRPr lang="en-US" sz="1800" b="0" u="none" strike="noStrike">
              <a:solidFill>
                <a:srgbClr val="000000"/>
              </a:solidFill>
              <a:effectLst/>
              <a:uFillTx/>
              <a:latin typeface="Arial"/>
            </a:endParaRPr>
          </a:p>
        </p:txBody>
      </p:sp>
      <p:sp>
        <p:nvSpPr>
          <p:cNvPr id="401" name="Shape 7"/>
          <p:cNvSpPr/>
          <p:nvPr/>
        </p:nvSpPr>
        <p:spPr>
          <a:xfrm>
            <a:off x="6540480" y="3230640"/>
            <a:ext cx="5206680" cy="4946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2" name="Text 8"/>
          <p:cNvSpPr/>
          <p:nvPr/>
        </p:nvSpPr>
        <p:spPr>
          <a:xfrm>
            <a:off x="7549560" y="3339720"/>
            <a:ext cx="3188160" cy="31464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70" b="1" u="none" spc="-20" strike="noStrike">
                <a:solidFill>
                  <a:srgbClr val="201E1D"/>
                </a:solidFill>
                <a:effectLst/>
                <a:uFillTx/>
                <a:latin typeface="Arial"/>
                <a:ea typeface="Arial"/>
              </a:rPr>
              <a:t>Vision-LLM </a:t>
            </a:r>
            <a:r>
              <a:rPr lang="en-US" sz="1800" b="0" u="none" spc="-20" strike="noStrike">
                <a:solidFill>
                  <a:srgbClr val="211D1D">
                    <a:alpha val="55000"/>
                  </a:srgbClr>
                </a:solidFill>
                <a:effectLst/>
                <a:uFillTx/>
                <a:latin typeface="Arial"/>
                <a:ea typeface="Arial"/>
              </a:rPr>
              <a:t>· reads meaning</a:t>
            </a:r>
            <a:endParaRPr lang="en-US" sz="1800" b="0" u="none" strike="noStrike">
              <a:solidFill>
                <a:srgbClr val="000000"/>
              </a:solidFill>
              <a:effectLst/>
              <a:uFillTx/>
              <a:latin typeface="Arial"/>
            </a:endParaRPr>
          </a:p>
        </p:txBody>
      </p:sp>
      <p:sp>
        <p:nvSpPr>
          <p:cNvPr id="403" name="Shape 9"/>
          <p:cNvSpPr/>
          <p:nvPr/>
        </p:nvSpPr>
        <p:spPr>
          <a:xfrm>
            <a:off x="11937960" y="3230640"/>
            <a:ext cx="5206680" cy="49464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4" name="Text 10"/>
          <p:cNvSpPr/>
          <p:nvPr/>
        </p:nvSpPr>
        <p:spPr>
          <a:xfrm>
            <a:off x="12976200" y="3339720"/>
            <a:ext cx="3129840" cy="31464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70" b="1" u="none" spc="-20" strike="noStrike">
                <a:solidFill>
                  <a:srgbClr val="201E1D"/>
                </a:solidFill>
                <a:effectLst/>
                <a:uFillTx/>
                <a:latin typeface="Arial"/>
                <a:ea typeface="Arial"/>
              </a:rPr>
              <a:t>OCR / Doc-AI </a:t>
            </a:r>
            <a:r>
              <a:rPr lang="en-US" sz="1800" b="0" u="none" spc="-20" strike="noStrike">
                <a:solidFill>
                  <a:srgbClr val="211D1D">
                    <a:alpha val="55000"/>
                  </a:srgbClr>
                </a:solidFill>
                <a:effectLst/>
                <a:uFillTx/>
                <a:latin typeface="Arial"/>
                <a:ea typeface="Arial"/>
              </a:rPr>
              <a:t>· reads letters</a:t>
            </a:r>
            <a:endParaRPr lang="en-US" sz="1800" b="0" u="none" strike="noStrike">
              <a:solidFill>
                <a:srgbClr val="000000"/>
              </a:solidFill>
              <a:effectLst/>
              <a:uFillTx/>
              <a:latin typeface="Arial"/>
            </a:endParaRPr>
          </a:p>
        </p:txBody>
      </p:sp>
      <p:sp>
        <p:nvSpPr>
          <p:cNvPr id="405" name="Text 11"/>
          <p:cNvSpPr/>
          <p:nvPr/>
        </p:nvSpPr>
        <p:spPr>
          <a:xfrm>
            <a:off x="9086760" y="3744720"/>
            <a:ext cx="19008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06" name="Text 12"/>
          <p:cNvSpPr/>
          <p:nvPr/>
        </p:nvSpPr>
        <p:spPr>
          <a:xfrm>
            <a:off x="7372800" y="3982680"/>
            <a:ext cx="38962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i="1" u="none" strike="noStrike">
                <a:solidFill>
                  <a:srgbClr val="211F1D">
                    <a:alpha val="52000"/>
                  </a:srgbClr>
                </a:solidFill>
                <a:effectLst/>
                <a:uFillTx/>
                <a:latin typeface="Arial"/>
                <a:ea typeface="Arial"/>
              </a:rPr>
              <a:t>three answers for the same number</a:t>
            </a:r>
            <a:endParaRPr lang="en-US" sz="1800" b="0" u="none" strike="noStrike">
              <a:solidFill>
                <a:srgbClr val="000000"/>
              </a:solidFill>
              <a:effectLst/>
              <a:uFillTx/>
              <a:latin typeface="Arial"/>
            </a:endParaRPr>
          </a:p>
        </p:txBody>
      </p:sp>
      <p:sp>
        <p:nvSpPr>
          <p:cNvPr id="407" name="Shape 13"/>
          <p:cNvSpPr/>
          <p:nvPr/>
        </p:nvSpPr>
        <p:spPr>
          <a:xfrm>
            <a:off x="1143000" y="4355640"/>
            <a:ext cx="16001640" cy="896040"/>
          </a:xfrm>
          <a:prstGeom prst="rect">
            <a:avLst/>
          </a:prstGeom>
          <a:solidFill>
            <a:srgbClr val="EAE9E9"/>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Text 14"/>
          <p:cNvSpPr/>
          <p:nvPr/>
        </p:nvSpPr>
        <p:spPr>
          <a:xfrm>
            <a:off x="7031880" y="4465080"/>
            <a:ext cx="4223880" cy="39204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34000"/>
              </a:lnSpc>
              <a:tabLst>
                <a:tab pos="0" algn="l"/>
              </a:tabLst>
            </a:pPr>
            <a:r>
              <a:rPr lang="en-US" sz="1800" b="1" u="none" spc="108" strike="noStrike">
                <a:solidFill>
                  <a:srgbClr val="EC3013"/>
                </a:solidFill>
                <a:effectLst/>
                <a:uFillTx/>
                <a:latin typeface="Arial"/>
                <a:ea typeface="Arial"/>
              </a:rPr>
              <a:t>ORCHESTRATOR · THE REFEREE</a:t>
            </a:r>
            <a:endParaRPr lang="en-US" sz="1800" b="0" u="none" strike="noStrike">
              <a:solidFill>
                <a:srgbClr val="000000"/>
              </a:solidFill>
              <a:effectLst/>
              <a:uFillTx/>
              <a:latin typeface="Arial"/>
            </a:endParaRPr>
          </a:p>
        </p:txBody>
      </p:sp>
      <p:sp>
        <p:nvSpPr>
          <p:cNvPr id="409" name="Text 15"/>
          <p:cNvSpPr/>
          <p:nvPr/>
        </p:nvSpPr>
        <p:spPr>
          <a:xfrm>
            <a:off x="1481760" y="4857120"/>
            <a:ext cx="15323760" cy="32364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8000"/>
              </a:lnSpc>
              <a:tabLst>
                <a:tab pos="0" algn="l"/>
              </a:tabLst>
            </a:pPr>
            <a:r>
              <a:rPr lang="en-US" sz="1800" b="0" u="none" strike="noStrike">
                <a:solidFill>
                  <a:srgbClr val="201D1D">
                    <a:alpha val="68000"/>
                  </a:srgbClr>
                </a:solidFill>
                <a:effectLst/>
                <a:uFillTx/>
                <a:latin typeface="Arial"/>
                <a:ea typeface="Arial"/>
              </a:rPr>
              <a:t>match the </a:t>
            </a:r>
            <a:r>
              <a:rPr lang="en-US" sz="1800" b="1" u="none" strike="noStrike">
                <a:solidFill>
                  <a:srgbClr val="201E1D"/>
                </a:solidFill>
                <a:effectLst/>
                <a:uFillTx/>
                <a:latin typeface="Arial"/>
                <a:ea typeface="Arial"/>
              </a:rPr>
              <a:t>same fact </a:t>
            </a:r>
            <a:r>
              <a:rPr lang="en-US" sz="1800" b="0" u="none" strike="noStrike">
                <a:solidFill>
                  <a:srgbClr val="201D1D">
                    <a:alpha val="68000"/>
                  </a:srgbClr>
                </a:solidFill>
                <a:effectLst/>
                <a:uFillTx/>
                <a:latin typeface="Arial"/>
                <a:ea typeface="Arial"/>
              </a:rPr>
              <a:t>— company · metric · period · unit · basis — then ask: are the numbers </a:t>
            </a:r>
            <a:r>
              <a:rPr lang="en-US" sz="1800" b="1" u="none" strike="noStrike">
                <a:solidFill>
                  <a:srgbClr val="201E1D"/>
                </a:solidFill>
                <a:effectLst/>
                <a:uFillTx/>
                <a:latin typeface="Arial"/>
                <a:ea typeface="Arial"/>
              </a:rPr>
              <a:t>close enough? </a:t>
            </a:r>
            <a:r>
              <a:rPr lang="en-US" sz="1800" b="0" u="none" strike="noStrike">
                <a:solidFill>
                  <a:srgbClr val="201D1D">
                    <a:alpha val="68000"/>
                  </a:srgbClr>
                </a:solidFill>
                <a:effectLst/>
                <a:uFillTx/>
                <a:latin typeface="Arial"/>
                <a:ea typeface="Arial"/>
              </a:rPr>
              <a:t>rounding, ok · a 10× gap, never</a:t>
            </a:r>
            <a:endParaRPr lang="en-US" sz="1800" b="0" u="none" strike="noStrike">
              <a:solidFill>
                <a:srgbClr val="000000"/>
              </a:solidFill>
              <a:effectLst/>
              <a:uFillTx/>
              <a:latin typeface="Arial"/>
            </a:endParaRPr>
          </a:p>
        </p:txBody>
      </p:sp>
      <p:sp>
        <p:nvSpPr>
          <p:cNvPr id="410" name="Text 16"/>
          <p:cNvSpPr/>
          <p:nvPr/>
        </p:nvSpPr>
        <p:spPr>
          <a:xfrm>
            <a:off x="9086760" y="5271120"/>
            <a:ext cx="19008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11" name="Shape 17"/>
          <p:cNvSpPr/>
          <p:nvPr/>
        </p:nvSpPr>
        <p:spPr>
          <a:xfrm>
            <a:off x="1143000" y="5518800"/>
            <a:ext cx="7886160" cy="12052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2" name="Text 18"/>
          <p:cNvSpPr/>
          <p:nvPr/>
        </p:nvSpPr>
        <p:spPr>
          <a:xfrm>
            <a:off x="1347480" y="5637240"/>
            <a:ext cx="8225280" cy="311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70" b="1" u="none" spc="-20" strike="noStrike">
                <a:solidFill>
                  <a:srgbClr val="201E1D"/>
                </a:solidFill>
                <a:effectLst/>
                <a:uFillTx/>
                <a:latin typeface="Arial"/>
                <a:ea typeface="Arial"/>
              </a:rPr>
              <a:t>✔ They agree</a:t>
            </a:r>
            <a:endParaRPr lang="en-US" sz="1870" b="0" u="none" strike="noStrike">
              <a:solidFill>
                <a:srgbClr val="000000"/>
              </a:solidFill>
              <a:effectLst/>
              <a:uFillTx/>
              <a:latin typeface="Arial"/>
            </a:endParaRPr>
          </a:p>
        </p:txBody>
      </p:sp>
      <p:sp>
        <p:nvSpPr>
          <p:cNvPr id="413" name="Text 19"/>
          <p:cNvSpPr/>
          <p:nvPr/>
        </p:nvSpPr>
        <p:spPr>
          <a:xfrm>
            <a:off x="1347480" y="6025320"/>
            <a:ext cx="822528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numbers match → </a:t>
            </a:r>
            <a:r>
              <a:rPr lang="en-US" sz="1800" b="1" u="none" strike="noStrike">
                <a:solidFill>
                  <a:srgbClr val="201E1D"/>
                </a:solidFill>
                <a:effectLst/>
                <a:uFillTx/>
                <a:latin typeface="Arial"/>
                <a:ea typeface="Arial"/>
              </a:rPr>
              <a:t>auto-accept</a:t>
            </a:r>
            <a:r>
              <a:rPr lang="en-US" sz="1800" b="0" u="none" strike="noStrike">
                <a:solidFill>
                  <a:srgbClr val="201D1D">
                    <a:alpha val="68000"/>
                  </a:srgbClr>
                </a:solidFill>
                <a:effectLst/>
                <a:uFillTx/>
                <a:latin typeface="Arial"/>
                <a:ea typeface="Arial"/>
              </a:rPr>
              <a:t>, highest trust</a:t>
            </a:r>
            <a:endParaRPr lang="en-US" sz="1800" b="0" u="none" strike="noStrike">
              <a:solidFill>
                <a:srgbClr val="000000"/>
              </a:solidFill>
              <a:effectLst/>
              <a:uFillTx/>
              <a:latin typeface="Arial"/>
            </a:endParaRPr>
          </a:p>
        </p:txBody>
      </p:sp>
      <p:sp>
        <p:nvSpPr>
          <p:cNvPr id="414" name="Shape 20"/>
          <p:cNvSpPr/>
          <p:nvPr/>
        </p:nvSpPr>
        <p:spPr>
          <a:xfrm>
            <a:off x="9258120" y="5518800"/>
            <a:ext cx="7886520" cy="120528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5" name="Text 21"/>
          <p:cNvSpPr/>
          <p:nvPr/>
        </p:nvSpPr>
        <p:spPr>
          <a:xfrm>
            <a:off x="9466920" y="5641560"/>
            <a:ext cx="8215920" cy="311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70" b="1" u="none" spc="-20" strike="noStrike">
                <a:solidFill>
                  <a:srgbClr val="AE1800"/>
                </a:solidFill>
                <a:effectLst/>
                <a:uFillTx/>
                <a:latin typeface="Arial"/>
                <a:ea typeface="Arial"/>
              </a:rPr>
              <a:t>⚠ They disagree → a person decides</a:t>
            </a:r>
            <a:endParaRPr lang="en-US" sz="1870" b="0" u="none" strike="noStrike">
              <a:solidFill>
                <a:srgbClr val="000000"/>
              </a:solidFill>
              <a:effectLst/>
              <a:uFillTx/>
              <a:latin typeface="Arial"/>
            </a:endParaRPr>
          </a:p>
        </p:txBody>
      </p:sp>
      <p:sp>
        <p:nvSpPr>
          <p:cNvPr id="416" name="Text 22"/>
          <p:cNvSpPr/>
          <p:nvPr/>
        </p:nvSpPr>
        <p:spPr>
          <a:xfrm>
            <a:off x="9466920" y="6029640"/>
            <a:ext cx="769284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all readers side by side + </a:t>
            </a:r>
            <a:r>
              <a:rPr lang="en-US" sz="1800" b="1" u="none" strike="noStrike">
                <a:solidFill>
                  <a:srgbClr val="201E1D"/>
                </a:solidFill>
                <a:effectLst/>
                <a:uFillTx/>
                <a:latin typeface="Arial"/>
                <a:ea typeface="Arial"/>
              </a:rPr>
              <a:t>a screenshot of the real PDF </a:t>
            </a:r>
            <a:r>
              <a:rPr lang="en-US" sz="1800" b="0" u="none" strike="noStrike">
                <a:solidFill>
                  <a:srgbClr val="201D1D">
                    <a:alpha val="68000"/>
                  </a:srgbClr>
                </a:solidFill>
                <a:effectLst/>
                <a:uFillTx/>
                <a:latin typeface="Arial"/>
                <a:ea typeface="Arial"/>
              </a:rPr>
              <a:t>· validate or correct · a different person approves (four-eyes) · full audit trail</a:t>
            </a:r>
            <a:endParaRPr lang="en-US" sz="1800" b="0" u="none" strike="noStrike">
              <a:solidFill>
                <a:srgbClr val="000000"/>
              </a:solidFill>
              <a:effectLst/>
              <a:uFillTx/>
              <a:latin typeface="Arial"/>
            </a:endParaRPr>
          </a:p>
        </p:txBody>
      </p:sp>
      <p:sp>
        <p:nvSpPr>
          <p:cNvPr id="417" name="Text 23"/>
          <p:cNvSpPr/>
          <p:nvPr/>
        </p:nvSpPr>
        <p:spPr>
          <a:xfrm>
            <a:off x="9086760" y="6743160"/>
            <a:ext cx="19008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18" name="Shape 24"/>
          <p:cNvSpPr/>
          <p:nvPr/>
        </p:nvSpPr>
        <p:spPr>
          <a:xfrm>
            <a:off x="5563080" y="6990840"/>
            <a:ext cx="7161120" cy="52632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9" name="Text 25"/>
          <p:cNvSpPr/>
          <p:nvPr/>
        </p:nvSpPr>
        <p:spPr>
          <a:xfrm>
            <a:off x="5550120" y="7113960"/>
            <a:ext cx="7187400" cy="3186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pPr>
            <a:r>
              <a:rPr lang="en-US" sz="1870" b="1" u="none" spc="-20" strike="noStrike">
                <a:solidFill>
                  <a:srgbClr val="201E1D"/>
                </a:solidFill>
                <a:effectLst/>
                <a:uFillTx/>
                <a:latin typeface="Arial"/>
                <a:ea typeface="Arial"/>
              </a:rPr>
              <a:t>One trusted number → the cockpit </a:t>
            </a:r>
            <a:r>
              <a:rPr lang="en-US" sz="1870" b="0" u="none" spc="-20" strike="noStrike">
                <a:solidFill>
                  <a:srgbClr val="211D1D">
                    <a:alpha val="58000"/>
                  </a:srgbClr>
                </a:solidFill>
                <a:effectLst/>
                <a:uFillTx/>
                <a:latin typeface="Arial"/>
                <a:ea typeface="Arial"/>
              </a:rPr>
              <a:t>— still traceable to source</a:t>
            </a:r>
            <a:endParaRPr lang="en-US" sz="1870" b="0" u="none" strike="noStrike">
              <a:solidFill>
                <a:srgbClr val="000000"/>
              </a:solidFill>
              <a:effectLst/>
              <a:uFillTx/>
              <a:latin typeface="Arial"/>
            </a:endParaRPr>
          </a:p>
        </p:txBody>
      </p:sp>
      <p:sp>
        <p:nvSpPr>
          <p:cNvPr id="420" name="Text 26"/>
          <p:cNvSpPr/>
          <p:nvPr/>
        </p:nvSpPr>
        <p:spPr>
          <a:xfrm>
            <a:off x="1143000" y="7837560"/>
            <a:ext cx="14715720" cy="518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All three readers are AI — agreement is </a:t>
            </a:r>
            <a:r>
              <a:rPr lang="en-US" sz="1800" b="1" u="none" strike="noStrike">
                <a:solidFill>
                  <a:srgbClr val="201E1D"/>
                </a:solidFill>
                <a:effectLst/>
                <a:uFillTx/>
                <a:latin typeface="Arial"/>
                <a:ea typeface="Arial"/>
              </a:rPr>
              <a:t>strong evidence, not proof</a:t>
            </a:r>
            <a:r>
              <a:rPr lang="en-US" sz="1800" b="0" u="none" strike="noStrike">
                <a:solidFill>
                  <a:srgbClr val="211D1D">
                    <a:alpha val="55000"/>
                  </a:srgbClr>
                </a:solidFill>
                <a:effectLst/>
                <a:uFillTx/>
                <a:latin typeface="Arial"/>
                <a:ea typeface="Arial"/>
              </a:rPr>
              <a:t>, so the disagree path ends at a </a:t>
            </a:r>
            <a:r>
              <a:rPr lang="en-US" sz="1800" b="1" u="none" strike="noStrike">
                <a:solidFill>
                  <a:srgbClr val="201E1D"/>
                </a:solidFill>
                <a:effectLst/>
                <a:uFillTx/>
                <a:latin typeface="Arial"/>
                <a:ea typeface="Arial"/>
              </a:rPr>
              <a:t>person </a:t>
            </a:r>
            <a:r>
              <a:rPr lang="en-US" sz="1800" b="0" u="none" strike="noStrike">
                <a:solidFill>
                  <a:srgbClr val="211D1D">
                    <a:alpha val="55000"/>
                  </a:srgbClr>
                </a:solidFill>
                <a:effectLst/>
                <a:uFillTx/>
                <a:latin typeface="Arial"/>
                <a:ea typeface="Arial"/>
              </a:rPr>
              <a:t>. Every fix is logged and teaches the readers. </a:t>
            </a:r>
            <a:r>
              <a:rPr lang="en-US" sz="1800" b="1" u="none" strike="noStrike">
                <a:solidFill>
                  <a:srgbClr val="201E1D"/>
                </a:solidFill>
                <a:effectLst/>
                <a:uFillTx/>
                <a:latin typeface="Arial"/>
                <a:ea typeface="Arial"/>
              </a:rPr>
              <a:t>Future expansion — designed, not built.</a:t>
            </a:r>
            <a:endParaRPr lang="en-US" sz="1800" b="0" u="none" strike="noStrike">
              <a:solidFill>
                <a:srgbClr val="000000"/>
              </a:solidFill>
              <a:effectLst/>
              <a:uFillTx/>
              <a:latin typeface="Arial"/>
            </a:endParaRPr>
          </a:p>
        </p:txBody>
      </p:sp>
      <p:pic>
        <p:nvPicPr>
          <p:cNvPr id="421"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422"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 · GROUP C</a:t>
            </a:r>
            <a:endParaRPr lang="en-US" sz="1800" b="0" u="none" strike="noStrike">
              <a:solidFill>
                <a:srgbClr val="000000"/>
              </a:solidFill>
              <a:effectLst/>
              <a:uFillTx/>
              <a:latin typeface="Arial"/>
            </a:endParaRPr>
          </a:p>
        </p:txBody>
      </p:sp>
      <p:sp>
        <p:nvSpPr>
          <p:cNvPr id="423"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AI writes the interpretation, never the number — and a human can always refute it</a:t>
            </a:r>
            <a:endParaRPr lang="en-US" sz="4800" b="0" u="none" strike="noStrike">
              <a:solidFill>
                <a:srgbClr val="000000"/>
              </a:solidFill>
              <a:effectLst/>
              <a:uFillTx/>
              <a:latin typeface="Arial"/>
            </a:endParaRPr>
          </a:p>
        </p:txBody>
      </p:sp>
      <p:sp>
        <p:nvSpPr>
          <p:cNvPr id="424" name="Shape 2"/>
          <p:cNvSpPr/>
          <p:nvPr/>
        </p:nvSpPr>
        <p:spPr>
          <a:xfrm>
            <a:off x="1143000" y="3886200"/>
            <a:ext cx="4531320" cy="20944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5" name="Text 3"/>
          <p:cNvSpPr/>
          <p:nvPr/>
        </p:nvSpPr>
        <p:spPr>
          <a:xfrm>
            <a:off x="1442520" y="4166640"/>
            <a:ext cx="43254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1 · CLEAN GRID</a:t>
            </a:r>
            <a:endParaRPr lang="en-US" sz="1800" b="0" u="none" strike="noStrike">
              <a:solidFill>
                <a:srgbClr val="000000"/>
              </a:solidFill>
              <a:effectLst/>
              <a:uFillTx/>
              <a:latin typeface="Arial"/>
            </a:endParaRPr>
          </a:p>
        </p:txBody>
      </p:sp>
      <p:sp>
        <p:nvSpPr>
          <p:cNvPr id="426" name="Text 4"/>
          <p:cNvSpPr/>
          <p:nvPr/>
        </p:nvSpPr>
        <p:spPr>
          <a:xfrm>
            <a:off x="1442520" y="4635360"/>
            <a:ext cx="40500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already-normalized, provenance-tagged numbers</a:t>
            </a:r>
            <a:endParaRPr lang="en-US" sz="1800" b="0" u="none" strike="noStrike">
              <a:solidFill>
                <a:srgbClr val="000000"/>
              </a:solidFill>
              <a:effectLst/>
              <a:uFillTx/>
              <a:latin typeface="Arial"/>
            </a:endParaRPr>
          </a:p>
        </p:txBody>
      </p:sp>
      <p:sp>
        <p:nvSpPr>
          <p:cNvPr id="427" name="Text 5"/>
          <p:cNvSpPr/>
          <p:nvPr/>
        </p:nvSpPr>
        <p:spPr>
          <a:xfrm>
            <a:off x="5826960" y="478116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428" name="Shape 6"/>
          <p:cNvSpPr/>
          <p:nvPr/>
        </p:nvSpPr>
        <p:spPr>
          <a:xfrm>
            <a:off x="6284160" y="3886200"/>
            <a:ext cx="5719680" cy="209448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9" name="Shape 7"/>
          <p:cNvSpPr/>
          <p:nvPr/>
        </p:nvSpPr>
        <p:spPr>
          <a:xfrm>
            <a:off x="6588000" y="4171320"/>
            <a:ext cx="3603600" cy="477000"/>
          </a:xfrm>
          <a:prstGeom prst="rect">
            <a:avLst/>
          </a:prstGeom>
          <a:noFill/>
          <a:ln w="13912">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0" name="Text 8"/>
          <p:cNvSpPr/>
          <p:nvPr/>
        </p:nvSpPr>
        <p:spPr>
          <a:xfrm>
            <a:off x="6706800" y="4232880"/>
            <a:ext cx="3474360" cy="3920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34000"/>
              </a:lnSpc>
              <a:tabLst>
                <a:tab pos="0" algn="l"/>
              </a:tabLst>
            </a:pPr>
            <a:r>
              <a:rPr lang="en-US" sz="1800" b="1" u="none" spc="145" strike="noStrike">
                <a:solidFill>
                  <a:srgbClr val="AE1800"/>
                </a:solidFill>
                <a:effectLst/>
                <a:uFillTx/>
                <a:latin typeface="Arial"/>
                <a:ea typeface="Arial"/>
              </a:rPr>
              <a:t>AI </a:t>
            </a:r>
            <a:r>
              <a:rPr lang="en-US" sz="1800" b="1" u="none" spc="145" strike="noStrike">
                <a:solidFill>
                  <a:srgbClr val="AE1800"/>
                </a:solidFill>
                <a:effectLst/>
                <a:uFillTx/>
                <a:latin typeface="Arial"/>
                <a:ea typeface="Arial"/>
              </a:rPr>
              <a:t>SUGGES</a:t>
            </a:r>
            <a:r>
              <a:rPr lang="en-US" sz="1800" b="1" u="none" spc="145" strike="noStrike">
                <a:solidFill>
                  <a:srgbClr val="AE1800"/>
                </a:solidFill>
                <a:effectLst/>
                <a:uFillTx/>
                <a:latin typeface="Arial"/>
                <a:ea typeface="Arial"/>
              </a:rPr>
              <a:t>TION — </a:t>
            </a:r>
            <a:r>
              <a:rPr lang="en-US" sz="1800" b="1" u="none" spc="145" strike="noStrike">
                <a:solidFill>
                  <a:srgbClr val="AE1800"/>
                </a:solidFill>
                <a:effectLst/>
                <a:uFillTx/>
                <a:latin typeface="Arial"/>
                <a:ea typeface="Arial"/>
              </a:rPr>
              <a:t>REVIEW</a:t>
            </a:r>
            <a:endParaRPr lang="en-US" sz="1800" b="0" u="none" strike="noStrike">
              <a:solidFill>
                <a:srgbClr val="000000"/>
              </a:solidFill>
              <a:effectLst/>
              <a:uFillTx/>
              <a:latin typeface="Arial"/>
            </a:endParaRPr>
          </a:p>
        </p:txBody>
      </p:sp>
      <p:sp>
        <p:nvSpPr>
          <p:cNvPr id="431" name="Text 9"/>
          <p:cNvSpPr/>
          <p:nvPr/>
        </p:nvSpPr>
        <p:spPr>
          <a:xfrm>
            <a:off x="6588000" y="4838760"/>
            <a:ext cx="5265000" cy="8949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1" u="none" strike="noStrike">
                <a:solidFill>
                  <a:srgbClr val="201E1D"/>
                </a:solidFill>
                <a:effectLst/>
                <a:uFillTx/>
                <a:latin typeface="Arial"/>
                <a:ea typeface="Arial"/>
              </a:rPr>
              <a:t>NovaCloud: </a:t>
            </a:r>
            <a:r>
              <a:rPr lang="en-US" sz="1800" b="0" u="none" strike="noStrike">
                <a:solidFill>
                  <a:srgbClr val="201D1D">
                    <a:alpha val="68000"/>
                  </a:srgbClr>
                </a:solidFill>
                <a:effectLst/>
                <a:uFillTx/>
                <a:latin typeface="Arial"/>
                <a:ea typeface="Arial"/>
              </a:rPr>
              <a:t>compounding +42% ARR, but cash falling $29.5M → $19.6M — confirm the funding plan.</a:t>
            </a:r>
            <a:endParaRPr lang="en-US" sz="1800" b="0" u="none" strike="noStrike">
              <a:solidFill>
                <a:srgbClr val="000000"/>
              </a:solidFill>
              <a:effectLst/>
              <a:uFillTx/>
              <a:latin typeface="Arial"/>
            </a:endParaRPr>
          </a:p>
        </p:txBody>
      </p:sp>
      <p:sp>
        <p:nvSpPr>
          <p:cNvPr id="432" name="Text 10"/>
          <p:cNvSpPr/>
          <p:nvPr/>
        </p:nvSpPr>
        <p:spPr>
          <a:xfrm>
            <a:off x="12156480" y="4781160"/>
            <a:ext cx="380520" cy="342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7000"/>
              </a:lnSpc>
              <a:tabLst>
                <a:tab pos="0" algn="l"/>
              </a:tabLst>
            </a:pPr>
            <a:r>
              <a:rPr lang="en-US" sz="2400" b="1" u="none" strike="noStrike">
                <a:solidFill>
                  <a:srgbClr val="BAB6B6"/>
                </a:solidFill>
                <a:effectLst/>
                <a:uFillTx/>
                <a:latin typeface="Arial"/>
                <a:ea typeface="Arial"/>
              </a:rPr>
              <a:t>→</a:t>
            </a:r>
            <a:endParaRPr lang="en-US" sz="2400" b="0" u="none" strike="noStrike">
              <a:solidFill>
                <a:srgbClr val="000000"/>
              </a:solidFill>
              <a:effectLst/>
              <a:uFillTx/>
              <a:latin typeface="Arial"/>
            </a:endParaRPr>
          </a:p>
        </p:txBody>
      </p:sp>
      <p:sp>
        <p:nvSpPr>
          <p:cNvPr id="433" name="Shape 11"/>
          <p:cNvSpPr/>
          <p:nvPr/>
        </p:nvSpPr>
        <p:spPr>
          <a:xfrm>
            <a:off x="12613320" y="3886200"/>
            <a:ext cx="4531320" cy="20944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4" name="Text 12"/>
          <p:cNvSpPr/>
          <p:nvPr/>
        </p:nvSpPr>
        <p:spPr>
          <a:xfrm>
            <a:off x="12913200" y="4166640"/>
            <a:ext cx="43250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3 · </a:t>
            </a:r>
            <a:r>
              <a:rPr lang="en-US" sz="1800" b="1" u="none" spc="108" strike="noStrike">
                <a:solidFill>
                  <a:srgbClr val="EC3013"/>
                </a:solidFill>
                <a:effectLst/>
                <a:uFillTx/>
                <a:latin typeface="Arial"/>
                <a:ea typeface="Arial"/>
              </a:rPr>
              <a:t>HUMAN</a:t>
            </a:r>
            <a:endParaRPr lang="en-US" sz="1800" b="0" u="none" strike="noStrike">
              <a:solidFill>
                <a:srgbClr val="000000"/>
              </a:solidFill>
              <a:effectLst/>
              <a:uFillTx/>
              <a:latin typeface="Arial"/>
            </a:endParaRPr>
          </a:p>
        </p:txBody>
      </p:sp>
      <p:sp>
        <p:nvSpPr>
          <p:cNvPr id="435" name="Text 13"/>
          <p:cNvSpPr/>
          <p:nvPr/>
        </p:nvSpPr>
        <p:spPr>
          <a:xfrm>
            <a:off x="12913200" y="4635360"/>
            <a:ext cx="43250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 accept ✎ correct 💬 comment</a:t>
            </a:r>
            <a:endParaRPr lang="en-US" sz="1800" b="0" u="none" strike="noStrike">
              <a:solidFill>
                <a:srgbClr val="000000"/>
              </a:solidFill>
              <a:effectLst/>
              <a:uFillTx/>
              <a:latin typeface="Arial"/>
            </a:endParaRPr>
          </a:p>
        </p:txBody>
      </p:sp>
      <p:sp>
        <p:nvSpPr>
          <p:cNvPr id="436" name="Text 14"/>
          <p:cNvSpPr/>
          <p:nvPr/>
        </p:nvSpPr>
        <p:spPr>
          <a:xfrm>
            <a:off x="1143000" y="62096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1" u="none" strike="noStrike">
                <a:solidFill>
                  <a:srgbClr val="201E1D"/>
                </a:solidFill>
                <a:effectLst/>
                <a:uFillTx/>
                <a:latin typeface="Arial"/>
                <a:ea typeface="Arial"/>
              </a:rPr>
              <a:t>↻ Loop: </a:t>
            </a:r>
            <a:r>
              <a:rPr lang="en-US" sz="1800" b="0" u="none" strike="noStrike">
                <a:solidFill>
                  <a:srgbClr val="211D1D">
                    <a:alpha val="55000"/>
                  </a:srgbClr>
                </a:solidFill>
                <a:effectLst/>
                <a:uFillTx/>
                <a:latin typeface="Arial"/>
                <a:ea typeface="Arial"/>
              </a:rPr>
              <a:t>next quarter the AI reads last quarter's comments first — it learns the house view.</a:t>
            </a:r>
            <a:endParaRPr lang="en-US" sz="1800" b="0" u="none" strike="noStrike">
              <a:solidFill>
                <a:srgbClr val="000000"/>
              </a:solidFill>
              <a:effectLst/>
              <a:uFillTx/>
              <a:latin typeface="Arial"/>
            </a:endParaRPr>
          </a:p>
        </p:txBody>
      </p:sp>
      <p:sp>
        <p:nvSpPr>
          <p:cNvPr id="437" name="Text 15"/>
          <p:cNvSpPr/>
          <p:nvPr/>
        </p:nvSpPr>
        <p:spPr>
          <a:xfrm>
            <a:off x="1143000" y="6895440"/>
            <a:ext cx="14715720" cy="518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Roadmap feature — the AI note is not built; it can only get an interpretation </a:t>
            </a:r>
            <a:r>
              <a:rPr lang="en-US" sz="1800" b="0" u="none" strike="noStrike">
                <a:solidFill>
                  <a:srgbClr val="211D1D">
                    <a:alpha val="55000"/>
                  </a:srgbClr>
                </a:solidFill>
                <a:effectLst/>
                <a:uFillTx/>
                <a:latin typeface="Arial"/>
                <a:ea typeface="Arial"/>
              </a:rPr>
              <a:t>wrong (the human refutes it), never inject a wrong number. Cites every number · </a:t>
            </a:r>
            <a:r>
              <a:rPr lang="en-US" sz="1800" b="0" u="none" strike="noStrike">
                <a:solidFill>
                  <a:srgbClr val="211D1D">
                    <a:alpha val="55000"/>
                  </a:srgbClr>
                </a:solidFill>
                <a:effectLst/>
                <a:uFillTx/>
                <a:latin typeface="Arial"/>
                <a:ea typeface="Arial"/>
              </a:rPr>
              <a:t>no dollar-ROI claims.</a:t>
            </a:r>
            <a:endParaRPr lang="en-US" sz="1800" b="0" u="none" strike="noStrike">
              <a:solidFill>
                <a:srgbClr val="000000"/>
              </a:solidFill>
              <a:effectLst/>
              <a:uFillTx/>
              <a:latin typeface="Arial"/>
            </a:endParaRPr>
          </a:p>
        </p:txBody>
      </p:sp>
      <p:pic>
        <p:nvPicPr>
          <p:cNvPr id="438"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439"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 · GROUP E</a:t>
            </a:r>
            <a:endParaRPr lang="en-US" sz="1800" b="0" u="none" strike="noStrike">
              <a:solidFill>
                <a:srgbClr val="000000"/>
              </a:solidFill>
              <a:effectLst/>
              <a:uFillTx/>
              <a:latin typeface="Arial"/>
            </a:endParaRPr>
          </a:p>
        </p:txBody>
      </p:sp>
      <p:sp>
        <p:nvSpPr>
          <p:cNvPr id="440"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Concord refuses to mix pounds and dollars — it flags, it never converts</a:t>
            </a:r>
            <a:endParaRPr lang="en-US" sz="4800" b="0" u="none" strike="noStrike">
              <a:solidFill>
                <a:srgbClr val="000000"/>
              </a:solidFill>
              <a:effectLst/>
              <a:uFillTx/>
              <a:latin typeface="Arial"/>
            </a:endParaRPr>
          </a:p>
        </p:txBody>
      </p:sp>
      <p:sp>
        <p:nvSpPr>
          <p:cNvPr id="441" name="Shape 2"/>
          <p:cNvSpPr/>
          <p:nvPr/>
        </p:nvSpPr>
        <p:spPr>
          <a:xfrm>
            <a:off x="1143000" y="3886200"/>
            <a:ext cx="7810200" cy="257148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2" name="Text 3"/>
          <p:cNvSpPr/>
          <p:nvPr/>
        </p:nvSpPr>
        <p:spPr>
          <a:xfrm>
            <a:off x="1442520" y="41666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TODAY</a:t>
            </a:r>
            <a:endParaRPr lang="en-US" sz="1800" b="0" u="none" strike="noStrike">
              <a:solidFill>
                <a:srgbClr val="000000"/>
              </a:solidFill>
              <a:effectLst/>
              <a:uFillTx/>
              <a:latin typeface="Arial"/>
            </a:endParaRPr>
          </a:p>
        </p:txBody>
      </p:sp>
      <p:sp>
        <p:nvSpPr>
          <p:cNvPr id="443" name="Text 4"/>
          <p:cNvSpPr/>
          <p:nvPr/>
        </p:nvSpPr>
        <p:spPr>
          <a:xfrm>
            <a:off x="1442520" y="4635360"/>
            <a:ext cx="793188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A front-end rule flags GBP</a:t>
            </a:r>
            <a:endParaRPr lang="en-US" sz="2020" b="0" u="none" strike="noStrike">
              <a:solidFill>
                <a:srgbClr val="000000"/>
              </a:solidFill>
              <a:effectLst/>
              <a:uFillTx/>
              <a:latin typeface="Arial"/>
            </a:endParaRPr>
          </a:p>
        </p:txBody>
      </p:sp>
      <p:sp>
        <p:nvSpPr>
          <p:cNvPr id="444" name="Text 5"/>
          <p:cNvSpPr/>
          <p:nvPr/>
        </p:nvSpPr>
        <p:spPr>
          <a:xfrm>
            <a:off x="1442520" y="5045040"/>
            <a:ext cx="742716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PeopleFlow: “· not comparable (GBP)” — kept off the dollar axis. The parser sees </a:t>
            </a:r>
            <a:r>
              <a:rPr lang="en-US" sz="1800" b="1" u="none" strike="noStrike">
                <a:solidFill>
                  <a:srgbClr val="201E1D"/>
                </a:solidFill>
                <a:effectLst/>
                <a:uFillTx/>
                <a:latin typeface="Arial"/>
                <a:ea typeface="Arial"/>
              </a:rPr>
              <a:t>currency = null</a:t>
            </a:r>
            <a:r>
              <a:rPr lang="en-US" sz="1800" b="0" u="none" strike="noStrike">
                <a:solidFill>
                  <a:srgbClr val="201D1D">
                    <a:alpha val="68000"/>
                  </a:srgbClr>
                </a:solidFill>
                <a:effectLst/>
                <a:uFillTx/>
                <a:latin typeface="Arial"/>
                <a:ea typeface="Arial"/>
              </a:rPr>
              <a:t>; a human-owned rule catches the £.</a:t>
            </a:r>
            <a:endParaRPr lang="en-US" sz="1800" b="0" u="none" strike="noStrike">
              <a:solidFill>
                <a:srgbClr val="000000"/>
              </a:solidFill>
              <a:effectLst/>
              <a:uFillTx/>
              <a:latin typeface="Arial"/>
            </a:endParaRPr>
          </a:p>
        </p:txBody>
      </p:sp>
      <p:sp>
        <p:nvSpPr>
          <p:cNvPr id="445" name="Shape 6"/>
          <p:cNvSpPr/>
          <p:nvPr/>
        </p:nvSpPr>
        <p:spPr>
          <a:xfrm>
            <a:off x="9334440" y="3886200"/>
            <a:ext cx="7810200" cy="257148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6" name="Text 7"/>
          <p:cNvSpPr/>
          <p:nvPr/>
        </p:nvSpPr>
        <p:spPr>
          <a:xfrm>
            <a:off x="9638280" y="4171320"/>
            <a:ext cx="79225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ROADMAP</a:t>
            </a:r>
            <a:endParaRPr lang="en-US" sz="1800" b="0" u="none" strike="noStrike">
              <a:solidFill>
                <a:srgbClr val="000000"/>
              </a:solidFill>
              <a:effectLst/>
              <a:uFillTx/>
              <a:latin typeface="Arial"/>
            </a:endParaRPr>
          </a:p>
        </p:txBody>
      </p:sp>
      <p:sp>
        <p:nvSpPr>
          <p:cNvPr id="447" name="Text 8"/>
          <p:cNvSpPr/>
          <p:nvPr/>
        </p:nvSpPr>
        <p:spPr>
          <a:xfrm>
            <a:off x="9638280" y="4639680"/>
            <a:ext cx="792252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A currency-reader captures the £</a:t>
            </a:r>
            <a:endParaRPr lang="en-US" sz="2020" b="0" u="none" strike="noStrike">
              <a:solidFill>
                <a:srgbClr val="000000"/>
              </a:solidFill>
              <a:effectLst/>
              <a:uFillTx/>
              <a:latin typeface="Arial"/>
            </a:endParaRPr>
          </a:p>
        </p:txBody>
      </p:sp>
      <p:sp>
        <p:nvSpPr>
          <p:cNvPr id="448" name="Text 9"/>
          <p:cNvSpPr/>
          <p:nvPr/>
        </p:nvSpPr>
        <p:spPr>
          <a:xfrm>
            <a:off x="9885960" y="5087520"/>
            <a:ext cx="76748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convert </a:t>
            </a:r>
            <a:r>
              <a:rPr lang="en-US" sz="1800" b="1" u="none" strike="noStrike">
                <a:solidFill>
                  <a:srgbClr val="201E1D"/>
                </a:solidFill>
                <a:effectLst/>
                <a:uFillTx/>
                <a:latin typeface="Arial"/>
                <a:ea typeface="Arial"/>
              </a:rPr>
              <a:t>levels only </a:t>
            </a:r>
            <a:r>
              <a:rPr lang="en-US" sz="1800" b="0" u="none" strike="noStrike">
                <a:solidFill>
                  <a:srgbClr val="201E1D"/>
                </a:solidFill>
                <a:effectLst/>
                <a:uFillTx/>
                <a:latin typeface="Arial"/>
                <a:ea typeface="Arial"/>
              </a:rPr>
              <a:t>— dated rate (fx_rate · fx_source · fx_date)</a:t>
            </a:r>
            <a:endParaRPr lang="en-US" sz="1800" b="0" u="none" strike="noStrike">
              <a:solidFill>
                <a:srgbClr val="000000"/>
              </a:solidFill>
              <a:effectLst/>
              <a:uFillTx/>
              <a:latin typeface="Arial"/>
            </a:endParaRPr>
          </a:p>
        </p:txBody>
      </p:sp>
      <p:sp>
        <p:nvSpPr>
          <p:cNvPr id="449" name="Text 10"/>
          <p:cNvSpPr/>
          <p:nvPr/>
        </p:nvSpPr>
        <p:spPr>
          <a:xfrm>
            <a:off x="9885960" y="5487480"/>
            <a:ext cx="76748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refuse to convert ratios / % — a GBP % stays a %</a:t>
            </a:r>
            <a:endParaRPr lang="en-US" sz="1800" b="0" u="none" strike="noStrike">
              <a:solidFill>
                <a:srgbClr val="000000"/>
              </a:solidFill>
              <a:effectLst/>
              <a:uFillTx/>
              <a:latin typeface="Arial"/>
            </a:endParaRPr>
          </a:p>
        </p:txBody>
      </p:sp>
      <p:sp>
        <p:nvSpPr>
          <p:cNvPr id="450" name="Text 11"/>
          <p:cNvSpPr/>
          <p:nvPr/>
        </p:nvSpPr>
        <p:spPr>
          <a:xfrm>
            <a:off x="9885960" y="5887440"/>
            <a:ext cx="76748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refuse over convert where the basis is unknown</a:t>
            </a:r>
            <a:endParaRPr lang="en-US" sz="1800" b="0" u="none" strike="noStrike">
              <a:solidFill>
                <a:srgbClr val="000000"/>
              </a:solidFill>
              <a:effectLst/>
              <a:uFillTx/>
              <a:latin typeface="Arial"/>
            </a:endParaRPr>
          </a:p>
        </p:txBody>
      </p:sp>
      <p:sp>
        <p:nvSpPr>
          <p:cNvPr id="451" name="Text 12"/>
          <p:cNvSpPr/>
          <p:nvPr/>
        </p:nvSpPr>
        <p:spPr>
          <a:xfrm>
            <a:off x="1143000" y="698724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The GBP flag is a front-end rulebook rule, </a:t>
            </a:r>
            <a:r>
              <a:rPr lang="en-US" sz="1800" b="1" u="none" strike="noStrike">
                <a:solidFill>
                  <a:srgbClr val="201E1D"/>
                </a:solidFill>
                <a:effectLst/>
                <a:uFillTx/>
                <a:latin typeface="Arial"/>
                <a:ea typeface="Arial"/>
              </a:rPr>
              <a:t>not parsed data </a:t>
            </a:r>
            <a:r>
              <a:rPr lang="en-US" sz="1800" b="0" u="none" strike="noStrike">
                <a:solidFill>
                  <a:srgbClr val="211D1D">
                    <a:alpha val="55000"/>
                  </a:srgbClr>
                </a:solidFill>
                <a:effectLst/>
                <a:uFillTx/>
                <a:latin typeface="Arial"/>
                <a:ea typeface="Arial"/>
              </a:rPr>
              <a:t>(parser sees currency = null). No FX conversion exists yet.</a:t>
            </a:r>
            <a:endParaRPr lang="en-US" sz="1800" b="0" u="none" strike="noStrike">
              <a:solidFill>
                <a:srgbClr val="000000"/>
              </a:solidFill>
              <a:effectLst/>
              <a:uFillTx/>
              <a:latin typeface="Arial"/>
            </a:endParaRPr>
          </a:p>
        </p:txBody>
      </p:sp>
      <p:pic>
        <p:nvPicPr>
          <p:cNvPr id="452"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453"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07 · THE PATH TO PRODUCTION TRUST · GROUP G</a:t>
            </a:r>
            <a:endParaRPr lang="en-US" sz="1800" b="0" u="none" strike="noStrike">
              <a:solidFill>
                <a:srgbClr val="000000"/>
              </a:solidFill>
              <a:effectLst/>
              <a:uFillTx/>
              <a:latin typeface="Arial"/>
            </a:endParaRPr>
          </a:p>
        </p:txBody>
      </p:sp>
      <p:sp>
        <p:nvSpPr>
          <p:cNvPr id="454"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No silent overwrites, maker-checker on every fix, an audit trail that stands up to an LP challenge</a:t>
            </a:r>
            <a:endParaRPr lang="en-US" sz="4800" b="0" u="none" strike="noStrike">
              <a:solidFill>
                <a:srgbClr val="000000"/>
              </a:solidFill>
              <a:effectLst/>
              <a:uFillTx/>
              <a:latin typeface="Arial"/>
            </a:endParaRPr>
          </a:p>
        </p:txBody>
      </p:sp>
      <p:sp>
        <p:nvSpPr>
          <p:cNvPr id="455" name="Shape 2"/>
          <p:cNvSpPr/>
          <p:nvPr/>
        </p:nvSpPr>
        <p:spPr>
          <a:xfrm>
            <a:off x="1143000" y="3886200"/>
            <a:ext cx="2844000" cy="17121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6" name="Text 3"/>
          <p:cNvSpPr/>
          <p:nvPr/>
        </p:nvSpPr>
        <p:spPr>
          <a:xfrm>
            <a:off x="1309320" y="40716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STATE</a:t>
            </a:r>
            <a:endParaRPr lang="en-US" sz="1800" b="0" u="none" strike="noStrike">
              <a:solidFill>
                <a:srgbClr val="000000"/>
              </a:solidFill>
              <a:effectLst/>
              <a:uFillTx/>
              <a:latin typeface="Arial"/>
            </a:endParaRPr>
          </a:p>
        </p:txBody>
      </p:sp>
      <p:sp>
        <p:nvSpPr>
          <p:cNvPr id="457" name="Text 4"/>
          <p:cNvSpPr/>
          <p:nvPr/>
        </p:nvSpPr>
        <p:spPr>
          <a:xfrm>
            <a:off x="1309320" y="449244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Extracted</a:t>
            </a:r>
            <a:endParaRPr lang="en-US" sz="1800" b="0" u="none" strike="noStrike">
              <a:solidFill>
                <a:srgbClr val="000000"/>
              </a:solidFill>
              <a:effectLst/>
              <a:uFillTx/>
              <a:latin typeface="Arial"/>
            </a:endParaRPr>
          </a:p>
        </p:txBody>
      </p:sp>
      <p:sp>
        <p:nvSpPr>
          <p:cNvPr id="458" name="Text 5"/>
          <p:cNvSpPr/>
          <p:nvPr/>
        </p:nvSpPr>
        <p:spPr>
          <a:xfrm>
            <a:off x="4092120" y="462816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59" name="Shape 6"/>
          <p:cNvSpPr/>
          <p:nvPr/>
        </p:nvSpPr>
        <p:spPr>
          <a:xfrm>
            <a:off x="4425480" y="3886200"/>
            <a:ext cx="2844360" cy="17121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0" name="Text 7"/>
          <p:cNvSpPr/>
          <p:nvPr/>
        </p:nvSpPr>
        <p:spPr>
          <a:xfrm>
            <a:off x="4591800" y="4071600"/>
            <a:ext cx="27630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ENSEMBLE</a:t>
            </a:r>
            <a:endParaRPr lang="en-US" sz="1800" b="0" u="none" strike="noStrike">
              <a:solidFill>
                <a:srgbClr val="000000"/>
              </a:solidFill>
              <a:effectLst/>
              <a:uFillTx/>
              <a:latin typeface="Arial"/>
            </a:endParaRPr>
          </a:p>
        </p:txBody>
      </p:sp>
      <p:sp>
        <p:nvSpPr>
          <p:cNvPr id="461" name="Text 8"/>
          <p:cNvSpPr/>
          <p:nvPr/>
        </p:nvSpPr>
        <p:spPr>
          <a:xfrm>
            <a:off x="4591800" y="4492440"/>
            <a:ext cx="276300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Verified / Flagged</a:t>
            </a:r>
            <a:endParaRPr lang="en-US" sz="1800" b="0" u="none" strike="noStrike">
              <a:solidFill>
                <a:srgbClr val="000000"/>
              </a:solidFill>
              <a:effectLst/>
              <a:uFillTx/>
              <a:latin typeface="Arial"/>
            </a:endParaRPr>
          </a:p>
        </p:txBody>
      </p:sp>
      <p:sp>
        <p:nvSpPr>
          <p:cNvPr id="462" name="Text 9"/>
          <p:cNvSpPr/>
          <p:nvPr/>
        </p:nvSpPr>
        <p:spPr>
          <a:xfrm>
            <a:off x="7374600" y="462816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63" name="Shape 10"/>
          <p:cNvSpPr/>
          <p:nvPr/>
        </p:nvSpPr>
        <p:spPr>
          <a:xfrm>
            <a:off x="7707960" y="3886200"/>
            <a:ext cx="2844000" cy="17121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4" name="Text 11"/>
          <p:cNvSpPr/>
          <p:nvPr/>
        </p:nvSpPr>
        <p:spPr>
          <a:xfrm>
            <a:off x="7874280" y="40716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USER A</a:t>
            </a:r>
            <a:endParaRPr lang="en-US" sz="1800" b="0" u="none" strike="noStrike">
              <a:solidFill>
                <a:srgbClr val="000000"/>
              </a:solidFill>
              <a:effectLst/>
              <a:uFillTx/>
              <a:latin typeface="Arial"/>
            </a:endParaRPr>
          </a:p>
        </p:txBody>
      </p:sp>
      <p:sp>
        <p:nvSpPr>
          <p:cNvPr id="465" name="Text 12"/>
          <p:cNvSpPr/>
          <p:nvPr/>
        </p:nvSpPr>
        <p:spPr>
          <a:xfrm>
            <a:off x="7874280" y="449244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Suggest</a:t>
            </a:r>
            <a:endParaRPr lang="en-US" sz="1800" b="0" u="none" strike="noStrike">
              <a:solidFill>
                <a:srgbClr val="000000"/>
              </a:solidFill>
              <a:effectLst/>
              <a:uFillTx/>
              <a:latin typeface="Arial"/>
            </a:endParaRPr>
          </a:p>
        </p:txBody>
      </p:sp>
      <p:sp>
        <p:nvSpPr>
          <p:cNvPr id="466" name="Text 13"/>
          <p:cNvSpPr/>
          <p:nvPr/>
        </p:nvSpPr>
        <p:spPr>
          <a:xfrm>
            <a:off x="7874280" y="4821840"/>
            <a:ext cx="2587680" cy="4568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66000"/>
                  </a:srgbClr>
                </a:solidFill>
                <a:effectLst/>
                <a:uFillTx/>
                <a:latin typeface="Arial"/>
                <a:ea typeface="Arial"/>
              </a:rPr>
              <a:t>value unchanged — badge only</a:t>
            </a:r>
            <a:endParaRPr lang="en-US" sz="1800" b="0" u="none" strike="noStrike">
              <a:solidFill>
                <a:srgbClr val="000000"/>
              </a:solidFill>
              <a:effectLst/>
              <a:uFillTx/>
              <a:latin typeface="Arial"/>
            </a:endParaRPr>
          </a:p>
        </p:txBody>
      </p:sp>
      <p:sp>
        <p:nvSpPr>
          <p:cNvPr id="467" name="Text 14"/>
          <p:cNvSpPr/>
          <p:nvPr/>
        </p:nvSpPr>
        <p:spPr>
          <a:xfrm>
            <a:off x="10657080" y="462816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68" name="Shape 15"/>
          <p:cNvSpPr/>
          <p:nvPr/>
        </p:nvSpPr>
        <p:spPr>
          <a:xfrm>
            <a:off x="10990440" y="3886200"/>
            <a:ext cx="2872080" cy="1712160"/>
          </a:xfrm>
          <a:prstGeom prst="rect">
            <a:avLst/>
          </a:prstGeom>
          <a:solidFill>
            <a:srgbClr val="F3F2F2"/>
          </a:solidFill>
          <a:ln w="27824">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9" name="Text 16"/>
          <p:cNvSpPr/>
          <p:nvPr/>
        </p:nvSpPr>
        <p:spPr>
          <a:xfrm>
            <a:off x="11170440" y="4085640"/>
            <a:ext cx="2587680" cy="746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USER B · MAKER-CHECKER</a:t>
            </a:r>
            <a:endParaRPr lang="en-US" sz="1800" b="0" u="none" strike="noStrike">
              <a:solidFill>
                <a:srgbClr val="000000"/>
              </a:solidFill>
              <a:effectLst/>
              <a:uFillTx/>
              <a:latin typeface="Arial"/>
            </a:endParaRPr>
          </a:p>
        </p:txBody>
      </p:sp>
      <p:sp>
        <p:nvSpPr>
          <p:cNvPr id="470" name="Text 17"/>
          <p:cNvSpPr/>
          <p:nvPr/>
        </p:nvSpPr>
        <p:spPr>
          <a:xfrm>
            <a:off x="11170440" y="486072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Approve / Reject</a:t>
            </a:r>
            <a:endParaRPr lang="en-US" sz="1800" b="0" u="none" strike="noStrike">
              <a:solidFill>
                <a:srgbClr val="000000"/>
              </a:solidFill>
              <a:effectLst/>
              <a:uFillTx/>
              <a:latin typeface="Arial"/>
            </a:endParaRPr>
          </a:p>
        </p:txBody>
      </p:sp>
      <p:sp>
        <p:nvSpPr>
          <p:cNvPr id="471" name="Text 18"/>
          <p:cNvSpPr/>
          <p:nvPr/>
        </p:nvSpPr>
        <p:spPr>
          <a:xfrm>
            <a:off x="11170440" y="5190120"/>
            <a:ext cx="2762640" cy="2473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9000"/>
              </a:lnSpc>
              <a:tabLst>
                <a:tab pos="0" algn="l"/>
              </a:tabLst>
            </a:pPr>
            <a:r>
              <a:rPr lang="en-US" sz="1800" b="0" u="none" strike="noStrike">
                <a:solidFill>
                  <a:srgbClr val="201E1D">
                    <a:alpha val="80000"/>
                  </a:srgbClr>
                </a:solidFill>
                <a:effectLst/>
                <a:uFillTx/>
                <a:latin typeface="Arial"/>
                <a:ea typeface="Arial"/>
              </a:rPr>
              <a:t>suggester ≠ approver</a:t>
            </a:r>
            <a:endParaRPr lang="en-US" sz="1800" b="0" u="none" strike="noStrike">
              <a:solidFill>
                <a:srgbClr val="000000"/>
              </a:solidFill>
              <a:effectLst/>
              <a:uFillTx/>
              <a:latin typeface="Arial"/>
            </a:endParaRPr>
          </a:p>
        </p:txBody>
      </p:sp>
      <p:sp>
        <p:nvSpPr>
          <p:cNvPr id="472" name="Text 19"/>
          <p:cNvSpPr/>
          <p:nvPr/>
        </p:nvSpPr>
        <p:spPr>
          <a:xfrm>
            <a:off x="13967280" y="4628160"/>
            <a:ext cx="304560" cy="2664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1800" b="1" u="none" strike="noStrike">
                <a:solidFill>
                  <a:srgbClr val="BAB6B6"/>
                </a:solidFill>
                <a:effectLst/>
                <a:uFillTx/>
                <a:latin typeface="Arial"/>
                <a:ea typeface="Arial"/>
              </a:rPr>
              <a:t>→</a:t>
            </a:r>
            <a:endParaRPr lang="en-US" sz="1800" b="0" u="none" strike="noStrike">
              <a:solidFill>
                <a:srgbClr val="000000"/>
              </a:solidFill>
              <a:effectLst/>
              <a:uFillTx/>
              <a:latin typeface="Arial"/>
            </a:endParaRPr>
          </a:p>
        </p:txBody>
      </p:sp>
      <p:sp>
        <p:nvSpPr>
          <p:cNvPr id="473" name="Shape 20"/>
          <p:cNvSpPr/>
          <p:nvPr/>
        </p:nvSpPr>
        <p:spPr>
          <a:xfrm>
            <a:off x="14300640" y="3886200"/>
            <a:ext cx="2844000" cy="17121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4" name="Text 21"/>
          <p:cNvSpPr/>
          <p:nvPr/>
        </p:nvSpPr>
        <p:spPr>
          <a:xfrm>
            <a:off x="14466960" y="4071600"/>
            <a:ext cx="276264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EC3013"/>
                </a:solidFill>
                <a:effectLst/>
                <a:uFillTx/>
                <a:latin typeface="Arial"/>
                <a:ea typeface="Arial"/>
              </a:rPr>
              <a:t>RESULT</a:t>
            </a:r>
            <a:endParaRPr lang="en-US" sz="1800" b="0" u="none" strike="noStrike">
              <a:solidFill>
                <a:srgbClr val="000000"/>
              </a:solidFill>
              <a:effectLst/>
              <a:uFillTx/>
              <a:latin typeface="Arial"/>
            </a:endParaRPr>
          </a:p>
        </p:txBody>
      </p:sp>
      <p:sp>
        <p:nvSpPr>
          <p:cNvPr id="475" name="Text 22"/>
          <p:cNvSpPr/>
          <p:nvPr/>
        </p:nvSpPr>
        <p:spPr>
          <a:xfrm>
            <a:off x="14466960" y="4492440"/>
            <a:ext cx="2762640" cy="30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99000"/>
              </a:lnSpc>
              <a:tabLst>
                <a:tab pos="0" algn="l"/>
              </a:tabLst>
            </a:pPr>
            <a:r>
              <a:rPr lang="en-US" sz="1800" b="1" u="none" spc="-17" strike="noStrike">
                <a:solidFill>
                  <a:srgbClr val="201E1D"/>
                </a:solidFill>
                <a:effectLst/>
                <a:uFillTx/>
                <a:latin typeface="Arial"/>
                <a:ea typeface="Arial"/>
              </a:rPr>
              <a:t>Corrected</a:t>
            </a:r>
            <a:endParaRPr lang="en-US" sz="1800" b="0" u="none" strike="noStrike">
              <a:solidFill>
                <a:srgbClr val="000000"/>
              </a:solidFill>
              <a:effectLst/>
              <a:uFillTx/>
              <a:latin typeface="Arial"/>
            </a:endParaRPr>
          </a:p>
        </p:txBody>
      </p:sp>
      <p:sp>
        <p:nvSpPr>
          <p:cNvPr id="476" name="Shape 23"/>
          <p:cNvSpPr/>
          <p:nvPr/>
        </p:nvSpPr>
        <p:spPr>
          <a:xfrm>
            <a:off x="1143000" y="5808240"/>
            <a:ext cx="16001640" cy="123804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7" name="Shape 24"/>
          <p:cNvSpPr/>
          <p:nvPr/>
        </p:nvSpPr>
        <p:spPr>
          <a:xfrm>
            <a:off x="1157040" y="5822280"/>
            <a:ext cx="15973920" cy="608400"/>
          </a:xfrm>
          <a:prstGeom prst="rect">
            <a:avLst/>
          </a:prstGeom>
          <a:solidFill>
            <a:srgbClr val="EAE9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8" name="Shape 25"/>
          <p:cNvSpPr/>
          <p:nvPr/>
        </p:nvSpPr>
        <p:spPr>
          <a:xfrm>
            <a:off x="1157040" y="6423840"/>
            <a:ext cx="159739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479" name="Text 26"/>
          <p:cNvSpPr/>
          <p:nvPr/>
        </p:nvSpPr>
        <p:spPr>
          <a:xfrm>
            <a:off x="1328400" y="5945760"/>
            <a:ext cx="27255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201E1C">
                    <a:alpha val="60000"/>
                  </a:srgbClr>
                </a:solidFill>
                <a:effectLst/>
                <a:uFillTx/>
                <a:latin typeface="Arial"/>
                <a:ea typeface="Arial"/>
              </a:rPr>
              <a:t>OLD</a:t>
            </a:r>
            <a:endParaRPr lang="en-US" sz="1800" b="0" u="none" strike="noStrike">
              <a:solidFill>
                <a:srgbClr val="000000"/>
              </a:solidFill>
              <a:effectLst/>
              <a:uFillTx/>
              <a:latin typeface="Arial"/>
            </a:endParaRPr>
          </a:p>
        </p:txBody>
      </p:sp>
      <p:sp>
        <p:nvSpPr>
          <p:cNvPr id="480" name="Text 27"/>
          <p:cNvSpPr/>
          <p:nvPr/>
        </p:nvSpPr>
        <p:spPr>
          <a:xfrm>
            <a:off x="3997080" y="5945760"/>
            <a:ext cx="27259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201E1C">
                    <a:alpha val="60000"/>
                  </a:srgbClr>
                </a:solidFill>
                <a:effectLst/>
                <a:uFillTx/>
                <a:latin typeface="Arial"/>
                <a:ea typeface="Arial"/>
              </a:rPr>
              <a:t>NEW</a:t>
            </a:r>
            <a:endParaRPr lang="en-US" sz="1800" b="0" u="none" strike="noStrike">
              <a:solidFill>
                <a:srgbClr val="000000"/>
              </a:solidFill>
              <a:effectLst/>
              <a:uFillTx/>
              <a:latin typeface="Arial"/>
            </a:endParaRPr>
          </a:p>
        </p:txBody>
      </p:sp>
      <p:sp>
        <p:nvSpPr>
          <p:cNvPr id="481" name="Text 28"/>
          <p:cNvSpPr/>
          <p:nvPr/>
        </p:nvSpPr>
        <p:spPr>
          <a:xfrm>
            <a:off x="6665760" y="5945760"/>
            <a:ext cx="32709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201E1C">
                    <a:alpha val="60000"/>
                  </a:srgbClr>
                </a:solidFill>
                <a:effectLst/>
                <a:uFillTx/>
                <a:latin typeface="Arial"/>
                <a:ea typeface="Arial"/>
              </a:rPr>
              <a:t>WHO</a:t>
            </a:r>
            <a:endParaRPr lang="en-US" sz="1800" b="0" u="none" strike="noStrike">
              <a:solidFill>
                <a:srgbClr val="000000"/>
              </a:solidFill>
              <a:effectLst/>
              <a:uFillTx/>
              <a:latin typeface="Arial"/>
            </a:endParaRPr>
          </a:p>
        </p:txBody>
      </p:sp>
      <p:sp>
        <p:nvSpPr>
          <p:cNvPr id="482" name="Text 29"/>
          <p:cNvSpPr/>
          <p:nvPr/>
        </p:nvSpPr>
        <p:spPr>
          <a:xfrm>
            <a:off x="9830160" y="5945760"/>
            <a:ext cx="27255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201E1C">
                    <a:alpha val="60000"/>
                  </a:srgbClr>
                </a:solidFill>
                <a:effectLst/>
                <a:uFillTx/>
                <a:latin typeface="Arial"/>
                <a:ea typeface="Arial"/>
              </a:rPr>
              <a:t>WHEN</a:t>
            </a:r>
            <a:endParaRPr lang="en-US" sz="1800" b="0" u="none" strike="noStrike">
              <a:solidFill>
                <a:srgbClr val="000000"/>
              </a:solidFill>
              <a:effectLst/>
              <a:uFillTx/>
              <a:latin typeface="Arial"/>
            </a:endParaRPr>
          </a:p>
        </p:txBody>
      </p:sp>
      <p:sp>
        <p:nvSpPr>
          <p:cNvPr id="483" name="Text 30"/>
          <p:cNvSpPr/>
          <p:nvPr/>
        </p:nvSpPr>
        <p:spPr>
          <a:xfrm>
            <a:off x="12498480" y="5945760"/>
            <a:ext cx="49068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71" strike="noStrike">
                <a:solidFill>
                  <a:srgbClr val="201E1C">
                    <a:alpha val="60000"/>
                  </a:srgbClr>
                </a:solidFill>
                <a:effectLst/>
                <a:uFillTx/>
                <a:latin typeface="Arial"/>
                <a:ea typeface="Arial"/>
              </a:rPr>
              <a:t>WHY</a:t>
            </a:r>
            <a:endParaRPr lang="en-US" sz="1800" b="0" u="none" strike="noStrike">
              <a:solidFill>
                <a:srgbClr val="000000"/>
              </a:solidFill>
              <a:effectLst/>
              <a:uFillTx/>
              <a:latin typeface="Arial"/>
            </a:endParaRPr>
          </a:p>
        </p:txBody>
      </p:sp>
      <p:sp>
        <p:nvSpPr>
          <p:cNvPr id="484" name="Text 31"/>
          <p:cNvSpPr/>
          <p:nvPr/>
        </p:nvSpPr>
        <p:spPr>
          <a:xfrm>
            <a:off x="1328400" y="6554520"/>
            <a:ext cx="27255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$38.4M</a:t>
            </a:r>
            <a:endParaRPr lang="en-US" sz="1800" b="0" u="none" strike="noStrike">
              <a:solidFill>
                <a:srgbClr val="000000"/>
              </a:solidFill>
              <a:effectLst/>
              <a:uFillTx/>
              <a:latin typeface="Arial"/>
            </a:endParaRPr>
          </a:p>
        </p:txBody>
      </p:sp>
      <p:sp>
        <p:nvSpPr>
          <p:cNvPr id="485" name="Text 32"/>
          <p:cNvSpPr/>
          <p:nvPr/>
        </p:nvSpPr>
        <p:spPr>
          <a:xfrm>
            <a:off x="3997080" y="6554520"/>
            <a:ext cx="272592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$32.2M</a:t>
            </a:r>
            <a:endParaRPr lang="en-US" sz="1800" b="0" u="none" strike="noStrike">
              <a:solidFill>
                <a:srgbClr val="000000"/>
              </a:solidFill>
              <a:effectLst/>
              <a:uFillTx/>
              <a:latin typeface="Arial"/>
            </a:endParaRPr>
          </a:p>
        </p:txBody>
      </p:sp>
      <p:sp>
        <p:nvSpPr>
          <p:cNvPr id="486" name="Text 33"/>
          <p:cNvSpPr/>
          <p:nvPr/>
        </p:nvSpPr>
        <p:spPr>
          <a:xfrm>
            <a:off x="6665760" y="6554520"/>
            <a:ext cx="32709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j.lee · approver</a:t>
            </a:r>
            <a:endParaRPr lang="en-US" sz="1800" b="0" u="none" strike="noStrike">
              <a:solidFill>
                <a:srgbClr val="000000"/>
              </a:solidFill>
              <a:effectLst/>
              <a:uFillTx/>
              <a:latin typeface="Arial"/>
            </a:endParaRPr>
          </a:p>
        </p:txBody>
      </p:sp>
      <p:sp>
        <p:nvSpPr>
          <p:cNvPr id="487" name="Text 34"/>
          <p:cNvSpPr/>
          <p:nvPr/>
        </p:nvSpPr>
        <p:spPr>
          <a:xfrm>
            <a:off x="9830160" y="6554520"/>
            <a:ext cx="272556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Q2 close</a:t>
            </a:r>
            <a:endParaRPr lang="en-US" sz="1800" b="0" u="none" strike="noStrike">
              <a:solidFill>
                <a:srgbClr val="000000"/>
              </a:solidFill>
              <a:effectLst/>
              <a:uFillTx/>
              <a:latin typeface="Arial"/>
            </a:endParaRPr>
          </a:p>
        </p:txBody>
      </p:sp>
      <p:sp>
        <p:nvSpPr>
          <p:cNvPr id="488" name="Text 35"/>
          <p:cNvSpPr/>
          <p:nvPr/>
        </p:nvSpPr>
        <p:spPr>
          <a:xfrm>
            <a:off x="12498480" y="6554520"/>
            <a:ext cx="490680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0" u="none" strike="noStrike">
                <a:solidFill>
                  <a:srgbClr val="201E1D"/>
                </a:solidFill>
                <a:effectLst/>
                <a:uFillTx/>
                <a:latin typeface="Arial"/>
                <a:ea typeface="Arial"/>
              </a:rPr>
              <a:t>stripped restricted client float</a:t>
            </a:r>
            <a:endParaRPr lang="en-US" sz="1800" b="0" u="none" strike="noStrike">
              <a:solidFill>
                <a:srgbClr val="000000"/>
              </a:solidFill>
              <a:effectLst/>
              <a:uFillTx/>
              <a:latin typeface="Arial"/>
            </a:endParaRPr>
          </a:p>
        </p:txBody>
      </p:sp>
      <p:sp>
        <p:nvSpPr>
          <p:cNvPr id="489" name="Shape 36"/>
          <p:cNvSpPr/>
          <p:nvPr/>
        </p:nvSpPr>
        <p:spPr>
          <a:xfrm>
            <a:off x="1143000" y="7237080"/>
            <a:ext cx="192996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0" name="Text 37"/>
          <p:cNvSpPr/>
          <p:nvPr/>
        </p:nvSpPr>
        <p:spPr>
          <a:xfrm>
            <a:off x="1299600" y="7336800"/>
            <a:ext cx="169272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never overwrite</a:t>
            </a:r>
            <a:endParaRPr lang="en-US" sz="1800" b="0" u="none" strike="noStrike">
              <a:solidFill>
                <a:srgbClr val="000000"/>
              </a:solidFill>
              <a:effectLst/>
              <a:uFillTx/>
              <a:latin typeface="Arial"/>
            </a:endParaRPr>
          </a:p>
        </p:txBody>
      </p:sp>
      <p:sp>
        <p:nvSpPr>
          <p:cNvPr id="491" name="Shape 38"/>
          <p:cNvSpPr/>
          <p:nvPr/>
        </p:nvSpPr>
        <p:spPr>
          <a:xfrm>
            <a:off x="3206520" y="7237080"/>
            <a:ext cx="187920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2" name="Text 39"/>
          <p:cNvSpPr/>
          <p:nvPr/>
        </p:nvSpPr>
        <p:spPr>
          <a:xfrm>
            <a:off x="3363480" y="7336800"/>
            <a:ext cx="164160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maker-checker</a:t>
            </a:r>
            <a:endParaRPr lang="en-US" sz="1800" b="0" u="none" strike="noStrike">
              <a:solidFill>
                <a:srgbClr val="000000"/>
              </a:solidFill>
              <a:effectLst/>
              <a:uFillTx/>
              <a:latin typeface="Arial"/>
            </a:endParaRPr>
          </a:p>
        </p:txBody>
      </p:sp>
      <p:sp>
        <p:nvSpPr>
          <p:cNvPr id="493" name="Shape 40"/>
          <p:cNvSpPr/>
          <p:nvPr/>
        </p:nvSpPr>
        <p:spPr>
          <a:xfrm>
            <a:off x="5219280" y="7237080"/>
            <a:ext cx="1770480" cy="427320"/>
          </a:xfrm>
          <a:prstGeom prst="rect">
            <a:avLst/>
          </a:prstGeom>
          <a:no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Text 41"/>
          <p:cNvSpPr/>
          <p:nvPr/>
        </p:nvSpPr>
        <p:spPr>
          <a:xfrm>
            <a:off x="5376240" y="7336800"/>
            <a:ext cx="153324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201E1D"/>
                </a:solidFill>
                <a:effectLst/>
                <a:uFillTx/>
                <a:latin typeface="Arial"/>
                <a:ea typeface="Arial"/>
              </a:rPr>
              <a:t>least privilege</a:t>
            </a:r>
            <a:endParaRPr lang="en-US" sz="1800" b="0" u="none" strike="noStrike">
              <a:solidFill>
                <a:srgbClr val="000000"/>
              </a:solidFill>
              <a:effectLst/>
              <a:uFillTx/>
              <a:latin typeface="Arial"/>
            </a:endParaRPr>
          </a:p>
        </p:txBody>
      </p:sp>
      <p:sp>
        <p:nvSpPr>
          <p:cNvPr id="495" name="Shape 42"/>
          <p:cNvSpPr/>
          <p:nvPr/>
        </p:nvSpPr>
        <p:spPr>
          <a:xfrm>
            <a:off x="7123320" y="7237080"/>
            <a:ext cx="2926800" cy="427320"/>
          </a:xfrm>
          <a:prstGeom prst="rect">
            <a:avLst/>
          </a:prstGeom>
          <a:noFill/>
          <a:ln w="13912">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6" name="Text 43"/>
          <p:cNvSpPr/>
          <p:nvPr/>
        </p:nvSpPr>
        <p:spPr>
          <a:xfrm>
            <a:off x="7280280" y="7336800"/>
            <a:ext cx="270108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AE1800"/>
                </a:solidFill>
                <a:effectLst/>
                <a:uFillTx/>
                <a:latin typeface="Arial"/>
                <a:ea typeface="Arial"/>
              </a:rPr>
              <a:t>append-only · exportable</a:t>
            </a:r>
            <a:endParaRPr lang="en-US" sz="1800" b="0" u="none" strike="noStrike">
              <a:solidFill>
                <a:srgbClr val="000000"/>
              </a:solidFill>
              <a:effectLst/>
              <a:uFillTx/>
              <a:latin typeface="Arial"/>
            </a:endParaRPr>
          </a:p>
        </p:txBody>
      </p:sp>
      <p:sp>
        <p:nvSpPr>
          <p:cNvPr id="497" name="Text 44"/>
          <p:cNvSpPr/>
          <p:nvPr/>
        </p:nvSpPr>
        <p:spPr>
          <a:xfrm>
            <a:off x="1143000" y="81936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None of this exists yet — the next layer on top of provenance + refuse-to-compare, which </a:t>
            </a:r>
            <a:r>
              <a:rPr lang="en-US" sz="1800" b="1" u="none" strike="noStrike">
                <a:solidFill>
                  <a:srgbClr val="201E1D"/>
                </a:solidFill>
                <a:effectLst/>
                <a:uFillTx/>
                <a:latin typeface="Arial"/>
                <a:ea typeface="Arial"/>
              </a:rPr>
              <a:t>do </a:t>
            </a:r>
            <a:r>
              <a:rPr lang="en-US" sz="1800" b="0" u="none" strike="noStrike">
                <a:solidFill>
                  <a:srgbClr val="211D1D">
                    <a:alpha val="55000"/>
                  </a:srgbClr>
                </a:solidFill>
                <a:effectLst/>
                <a:uFillTx/>
                <a:latin typeface="Arial"/>
                <a:ea typeface="Arial"/>
              </a:rPr>
              <a:t>exist.</a:t>
            </a:r>
            <a:endParaRPr lang="en-US" sz="1800" b="0" u="none" strike="noStrike">
              <a:solidFill>
                <a:srgbClr val="000000"/>
              </a:solidFill>
              <a:effectLst/>
              <a:uFillTx/>
              <a:latin typeface="Arial"/>
            </a:endParaRPr>
          </a:p>
        </p:txBody>
      </p:sp>
      <p:pic>
        <p:nvPicPr>
          <p:cNvPr id="498"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499"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08 · PROTOTYPE → PRODUCTION</a:t>
            </a:r>
            <a:endParaRPr lang="en-US" sz="1800" b="0" u="none" strike="noStrike">
              <a:solidFill>
                <a:srgbClr val="000000"/>
              </a:solidFill>
              <a:effectLst/>
              <a:uFillTx/>
              <a:latin typeface="Arial"/>
            </a:endParaRPr>
          </a:p>
        </p:txBody>
      </p:sp>
      <p:sp>
        <p:nvSpPr>
          <p:cNvPr id="500" name="Text 1"/>
          <p:cNvSpPr/>
          <p:nvPr/>
        </p:nvSpPr>
        <p:spPr>
          <a:xfrm>
            <a:off x="1107720" y="1863720"/>
            <a:ext cx="17640720" cy="460080"/>
          </a:xfrm>
          <a:prstGeom prst="rect">
            <a:avLst/>
          </a:prstGeom>
          <a:noFill/>
          <a:ln w="0">
            <a:noFill/>
          </a:ln>
        </p:spPr>
        <p:style>
          <a:lnRef idx="0"/>
          <a:fillRef idx="0"/>
          <a:effectRef idx="0"/>
          <a:fontRef idx="minor"/>
        </p:style>
        <p:txBody>
          <a:bodyPr lIns="25560" tIns="25560" rIns="25560" bIns="25560" anchor="t">
            <a:normAutofit fontScale="70000" lnSpcReduction="19999"/>
          </a:bodyPr>
          <a:p>
            <a:pPr defTabSz="914400">
              <a:lnSpc>
                <a:spcPct val="97000"/>
              </a:lnSpc>
              <a:tabLst>
                <a:tab pos="0" algn="l"/>
              </a:tabLst>
            </a:pPr>
            <a:r>
              <a:rPr lang="en-US" sz="4800" b="1" u="none" spc="-71" strike="noStrike">
                <a:solidFill>
                  <a:srgbClr val="201E1D"/>
                </a:solidFill>
                <a:effectLst/>
                <a:uFillTx/>
                <a:latin typeface="Arial"/>
                <a:ea typeface="Arial"/>
              </a:rPr>
              <a:t>Concord today is a prototype, not a production system</a:t>
            </a:r>
            <a:endParaRPr lang="en-US" sz="4800" b="0" u="none" strike="noStrike">
              <a:solidFill>
                <a:srgbClr val="000000"/>
              </a:solidFill>
              <a:effectLst/>
              <a:uFillTx/>
              <a:latin typeface="Arial"/>
            </a:endParaRPr>
          </a:p>
        </p:txBody>
      </p:sp>
      <p:sp>
        <p:nvSpPr>
          <p:cNvPr id="501" name="Shape 2"/>
          <p:cNvSpPr/>
          <p:nvPr/>
        </p:nvSpPr>
        <p:spPr>
          <a:xfrm>
            <a:off x="1143000" y="3200400"/>
            <a:ext cx="7810200" cy="255276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2" name="Text 3"/>
          <p:cNvSpPr/>
          <p:nvPr/>
        </p:nvSpPr>
        <p:spPr>
          <a:xfrm>
            <a:off x="1442520" y="34808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EC3013"/>
                </a:solidFill>
                <a:effectLst/>
                <a:uFillTx/>
                <a:latin typeface="Arial"/>
                <a:ea typeface="Arial"/>
              </a:rPr>
              <a:t>WHAT'S REAL</a:t>
            </a:r>
            <a:endParaRPr lang="en-US" sz="1800" b="0" u="none" strike="noStrike">
              <a:solidFill>
                <a:srgbClr val="000000"/>
              </a:solidFill>
              <a:effectLst/>
              <a:uFillTx/>
              <a:latin typeface="Arial"/>
            </a:endParaRPr>
          </a:p>
        </p:txBody>
      </p:sp>
      <p:sp>
        <p:nvSpPr>
          <p:cNvPr id="503" name="Text 4"/>
          <p:cNvSpPr/>
          <p:nvPr/>
        </p:nvSpPr>
        <p:spPr>
          <a:xfrm>
            <a:off x="1690200" y="3987360"/>
            <a:ext cx="76842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the offline, deterministic engine</a:t>
            </a:r>
            <a:endParaRPr lang="en-US" sz="1800" b="0" u="none" strike="noStrike">
              <a:solidFill>
                <a:srgbClr val="000000"/>
              </a:solidFill>
              <a:effectLst/>
              <a:uFillTx/>
              <a:latin typeface="Arial"/>
            </a:endParaRPr>
          </a:p>
        </p:txBody>
      </p:sp>
      <p:sp>
        <p:nvSpPr>
          <p:cNvPr id="504" name="Text 5"/>
          <p:cNvSpPr/>
          <p:nvPr/>
        </p:nvSpPr>
        <p:spPr>
          <a:xfrm>
            <a:off x="1690200" y="4387320"/>
            <a:ext cx="76842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recall </a:t>
            </a:r>
            <a:r>
              <a:rPr lang="en-US" sz="1800" b="1" u="none" strike="noStrike">
                <a:solidFill>
                  <a:srgbClr val="201E1D"/>
                </a:solidFill>
                <a:effectLst/>
                <a:uFillTx/>
                <a:latin typeface="Arial"/>
                <a:ea typeface="Arial"/>
              </a:rPr>
              <a:t>76% → 90%, 0 wrong values </a:t>
            </a:r>
            <a:r>
              <a:rPr lang="en-US" sz="1800" b="0" u="none" strike="noStrike">
                <a:solidFill>
                  <a:srgbClr val="201E1D"/>
                </a:solidFill>
                <a:effectLst/>
                <a:uFillTx/>
                <a:latin typeface="Arial"/>
                <a:ea typeface="Arial"/>
              </a:rPr>
              <a:t>(24 synthetic PDFs)</a:t>
            </a:r>
            <a:endParaRPr lang="en-US" sz="1800" b="0" u="none" strike="noStrike">
              <a:solidFill>
                <a:srgbClr val="000000"/>
              </a:solidFill>
              <a:effectLst/>
              <a:uFillTx/>
              <a:latin typeface="Arial"/>
            </a:endParaRPr>
          </a:p>
        </p:txBody>
      </p:sp>
      <p:sp>
        <p:nvSpPr>
          <p:cNvPr id="505" name="Text 6"/>
          <p:cNvSpPr/>
          <p:nvPr/>
        </p:nvSpPr>
        <p:spPr>
          <a:xfrm>
            <a:off x="1690200" y="4787280"/>
            <a:ext cx="76842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refuse-to-compare across asset classes</a:t>
            </a:r>
            <a:endParaRPr lang="en-US" sz="1800" b="0" u="none" strike="noStrike">
              <a:solidFill>
                <a:srgbClr val="000000"/>
              </a:solidFill>
              <a:effectLst/>
              <a:uFillTx/>
              <a:latin typeface="Arial"/>
            </a:endParaRPr>
          </a:p>
        </p:txBody>
      </p:sp>
      <p:sp>
        <p:nvSpPr>
          <p:cNvPr id="506" name="Text 7"/>
          <p:cNvSpPr/>
          <p:nvPr/>
        </p:nvSpPr>
        <p:spPr>
          <a:xfrm>
            <a:off x="1690200" y="5187240"/>
            <a:ext cx="768420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E1D"/>
                </a:solidFill>
                <a:effectLst/>
                <a:uFillTx/>
                <a:latin typeface="Arial"/>
                <a:ea typeface="Arial"/>
              </a:rPr>
              <a:t>file-level provenance</a:t>
            </a:r>
            <a:endParaRPr lang="en-US" sz="1800" b="0" u="none" strike="noStrike">
              <a:solidFill>
                <a:srgbClr val="000000"/>
              </a:solidFill>
              <a:effectLst/>
              <a:uFillTx/>
              <a:latin typeface="Arial"/>
            </a:endParaRPr>
          </a:p>
        </p:txBody>
      </p:sp>
      <p:sp>
        <p:nvSpPr>
          <p:cNvPr id="507" name="Shape 8"/>
          <p:cNvSpPr/>
          <p:nvPr/>
        </p:nvSpPr>
        <p:spPr>
          <a:xfrm>
            <a:off x="9334440" y="3200400"/>
            <a:ext cx="7810200" cy="2552760"/>
          </a:xfrm>
          <a:prstGeom prst="rect">
            <a:avLst/>
          </a:prstGeom>
          <a:solidFill>
            <a:srgbClr val="F3F2F2">
              <a:alpha val="72000"/>
            </a:srgbClr>
          </a:solidFill>
          <a:ln w="13912">
            <a:solidFill>
              <a:srgbClr val="201E1E">
                <a:alpha val="29000"/>
              </a:srgbClr>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8" name="Text 9"/>
          <p:cNvSpPr/>
          <p:nvPr/>
        </p:nvSpPr>
        <p:spPr>
          <a:xfrm>
            <a:off x="9633960" y="3480840"/>
            <a:ext cx="7931880" cy="392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4000"/>
              </a:lnSpc>
              <a:tabLst>
                <a:tab pos="0" algn="l"/>
              </a:tabLst>
            </a:pPr>
            <a:r>
              <a:rPr lang="en-US" sz="1800" b="1" u="none" spc="108" strike="noStrike">
                <a:solidFill>
                  <a:srgbClr val="211D1D">
                    <a:alpha val="40000"/>
                  </a:srgbClr>
                </a:solidFill>
                <a:effectLst/>
                <a:uFillTx/>
                <a:latin typeface="Arial"/>
                <a:ea typeface="Arial"/>
              </a:rPr>
              <a:t>NOT YET — TO ADD</a:t>
            </a:r>
            <a:endParaRPr lang="en-US" sz="1800" b="0" u="none" strike="noStrike">
              <a:solidFill>
                <a:srgbClr val="000000"/>
              </a:solidFill>
              <a:effectLst/>
              <a:uFillTx/>
              <a:latin typeface="Arial"/>
            </a:endParaRPr>
          </a:p>
        </p:txBody>
      </p:sp>
      <p:sp>
        <p:nvSpPr>
          <p:cNvPr id="509" name="Text 10"/>
          <p:cNvSpPr/>
          <p:nvPr/>
        </p:nvSpPr>
        <p:spPr>
          <a:xfrm>
            <a:off x="9474120" y="3987360"/>
            <a:ext cx="7446960" cy="1523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8000"/>
              </a:lnSpc>
              <a:tabLst>
                <a:tab pos="0" algn="l"/>
              </a:tabLst>
            </a:pPr>
            <a:r>
              <a:rPr lang="en-US" sz="1800" b="0" u="none" strike="noStrike">
                <a:solidFill>
                  <a:srgbClr val="201E1D">
                    <a:alpha val="72000"/>
                  </a:srgbClr>
                </a:solidFill>
                <a:effectLst/>
                <a:uFillTx/>
                <a:latin typeface="Arial"/>
                <a:ea typeface="Arial"/>
              </a:rPr>
              <a:t>a durable store</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alpha val="72000"/>
                  </a:srgbClr>
                </a:solidFill>
                <a:effectLst/>
                <a:uFillTx/>
                <a:latin typeface="Arial"/>
                <a:ea typeface="Arial"/>
              </a:rPr>
              <a:t>a job queue + retries</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alpha val="72000"/>
                  </a:srgbClr>
                </a:solidFill>
                <a:effectLst/>
                <a:uFillTx/>
                <a:latin typeface="Arial"/>
                <a:ea typeface="Arial"/>
              </a:rPr>
              <a:t>the redundant ensemble</a:t>
            </a:r>
            <a:endParaRPr lang="en-US" sz="1800" b="0" u="none" strike="noStrike">
              <a:solidFill>
                <a:srgbClr val="000000"/>
              </a:solidFill>
              <a:effectLst/>
              <a:uFillTx/>
              <a:latin typeface="Arial"/>
            </a:endParaRPr>
          </a:p>
          <a:p>
            <a:pPr defTabSz="914400">
              <a:lnSpc>
                <a:spcPct val="108000"/>
              </a:lnSpc>
              <a:tabLst>
                <a:tab pos="0" algn="l"/>
              </a:tabLst>
            </a:pPr>
            <a:r>
              <a:rPr lang="en-US" sz="1800" b="0" u="none" strike="noStrike">
                <a:solidFill>
                  <a:srgbClr val="201E1D">
                    <a:alpha val="72000"/>
                  </a:srgbClr>
                </a:solidFill>
                <a:effectLst/>
                <a:uFillTx/>
                <a:latin typeface="Arial"/>
                <a:ea typeface="Arial"/>
              </a:rPr>
              <a:t>multi-tenant cloud</a:t>
            </a:r>
            <a:endParaRPr lang="en-US" sz="1800" b="0" u="none" strike="noStrike">
              <a:solidFill>
                <a:srgbClr val="000000"/>
              </a:solidFill>
              <a:effectLst/>
              <a:uFillTx/>
              <a:latin typeface="Arial"/>
            </a:endParaRPr>
          </a:p>
        </p:txBody>
      </p:sp>
      <p:sp>
        <p:nvSpPr>
          <p:cNvPr id="510" name="Shape 11"/>
          <p:cNvSpPr/>
          <p:nvPr/>
        </p:nvSpPr>
        <p:spPr>
          <a:xfrm>
            <a:off x="1143000" y="5982120"/>
            <a:ext cx="2977920" cy="427320"/>
          </a:xfrm>
          <a:prstGeom prst="rect">
            <a:avLst/>
          </a:prstGeom>
          <a:noFill/>
          <a:ln w="13912">
            <a:solidFill>
              <a:srgbClr val="EC301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1" name="Text 12"/>
          <p:cNvSpPr/>
          <p:nvPr/>
        </p:nvSpPr>
        <p:spPr>
          <a:xfrm>
            <a:off x="1299600" y="6081840"/>
            <a:ext cx="2753640" cy="266040"/>
          </a:xfrm>
          <a:prstGeom prst="rect">
            <a:avLst/>
          </a:prstGeom>
          <a:noFill/>
          <a:ln w="0">
            <a:noFill/>
          </a:ln>
        </p:spPr>
        <p:style>
          <a:lnRef idx="0"/>
          <a:fillRef idx="0"/>
          <a:effectRef idx="0"/>
          <a:fontRef idx="minor"/>
        </p:style>
        <p:txBody>
          <a:bodyPr lIns="25560" tIns="25560" rIns="25560" bIns="25560" anchor="ctr">
            <a:normAutofit fontScale="92500" lnSpcReduction="9999"/>
          </a:bodyPr>
          <a:p>
            <a:pPr defTabSz="914400">
              <a:lnSpc>
                <a:spcPct val="86000"/>
              </a:lnSpc>
              <a:tabLst>
                <a:tab pos="0" algn="l"/>
              </a:tabLst>
            </a:pPr>
            <a:r>
              <a:rPr lang="en-US" sz="1800" b="1" u="none" strike="noStrike">
                <a:solidFill>
                  <a:srgbClr val="AE1800"/>
                </a:solidFill>
                <a:effectLst/>
                <a:uFillTx/>
                <a:latin typeface="Arial"/>
                <a:ea typeface="Arial"/>
              </a:rPr>
              <a:t>prototype, not production</a:t>
            </a:r>
            <a:endParaRPr lang="en-US" sz="1800" b="0" u="none" strike="noStrike">
              <a:solidFill>
                <a:srgbClr val="000000"/>
              </a:solidFill>
              <a:effectLst/>
              <a:uFillTx/>
              <a:latin typeface="Arial"/>
            </a:endParaRPr>
          </a:p>
        </p:txBody>
      </p:sp>
      <p:sp>
        <p:nvSpPr>
          <p:cNvPr id="512" name="Text 13"/>
          <p:cNvSpPr/>
          <p:nvPr/>
        </p:nvSpPr>
        <p:spPr>
          <a:xfrm>
            <a:off x="1143000" y="69390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The 24 PDFs are synthetic test fixtures, not real filings. The redundant ensemble is </a:t>
            </a:r>
            <a:r>
              <a:rPr lang="en-US" sz="1800" b="1" u="none" strike="noStrike">
                <a:solidFill>
                  <a:srgbClr val="201E1D"/>
                </a:solidFill>
                <a:effectLst/>
                <a:uFillTx/>
                <a:latin typeface="Arial"/>
                <a:ea typeface="Arial"/>
              </a:rPr>
              <a:t>designed, not built </a:t>
            </a:r>
            <a:r>
              <a:rPr lang="en-US" sz="1800" b="0" u="none" strike="noStrike">
                <a:solidFill>
                  <a:srgbClr val="211D1D">
                    <a:alpha val="55000"/>
                  </a:srgbClr>
                </a:solidFill>
                <a:effectLst/>
                <a:uFillTx/>
                <a:latin typeface="Arial"/>
                <a:ea typeface="Arial"/>
              </a:rPr>
              <a:t>— “to add,” never present-tense.</a:t>
            </a:r>
            <a:endParaRPr lang="en-US" sz="1800" b="0" u="none" strike="noStrike">
              <a:solidFill>
                <a:srgbClr val="000000"/>
              </a:solidFill>
              <a:effectLst/>
              <a:uFillTx/>
              <a:latin typeface="Arial"/>
            </a:endParaRPr>
          </a:p>
        </p:txBody>
      </p:sp>
      <p:pic>
        <p:nvPicPr>
          <p:cNvPr id="513"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514"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08 · PROTOTYPE → PRODUCTION</a:t>
            </a:r>
            <a:endParaRPr lang="en-US" sz="1800" b="0" u="none" strike="noStrike">
              <a:solidFill>
                <a:srgbClr val="000000"/>
              </a:solidFill>
              <a:effectLst/>
              <a:uFillTx/>
              <a:latin typeface="Arial"/>
            </a:endParaRPr>
          </a:p>
        </p:txBody>
      </p:sp>
      <p:sp>
        <p:nvSpPr>
          <p:cNvPr id="515"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Harden in place first — the cloud is the destination, when it's justified</a:t>
            </a:r>
            <a:endParaRPr lang="en-US" sz="4800" b="0" u="none" strike="noStrike">
              <a:solidFill>
                <a:srgbClr val="000000"/>
              </a:solidFill>
              <a:effectLst/>
              <a:uFillTx/>
              <a:latin typeface="Arial"/>
            </a:endParaRPr>
          </a:p>
        </p:txBody>
      </p:sp>
      <p:sp>
        <p:nvSpPr>
          <p:cNvPr id="516" name="Shape 2"/>
          <p:cNvSpPr/>
          <p:nvPr/>
        </p:nvSpPr>
        <p:spPr>
          <a:xfrm>
            <a:off x="1143000" y="3961080"/>
            <a:ext cx="239976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517" name="Shape 3"/>
          <p:cNvSpPr/>
          <p:nvPr/>
        </p:nvSpPr>
        <p:spPr>
          <a:xfrm>
            <a:off x="3543120" y="3961080"/>
            <a:ext cx="680040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518" name="Text 4"/>
          <p:cNvSpPr/>
          <p:nvPr/>
        </p:nvSpPr>
        <p:spPr>
          <a:xfrm>
            <a:off x="3771720" y="3624120"/>
            <a:ext cx="6547320" cy="1890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1" u="none" spc="145" strike="noStrike">
                <a:solidFill>
                  <a:srgbClr val="201E1C">
                    <a:alpha val="60000"/>
                  </a:srgbClr>
                </a:solidFill>
                <a:effectLst/>
                <a:uFillTx/>
                <a:latin typeface="Arial"/>
                <a:ea typeface="Arial"/>
              </a:rPr>
              <a:t>OPTION 1 — HARDEN IN PLACE</a:t>
            </a:r>
            <a:endParaRPr lang="en-US" sz="1800" b="0" u="none" strike="noStrike">
              <a:solidFill>
                <a:srgbClr val="000000"/>
              </a:solidFill>
              <a:effectLst/>
              <a:uFillTx/>
              <a:latin typeface="Arial"/>
            </a:endParaRPr>
          </a:p>
        </p:txBody>
      </p:sp>
      <p:sp>
        <p:nvSpPr>
          <p:cNvPr id="519" name="Shape 5"/>
          <p:cNvSpPr/>
          <p:nvPr/>
        </p:nvSpPr>
        <p:spPr>
          <a:xfrm>
            <a:off x="10343880" y="3961080"/>
            <a:ext cx="6800400" cy="13680"/>
          </a:xfrm>
          <a:prstGeom prst="rect">
            <a:avLst/>
          </a:prstGeom>
          <a:solidFill>
            <a:srgbClr val="201E1E">
              <a:alpha val="40000"/>
            </a:srgbClr>
          </a:solidFill>
          <a:ln w="0">
            <a:noFill/>
          </a:ln>
        </p:spPr>
        <p:style>
          <a:lnRef idx="0"/>
          <a:fillRef idx="0"/>
          <a:effectRef idx="0"/>
          <a:fontRef idx="minor"/>
        </p:style>
        <p:txBody>
          <a:bodyPr lIns="90000" tIns="-30960" rIns="90000" bIns="-30960" anchor="t">
            <a:noAutofit/>
          </a:bodyPr>
          <a:p>
            <a:endParaRPr lang="en-US" sz="1800" b="0" u="none" strike="noStrike">
              <a:solidFill>
                <a:srgbClr val="FFFFFF"/>
              </a:solidFill>
              <a:effectLst/>
              <a:uFillTx/>
              <a:latin typeface="Arial"/>
            </a:endParaRPr>
          </a:p>
        </p:txBody>
      </p:sp>
      <p:sp>
        <p:nvSpPr>
          <p:cNvPr id="520" name="Text 6"/>
          <p:cNvSpPr/>
          <p:nvPr/>
        </p:nvSpPr>
        <p:spPr>
          <a:xfrm>
            <a:off x="10572480" y="3624120"/>
            <a:ext cx="6775920" cy="1890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1" u="none" spc="145" strike="noStrike">
                <a:solidFill>
                  <a:srgbClr val="201E1C">
                    <a:alpha val="60000"/>
                  </a:srgbClr>
                </a:solidFill>
                <a:effectLst/>
                <a:uFillTx/>
                <a:latin typeface="Arial"/>
                <a:ea typeface="Arial"/>
              </a:rPr>
              <a:t>OPTION 2 — CLOUD RE-PLATFORM</a:t>
            </a:r>
            <a:endParaRPr lang="en-US" sz="1800" b="0" u="none" strike="noStrike">
              <a:solidFill>
                <a:srgbClr val="000000"/>
              </a:solidFill>
              <a:effectLst/>
              <a:uFillTx/>
              <a:latin typeface="Arial"/>
            </a:endParaRPr>
          </a:p>
        </p:txBody>
      </p:sp>
      <p:sp>
        <p:nvSpPr>
          <p:cNvPr id="521" name="Shape 7"/>
          <p:cNvSpPr/>
          <p:nvPr/>
        </p:nvSpPr>
        <p:spPr>
          <a:xfrm>
            <a:off x="1143000" y="4889880"/>
            <a:ext cx="23997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22" name="Text 8"/>
          <p:cNvSpPr/>
          <p:nvPr/>
        </p:nvSpPr>
        <p:spPr>
          <a:xfrm>
            <a:off x="1143000" y="4175280"/>
            <a:ext cx="2247480" cy="55224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34000"/>
              </a:lnSpc>
              <a:tabLst>
                <a:tab pos="0" algn="l"/>
              </a:tabLst>
            </a:pPr>
            <a:r>
              <a:rPr lang="en-US" sz="1800" b="0" u="none" strike="noStrike">
                <a:solidFill>
                  <a:srgbClr val="201E1C">
                    <a:alpha val="60000"/>
                  </a:srgbClr>
                </a:solidFill>
                <a:effectLst/>
                <a:uFillTx/>
                <a:latin typeface="Arial"/>
                <a:ea typeface="Arial"/>
              </a:rPr>
              <a:t>What it is</a:t>
            </a:r>
            <a:endParaRPr lang="en-US" sz="1800" b="0" u="none" strike="noStrike">
              <a:solidFill>
                <a:srgbClr val="000000"/>
              </a:solidFill>
              <a:effectLst/>
              <a:uFillTx/>
              <a:latin typeface="Arial"/>
            </a:endParaRPr>
          </a:p>
        </p:txBody>
      </p:sp>
      <p:sp>
        <p:nvSpPr>
          <p:cNvPr id="523" name="Shape 9"/>
          <p:cNvSpPr/>
          <p:nvPr/>
        </p:nvSpPr>
        <p:spPr>
          <a:xfrm>
            <a:off x="3543120" y="488988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24" name="Text 10"/>
          <p:cNvSpPr/>
          <p:nvPr/>
        </p:nvSpPr>
        <p:spPr>
          <a:xfrm>
            <a:off x="3771720" y="4175280"/>
            <a:ext cx="6547320" cy="552240"/>
          </a:xfrm>
          <a:prstGeom prst="rect">
            <a:avLst/>
          </a:prstGeom>
          <a:noFill/>
          <a:ln w="0">
            <a:noFill/>
          </a:ln>
        </p:spPr>
        <p:style>
          <a:lnRef idx="0"/>
          <a:fillRef idx="0"/>
          <a:effectRef idx="0"/>
          <a:fontRef idx="minor"/>
        </p:style>
        <p:txBody>
          <a:bodyPr lIns="25560" tIns="25560" rIns="25560" bIns="25560" anchor="ctr">
            <a:normAutofit fontScale="85000" lnSpcReduction="19999"/>
          </a:bodyPr>
          <a:p>
            <a:pPr defTabSz="914400">
              <a:lnSpc>
                <a:spcPct val="134000"/>
              </a:lnSpc>
              <a:tabLst>
                <a:tab pos="0" algn="l"/>
              </a:tabLst>
            </a:pPr>
            <a:r>
              <a:rPr lang="en-US" sz="1800" b="0" u="none" strike="noStrike">
                <a:solidFill>
                  <a:srgbClr val="201E1D"/>
                </a:solidFill>
                <a:effectLst/>
                <a:uFillTx/>
                <a:latin typeface="Arial"/>
                <a:ea typeface="Arial"/>
              </a:rPr>
              <a:t>Keep the engine; add a durable store + job queue/retries + the redundant ensemble; stay offline/on-prem</a:t>
            </a:r>
            <a:endParaRPr lang="en-US" sz="1800" b="0" u="none" strike="noStrike">
              <a:solidFill>
                <a:srgbClr val="000000"/>
              </a:solidFill>
              <a:effectLst/>
              <a:uFillTx/>
              <a:latin typeface="Arial"/>
            </a:endParaRPr>
          </a:p>
        </p:txBody>
      </p:sp>
      <p:sp>
        <p:nvSpPr>
          <p:cNvPr id="525" name="Shape 11"/>
          <p:cNvSpPr/>
          <p:nvPr/>
        </p:nvSpPr>
        <p:spPr>
          <a:xfrm>
            <a:off x="10343880" y="488988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26" name="Text 12"/>
          <p:cNvSpPr/>
          <p:nvPr/>
        </p:nvSpPr>
        <p:spPr>
          <a:xfrm>
            <a:off x="10572480" y="4175280"/>
            <a:ext cx="6775920" cy="552240"/>
          </a:xfrm>
          <a:prstGeom prst="rect">
            <a:avLst/>
          </a:prstGeom>
          <a:noFill/>
          <a:ln w="0">
            <a:noFill/>
          </a:ln>
        </p:spPr>
        <p:style>
          <a:lnRef idx="0"/>
          <a:fillRef idx="0"/>
          <a:effectRef idx="0"/>
          <a:fontRef idx="minor"/>
        </p:style>
        <p:txBody>
          <a:bodyPr lIns="25560" tIns="25560" rIns="25560" bIns="25560" anchor="ctr">
            <a:normAutofit fontScale="85000" lnSpcReduction="19999"/>
          </a:bodyPr>
          <a:p>
            <a:pPr defTabSz="914400">
              <a:lnSpc>
                <a:spcPct val="134000"/>
              </a:lnSpc>
              <a:tabLst>
                <a:tab pos="0" algn="l"/>
              </a:tabLst>
            </a:pPr>
            <a:r>
              <a:rPr lang="en-US" sz="1800" b="0" u="none" strike="noStrike">
                <a:solidFill>
                  <a:srgbClr val="201E1D"/>
                </a:solidFill>
                <a:effectLst/>
                <a:uFillTx/>
                <a:latin typeface="Arial"/>
                <a:ea typeface="Arial"/>
              </a:rPr>
              <a:t>Object storage → file event → queue fans out → managed workers → DB → publish; auto-scales for bursts</a:t>
            </a:r>
            <a:endParaRPr lang="en-US" sz="1800" b="0" u="none" strike="noStrike">
              <a:solidFill>
                <a:srgbClr val="000000"/>
              </a:solidFill>
              <a:effectLst/>
              <a:uFillTx/>
              <a:latin typeface="Arial"/>
            </a:endParaRPr>
          </a:p>
        </p:txBody>
      </p:sp>
      <p:sp>
        <p:nvSpPr>
          <p:cNvPr id="527" name="Shape 13"/>
          <p:cNvSpPr/>
          <p:nvPr/>
        </p:nvSpPr>
        <p:spPr>
          <a:xfrm>
            <a:off x="1143000" y="5454000"/>
            <a:ext cx="23997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28" name="Text 14"/>
          <p:cNvSpPr/>
          <p:nvPr/>
        </p:nvSpPr>
        <p:spPr>
          <a:xfrm>
            <a:off x="1143000" y="5097240"/>
            <a:ext cx="224748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201E1C">
                    <a:alpha val="60000"/>
                  </a:srgbClr>
                </a:solidFill>
                <a:effectLst/>
                <a:uFillTx/>
                <a:latin typeface="Arial"/>
                <a:ea typeface="Arial"/>
              </a:rPr>
              <a:t>Reliability</a:t>
            </a:r>
            <a:endParaRPr lang="en-US" sz="1800" b="0" u="none" strike="noStrike">
              <a:solidFill>
                <a:srgbClr val="000000"/>
              </a:solidFill>
              <a:effectLst/>
              <a:uFillTx/>
              <a:latin typeface="Arial"/>
            </a:endParaRPr>
          </a:p>
        </p:txBody>
      </p:sp>
      <p:sp>
        <p:nvSpPr>
          <p:cNvPr id="529" name="Shape 15"/>
          <p:cNvSpPr/>
          <p:nvPr/>
        </p:nvSpPr>
        <p:spPr>
          <a:xfrm>
            <a:off x="3543120" y="545400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30" name="Text 16"/>
          <p:cNvSpPr/>
          <p:nvPr/>
        </p:nvSpPr>
        <p:spPr>
          <a:xfrm>
            <a:off x="3771720" y="5097240"/>
            <a:ext cx="654732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201E1D"/>
                </a:solidFill>
                <a:effectLst/>
                <a:uFillTx/>
                <a:latin typeface="Arial"/>
                <a:ea typeface="Arial"/>
              </a:rPr>
              <a:t>High gain fast — the ensemble is the biggest single lever</a:t>
            </a:r>
            <a:endParaRPr lang="en-US" sz="1800" b="0" u="none" strike="noStrike">
              <a:solidFill>
                <a:srgbClr val="000000"/>
              </a:solidFill>
              <a:effectLst/>
              <a:uFillTx/>
              <a:latin typeface="Arial"/>
            </a:endParaRPr>
          </a:p>
        </p:txBody>
      </p:sp>
      <p:sp>
        <p:nvSpPr>
          <p:cNvPr id="531" name="Shape 17"/>
          <p:cNvSpPr/>
          <p:nvPr/>
        </p:nvSpPr>
        <p:spPr>
          <a:xfrm>
            <a:off x="10343880" y="545400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32" name="Text 18"/>
          <p:cNvSpPr/>
          <p:nvPr/>
        </p:nvSpPr>
        <p:spPr>
          <a:xfrm>
            <a:off x="10572480" y="5097240"/>
            <a:ext cx="677592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201E1D"/>
                </a:solidFill>
                <a:effectLst/>
                <a:uFillTx/>
                <a:latin typeface="Arial"/>
                <a:ea typeface="Arial"/>
              </a:rPr>
              <a:t>Highest ceiling — but only after real hardening + monitoring</a:t>
            </a:r>
            <a:endParaRPr lang="en-US" sz="1800" b="0" u="none" strike="noStrike">
              <a:solidFill>
                <a:srgbClr val="000000"/>
              </a:solidFill>
              <a:effectLst/>
              <a:uFillTx/>
              <a:latin typeface="Arial"/>
            </a:endParaRPr>
          </a:p>
        </p:txBody>
      </p:sp>
      <p:sp>
        <p:nvSpPr>
          <p:cNvPr id="533" name="Shape 19"/>
          <p:cNvSpPr/>
          <p:nvPr/>
        </p:nvSpPr>
        <p:spPr>
          <a:xfrm>
            <a:off x="1143000" y="6018480"/>
            <a:ext cx="239976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34" name="Text 20"/>
          <p:cNvSpPr/>
          <p:nvPr/>
        </p:nvSpPr>
        <p:spPr>
          <a:xfrm>
            <a:off x="1143000" y="5661360"/>
            <a:ext cx="224748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201E1C">
                    <a:alpha val="60000"/>
                  </a:srgbClr>
                </a:solidFill>
                <a:effectLst/>
                <a:uFillTx/>
                <a:latin typeface="Arial"/>
                <a:ea typeface="Arial"/>
              </a:rPr>
              <a:t>Risk</a:t>
            </a:r>
            <a:endParaRPr lang="en-US" sz="1800" b="0" u="none" strike="noStrike">
              <a:solidFill>
                <a:srgbClr val="000000"/>
              </a:solidFill>
              <a:effectLst/>
              <a:uFillTx/>
              <a:latin typeface="Arial"/>
            </a:endParaRPr>
          </a:p>
        </p:txBody>
      </p:sp>
      <p:sp>
        <p:nvSpPr>
          <p:cNvPr id="535" name="Shape 21"/>
          <p:cNvSpPr/>
          <p:nvPr/>
        </p:nvSpPr>
        <p:spPr>
          <a:xfrm>
            <a:off x="3543120" y="601848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36" name="Text 22"/>
          <p:cNvSpPr/>
          <p:nvPr/>
        </p:nvSpPr>
        <p:spPr>
          <a:xfrm>
            <a:off x="3771720" y="5661360"/>
            <a:ext cx="654732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201E1D"/>
                </a:solidFill>
                <a:effectLst/>
                <a:uFillTx/>
                <a:latin typeface="Arial"/>
                <a:ea typeface="Arial"/>
              </a:rPr>
              <a:t>Low — additive + reversible; deterministic core stays a canary</a:t>
            </a:r>
            <a:endParaRPr lang="en-US" sz="1800" b="0" u="none" strike="noStrike">
              <a:solidFill>
                <a:srgbClr val="000000"/>
              </a:solidFill>
              <a:effectLst/>
              <a:uFillTx/>
              <a:latin typeface="Arial"/>
            </a:endParaRPr>
          </a:p>
        </p:txBody>
      </p:sp>
      <p:sp>
        <p:nvSpPr>
          <p:cNvPr id="537" name="Shape 23"/>
          <p:cNvSpPr/>
          <p:nvPr/>
        </p:nvSpPr>
        <p:spPr>
          <a:xfrm>
            <a:off x="10343880" y="6018480"/>
            <a:ext cx="68004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38" name="Text 24"/>
          <p:cNvSpPr/>
          <p:nvPr/>
        </p:nvSpPr>
        <p:spPr>
          <a:xfrm>
            <a:off x="10572480" y="5661360"/>
            <a:ext cx="6775920" cy="194400"/>
          </a:xfrm>
          <a:prstGeom prst="rect">
            <a:avLst/>
          </a:prstGeom>
          <a:noFill/>
          <a:ln w="0">
            <a:noFill/>
          </a:ln>
        </p:spPr>
        <p:style>
          <a:lnRef idx="0"/>
          <a:fillRef idx="0"/>
          <a:effectRef idx="0"/>
          <a:fontRef idx="minor"/>
        </p:style>
        <p:txBody>
          <a:bodyPr lIns="25560" tIns="25560" rIns="25560" bIns="25560" anchor="ctr">
            <a:normAutofit fontScale="40000" lnSpcReduction="19999"/>
          </a:bodyPr>
          <a:p>
            <a:pPr defTabSz="914400">
              <a:lnSpc>
                <a:spcPct val="134000"/>
              </a:lnSpc>
              <a:tabLst>
                <a:tab pos="0" algn="l"/>
              </a:tabLst>
            </a:pPr>
            <a:r>
              <a:rPr lang="en-US" sz="1800" b="0" u="none" strike="noStrike">
                <a:solidFill>
                  <a:srgbClr val="AE1800"/>
                </a:solidFill>
                <a:effectLst/>
                <a:uFillTx/>
                <a:latin typeface="Arial"/>
                <a:ea typeface="Arial"/>
              </a:rPr>
              <a:t>Med–High — data leaves on-prem (a data-residency question)</a:t>
            </a:r>
            <a:endParaRPr lang="en-US" sz="1800" b="0" u="none" strike="noStrike">
              <a:solidFill>
                <a:srgbClr val="000000"/>
              </a:solidFill>
              <a:effectLst/>
              <a:uFillTx/>
              <a:latin typeface="Arial"/>
            </a:endParaRPr>
          </a:p>
        </p:txBody>
      </p:sp>
      <p:sp>
        <p:nvSpPr>
          <p:cNvPr id="539" name="Text 25"/>
          <p:cNvSpPr/>
          <p:nvPr/>
        </p:nvSpPr>
        <p:spPr>
          <a:xfrm>
            <a:off x="1143000" y="6557760"/>
            <a:ext cx="14715720" cy="518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22000"/>
              </a:lnSpc>
              <a:tabLst>
                <a:tab pos="0" algn="l"/>
              </a:tabLst>
            </a:pPr>
            <a:r>
              <a:rPr lang="en-US" sz="1800" b="1" u="none" strike="noStrike">
                <a:solidFill>
                  <a:srgbClr val="201E1D"/>
                </a:solidFill>
                <a:effectLst/>
                <a:uFillTx/>
                <a:latin typeface="Arial"/>
                <a:ea typeface="Arial"/>
              </a:rPr>
              <a:t>Do Option 1 first; Option 2 is the destination. </a:t>
            </a:r>
            <a:r>
              <a:rPr lang="en-US" sz="1800" b="0" u="none" strike="noStrike">
                <a:solidFill>
                  <a:srgbClr val="211D1D">
                    <a:alpha val="55000"/>
                  </a:srgbClr>
                </a:solidFill>
                <a:effectLst/>
                <a:uFillTx/>
                <a:latin typeface="Arial"/>
                <a:ea typeface="Arial"/>
              </a:rPr>
              <a:t>The ensemble inside Option 1 is designed, not built — “to add.” Depth in iv-system-design-and-scaling.md.</a:t>
            </a:r>
            <a:endParaRPr lang="en-US" sz="1800" b="0" u="none" strike="noStrike">
              <a:solidFill>
                <a:srgbClr val="000000"/>
              </a:solidFill>
              <a:effectLst/>
              <a:uFillTx/>
              <a:latin typeface="Arial"/>
            </a:endParaRPr>
          </a:p>
        </p:txBody>
      </p:sp>
      <p:pic>
        <p:nvPicPr>
          <p:cNvPr id="540"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541"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09 · THE HARD PART WASN'T THE CODE</a:t>
            </a:r>
            <a:endParaRPr lang="en-US" sz="1800" b="0" u="none" strike="noStrike">
              <a:solidFill>
                <a:srgbClr val="000000"/>
              </a:solidFill>
              <a:effectLst/>
              <a:uFillTx/>
              <a:latin typeface="Arial"/>
            </a:endParaRPr>
          </a:p>
        </p:txBody>
      </p:sp>
      <p:sp>
        <p:nvSpPr>
          <p:cNvPr id="542"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Most of my time wasn't coding — it was understanding your world</a:t>
            </a:r>
            <a:endParaRPr lang="en-US" sz="4800" b="0" u="none" strike="noStrike">
              <a:solidFill>
                <a:srgbClr val="000000"/>
              </a:solidFill>
              <a:effectLst/>
              <a:uFillTx/>
              <a:latin typeface="Arial"/>
            </a:endParaRPr>
          </a:p>
        </p:txBody>
      </p:sp>
      <p:sp>
        <p:nvSpPr>
          <p:cNvPr id="543" name="Shape 2"/>
          <p:cNvSpPr/>
          <p:nvPr/>
        </p:nvSpPr>
        <p:spPr>
          <a:xfrm>
            <a:off x="1143000" y="3886200"/>
            <a:ext cx="16001640" cy="1488960"/>
          </a:xfrm>
          <a:prstGeom prst="rect">
            <a:avLst/>
          </a:prstGeom>
          <a:noFill/>
          <a:ln w="13912">
            <a:solidFill>
              <a:srgbClr val="201E1D"/>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Shape 3"/>
          <p:cNvSpPr/>
          <p:nvPr/>
        </p:nvSpPr>
        <p:spPr>
          <a:xfrm>
            <a:off x="1157040" y="3900240"/>
            <a:ext cx="10361520" cy="1461240"/>
          </a:xfrm>
          <a:prstGeom prst="rect">
            <a:avLst/>
          </a:prstGeom>
          <a:solidFill>
            <a:srgbClr val="EC301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5" name="Shape 4"/>
          <p:cNvSpPr/>
          <p:nvPr/>
        </p:nvSpPr>
        <p:spPr>
          <a:xfrm>
            <a:off x="1157040" y="5355000"/>
            <a:ext cx="103615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46" name="Shape 5"/>
          <p:cNvSpPr/>
          <p:nvPr/>
        </p:nvSpPr>
        <p:spPr>
          <a:xfrm>
            <a:off x="1157040" y="3900240"/>
            <a:ext cx="1036152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47" name="Shape 6"/>
          <p:cNvSpPr/>
          <p:nvPr/>
        </p:nvSpPr>
        <p:spPr>
          <a:xfrm>
            <a:off x="1157040" y="3900240"/>
            <a:ext cx="9000" cy="146124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8" name="Shape 7"/>
          <p:cNvSpPr/>
          <p:nvPr/>
        </p:nvSpPr>
        <p:spPr>
          <a:xfrm>
            <a:off x="11504880" y="3900240"/>
            <a:ext cx="13680" cy="1461240"/>
          </a:xfrm>
          <a:prstGeom prst="rect">
            <a:avLst/>
          </a:prstGeom>
          <a:solidFill>
            <a:srgbClr val="201E1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9" name="Text 8"/>
          <p:cNvSpPr/>
          <p:nvPr/>
        </p:nvSpPr>
        <p:spPr>
          <a:xfrm>
            <a:off x="1430280" y="4154760"/>
            <a:ext cx="10788120" cy="3805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2700" b="1" u="none" strike="noStrike">
                <a:solidFill>
                  <a:srgbClr val="F3F2F2"/>
                </a:solidFill>
                <a:effectLst/>
                <a:uFillTx/>
                <a:latin typeface="Arial"/>
                <a:ea typeface="Arial"/>
              </a:rPr>
              <a:t>~70%</a:t>
            </a:r>
            <a:endParaRPr lang="en-US" sz="2700" b="0" u="none" strike="noStrike">
              <a:solidFill>
                <a:srgbClr val="000000"/>
              </a:solidFill>
              <a:effectLst/>
              <a:uFillTx/>
              <a:latin typeface="Arial"/>
            </a:endParaRPr>
          </a:p>
        </p:txBody>
      </p:sp>
      <p:sp>
        <p:nvSpPr>
          <p:cNvPr id="550" name="Text 9"/>
          <p:cNvSpPr/>
          <p:nvPr/>
        </p:nvSpPr>
        <p:spPr>
          <a:xfrm>
            <a:off x="1430280" y="4573800"/>
            <a:ext cx="10101600" cy="5713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1" u="none" strike="noStrike">
                <a:solidFill>
                  <a:srgbClr val="F3F2F2"/>
                </a:solidFill>
                <a:effectLst/>
                <a:uFillTx/>
                <a:latin typeface="Arial"/>
                <a:ea typeface="Arial"/>
              </a:rPr>
              <a:t>Understand your world </a:t>
            </a:r>
            <a:r>
              <a:rPr lang="en-US" sz="1800" b="0" u="none" strike="noStrike">
                <a:solidFill>
                  <a:srgbClr val="F3F2F2"/>
                </a:solidFill>
                <a:effectLst/>
                <a:uFillTx/>
                <a:latin typeface="Arial"/>
                <a:ea typeface="Arial"/>
              </a:rPr>
              <a:t>— Sagard · VC/PE/private credit · the personas · how Ops monitors via the Q-reports</a:t>
            </a:r>
            <a:endParaRPr lang="en-US" sz="1800" b="0" u="none" strike="noStrike">
              <a:solidFill>
                <a:srgbClr val="000000"/>
              </a:solidFill>
              <a:effectLst/>
              <a:uFillTx/>
              <a:latin typeface="Arial"/>
            </a:endParaRPr>
          </a:p>
        </p:txBody>
      </p:sp>
      <p:sp>
        <p:nvSpPr>
          <p:cNvPr id="551" name="Shape 10"/>
          <p:cNvSpPr/>
          <p:nvPr/>
        </p:nvSpPr>
        <p:spPr>
          <a:xfrm>
            <a:off x="11518920" y="3900240"/>
            <a:ext cx="1369800" cy="1461240"/>
          </a:xfrm>
          <a:prstGeom prst="rect">
            <a:avLst/>
          </a:prstGeom>
          <a:solidFill>
            <a:srgbClr val="EAE9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2" name="Shape 11"/>
          <p:cNvSpPr/>
          <p:nvPr/>
        </p:nvSpPr>
        <p:spPr>
          <a:xfrm>
            <a:off x="11518920" y="5355000"/>
            <a:ext cx="13698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53" name="Shape 12"/>
          <p:cNvSpPr/>
          <p:nvPr/>
        </p:nvSpPr>
        <p:spPr>
          <a:xfrm>
            <a:off x="11518920" y="3900240"/>
            <a:ext cx="136980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54" name="Shape 13"/>
          <p:cNvSpPr/>
          <p:nvPr/>
        </p:nvSpPr>
        <p:spPr>
          <a:xfrm>
            <a:off x="11518920" y="3900240"/>
            <a:ext cx="9000" cy="146124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5" name="Shape 14"/>
          <p:cNvSpPr/>
          <p:nvPr/>
        </p:nvSpPr>
        <p:spPr>
          <a:xfrm>
            <a:off x="12875040" y="3900240"/>
            <a:ext cx="13680" cy="1461240"/>
          </a:xfrm>
          <a:prstGeom prst="rect">
            <a:avLst/>
          </a:prstGeom>
          <a:solidFill>
            <a:srgbClr val="201E1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6" name="Text 15"/>
          <p:cNvSpPr/>
          <p:nvPr/>
        </p:nvSpPr>
        <p:spPr>
          <a:xfrm>
            <a:off x="11639880" y="4497480"/>
            <a:ext cx="119664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trike="noStrike">
                <a:solidFill>
                  <a:srgbClr val="201E1D"/>
                </a:solidFill>
                <a:effectLst/>
                <a:uFillTx/>
                <a:latin typeface="Arial"/>
                <a:ea typeface="Arial"/>
              </a:rPr>
              <a:t>Scope</a:t>
            </a:r>
            <a:endParaRPr lang="en-US" sz="1800" b="0" u="none" strike="noStrike">
              <a:solidFill>
                <a:srgbClr val="000000"/>
              </a:solidFill>
              <a:effectLst/>
              <a:uFillTx/>
              <a:latin typeface="Arial"/>
            </a:endParaRPr>
          </a:p>
        </p:txBody>
      </p:sp>
      <p:sp>
        <p:nvSpPr>
          <p:cNvPr id="557" name="Shape 16"/>
          <p:cNvSpPr/>
          <p:nvPr/>
        </p:nvSpPr>
        <p:spPr>
          <a:xfrm>
            <a:off x="12889080" y="3900240"/>
            <a:ext cx="3203640" cy="1461240"/>
          </a:xfrm>
          <a:prstGeom prst="rect">
            <a:avLst/>
          </a:prstGeom>
          <a:solidFill>
            <a:srgbClr val="201E1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8" name="Shape 17"/>
          <p:cNvSpPr/>
          <p:nvPr/>
        </p:nvSpPr>
        <p:spPr>
          <a:xfrm>
            <a:off x="12889080" y="5355000"/>
            <a:ext cx="32036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59" name="Shape 18"/>
          <p:cNvSpPr/>
          <p:nvPr/>
        </p:nvSpPr>
        <p:spPr>
          <a:xfrm>
            <a:off x="12889080" y="3900240"/>
            <a:ext cx="320364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60" name="Shape 19"/>
          <p:cNvSpPr/>
          <p:nvPr/>
        </p:nvSpPr>
        <p:spPr>
          <a:xfrm>
            <a:off x="12889080" y="3900240"/>
            <a:ext cx="9000" cy="146124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1" name="Shape 20"/>
          <p:cNvSpPr/>
          <p:nvPr/>
        </p:nvSpPr>
        <p:spPr>
          <a:xfrm>
            <a:off x="16079040" y="3900240"/>
            <a:ext cx="13680" cy="1461240"/>
          </a:xfrm>
          <a:prstGeom prst="rect">
            <a:avLst/>
          </a:prstGeom>
          <a:solidFill>
            <a:srgbClr val="201E1D"/>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2" name="Text 21"/>
          <p:cNvSpPr/>
          <p:nvPr/>
        </p:nvSpPr>
        <p:spPr>
          <a:xfrm>
            <a:off x="13086360" y="4287960"/>
            <a:ext cx="3081960" cy="3805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86000"/>
              </a:lnSpc>
              <a:tabLst>
                <a:tab pos="0" algn="l"/>
              </a:tabLst>
            </a:pPr>
            <a:r>
              <a:rPr lang="en-US" sz="2700" b="1" u="none" strike="noStrike">
                <a:solidFill>
                  <a:srgbClr val="F3F2F2"/>
                </a:solidFill>
                <a:effectLst/>
                <a:uFillTx/>
                <a:latin typeface="Arial"/>
                <a:ea typeface="Arial"/>
              </a:rPr>
              <a:t>~20%</a:t>
            </a:r>
            <a:endParaRPr lang="en-US" sz="2700" b="0" u="none" strike="noStrike">
              <a:solidFill>
                <a:srgbClr val="000000"/>
              </a:solidFill>
              <a:effectLst/>
              <a:uFillTx/>
              <a:latin typeface="Arial"/>
            </a:endParaRPr>
          </a:p>
        </p:txBody>
      </p:sp>
      <p:sp>
        <p:nvSpPr>
          <p:cNvPr id="563" name="Text 22"/>
          <p:cNvSpPr/>
          <p:nvPr/>
        </p:nvSpPr>
        <p:spPr>
          <a:xfrm>
            <a:off x="13086360" y="4707360"/>
            <a:ext cx="30819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trike="noStrike">
                <a:solidFill>
                  <a:srgbClr val="F3F2F2"/>
                </a:solidFill>
                <a:effectLst/>
                <a:uFillTx/>
                <a:latin typeface="Arial"/>
                <a:ea typeface="Arial"/>
              </a:rPr>
              <a:t>Plan · trade-offs · build</a:t>
            </a:r>
            <a:endParaRPr lang="en-US" sz="1800" b="0" u="none" strike="noStrike">
              <a:solidFill>
                <a:srgbClr val="000000"/>
              </a:solidFill>
              <a:effectLst/>
              <a:uFillTx/>
              <a:latin typeface="Arial"/>
            </a:endParaRPr>
          </a:p>
        </p:txBody>
      </p:sp>
      <p:sp>
        <p:nvSpPr>
          <p:cNvPr id="564" name="Shape 23"/>
          <p:cNvSpPr/>
          <p:nvPr/>
        </p:nvSpPr>
        <p:spPr>
          <a:xfrm>
            <a:off x="16093080" y="3900240"/>
            <a:ext cx="1037880" cy="1461240"/>
          </a:xfrm>
          <a:prstGeom prst="rect">
            <a:avLst/>
          </a:prstGeom>
          <a:solidFill>
            <a:srgbClr val="EAE9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5" name="Shape 24"/>
          <p:cNvSpPr/>
          <p:nvPr/>
        </p:nvSpPr>
        <p:spPr>
          <a:xfrm>
            <a:off x="16093080" y="5355000"/>
            <a:ext cx="10378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66" name="Shape 25"/>
          <p:cNvSpPr/>
          <p:nvPr/>
        </p:nvSpPr>
        <p:spPr>
          <a:xfrm>
            <a:off x="16093080" y="3900240"/>
            <a:ext cx="1037880" cy="9000"/>
          </a:xfrm>
          <a:prstGeom prst="rect">
            <a:avLst/>
          </a:prstGeom>
          <a:solidFill>
            <a:srgbClr val="201E1E">
              <a:alpha val="40000"/>
            </a:srgbClr>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567" name="Shape 26"/>
          <p:cNvSpPr/>
          <p:nvPr/>
        </p:nvSpPr>
        <p:spPr>
          <a:xfrm>
            <a:off x="16093080" y="3900240"/>
            <a:ext cx="9000" cy="1461240"/>
          </a:xfrm>
          <a:prstGeom prst="rect">
            <a:avLst/>
          </a:prstGeom>
          <a:solidFill>
            <a:srgbClr val="201E1E">
              <a:alpha val="4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8" name="Text 27"/>
          <p:cNvSpPr/>
          <p:nvPr/>
        </p:nvSpPr>
        <p:spPr>
          <a:xfrm>
            <a:off x="16195320" y="4497480"/>
            <a:ext cx="916560" cy="304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0" u="none" strike="noStrike">
                <a:solidFill>
                  <a:srgbClr val="201E1D"/>
                </a:solidFill>
                <a:effectLst/>
                <a:uFillTx/>
                <a:latin typeface="Arial"/>
                <a:ea typeface="Arial"/>
              </a:rPr>
              <a:t>Slides</a:t>
            </a:r>
            <a:endParaRPr lang="en-US" sz="1800" b="0" u="none" strike="noStrike">
              <a:solidFill>
                <a:srgbClr val="000000"/>
              </a:solidFill>
              <a:effectLst/>
              <a:uFillTx/>
              <a:latin typeface="Arial"/>
            </a:endParaRPr>
          </a:p>
        </p:txBody>
      </p:sp>
      <p:sp>
        <p:nvSpPr>
          <p:cNvPr id="569" name="Text 28"/>
          <p:cNvSpPr/>
          <p:nvPr/>
        </p:nvSpPr>
        <p:spPr>
          <a:xfrm>
            <a:off x="1143000" y="590472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Xavier's own rough estimate — self-reported, not measured. That's the FDE job: point the code at the </a:t>
            </a:r>
            <a:r>
              <a:rPr lang="en-US" sz="1800" b="1" u="none" strike="noStrike">
                <a:solidFill>
                  <a:srgbClr val="201E1D"/>
                </a:solidFill>
                <a:effectLst/>
                <a:uFillTx/>
                <a:latin typeface="Arial"/>
                <a:ea typeface="Arial"/>
              </a:rPr>
              <a:t>right </a:t>
            </a:r>
            <a:r>
              <a:rPr lang="en-US" sz="1800" b="0" u="none" strike="noStrike">
                <a:solidFill>
                  <a:srgbClr val="211D1D">
                    <a:alpha val="55000"/>
                  </a:srgbClr>
                </a:solidFill>
                <a:effectLst/>
                <a:uFillTx/>
                <a:latin typeface="Arial"/>
                <a:ea typeface="Arial"/>
              </a:rPr>
              <a:t>problem.</a:t>
            </a:r>
            <a:endParaRPr lang="en-US" sz="1800" b="0" u="none" strike="noStrike">
              <a:solidFill>
                <a:srgbClr val="000000"/>
              </a:solidFill>
              <a:effectLst/>
              <a:uFillTx/>
              <a:latin typeface="Arial"/>
            </a:endParaRPr>
          </a:p>
        </p:txBody>
      </p:sp>
      <p:pic>
        <p:nvPicPr>
          <p:cNvPr id="570" name="Image 0" descr="preencoded.png"/>
          <p:cNvPicPr/>
          <p:nvPr/>
        </p:nvPicPr>
        <p:blipFill>
          <a:blip r:embed="rId1"/>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571" name="Text 0"/>
          <p:cNvSpPr/>
          <p:nvPr/>
        </p:nvSpPr>
        <p:spPr>
          <a:xfrm>
            <a:off x="1143000" y="528840"/>
            <a:ext cx="1760184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pc="145" strike="noStrike">
                <a:solidFill>
                  <a:srgbClr val="EC3013"/>
                </a:solidFill>
                <a:effectLst/>
                <a:uFillTx/>
                <a:latin typeface="Arial"/>
                <a:ea typeface="Arial"/>
              </a:rPr>
              <a:t>10 · THAT'S CONCORD</a:t>
            </a:r>
            <a:endParaRPr lang="en-US" sz="1800" b="0" u="none" strike="noStrike">
              <a:solidFill>
                <a:srgbClr val="000000"/>
              </a:solidFill>
              <a:effectLst/>
              <a:uFillTx/>
              <a:latin typeface="Arial"/>
            </a:endParaRPr>
          </a:p>
        </p:txBody>
      </p:sp>
      <p:sp>
        <p:nvSpPr>
          <p:cNvPr id="572" name="Text 1"/>
          <p:cNvSpPr/>
          <p:nvPr/>
        </p:nvSpPr>
        <p:spPr>
          <a:xfrm>
            <a:off x="1107720" y="1863720"/>
            <a:ext cx="16518240" cy="1145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pPr>
            <a:r>
              <a:rPr lang="en-US" sz="4800" b="1" u="none" spc="-71" strike="noStrike">
                <a:solidFill>
                  <a:srgbClr val="201E1D"/>
                </a:solidFill>
                <a:effectLst/>
                <a:uFillTx/>
                <a:latin typeface="Arial"/>
                <a:ea typeface="Arial"/>
              </a:rPr>
              <a:t>Comparability, provenance, a path forward — now, your questions</a:t>
            </a:r>
            <a:endParaRPr lang="en-US" sz="4800" b="0" u="none" strike="noStrike">
              <a:solidFill>
                <a:srgbClr val="000000"/>
              </a:solidFill>
              <a:effectLst/>
              <a:uFillTx/>
              <a:latin typeface="Arial"/>
            </a:endParaRPr>
          </a:p>
        </p:txBody>
      </p:sp>
      <p:sp>
        <p:nvSpPr>
          <p:cNvPr id="573" name="Shape 2"/>
          <p:cNvSpPr/>
          <p:nvPr/>
        </p:nvSpPr>
        <p:spPr>
          <a:xfrm>
            <a:off x="1143000" y="3886200"/>
            <a:ext cx="5130360" cy="23040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74" name="Image 0" descr="preencoded.png"/>
          <p:cNvPicPr/>
          <p:nvPr/>
        </p:nvPicPr>
        <p:blipFill>
          <a:blip r:embed="rId1">
            <a:extLst>
              <a:ext uri="{96DAC541-7B7A-43D3-8B79-37D633B846F1}">
                <asvg:svgBlip xmlns:asvg="http://schemas.microsoft.com/office/drawing/2016/SVG/main" r:embed="rId2"/>
              </a:ext>
            </a:extLst>
          </a:blip>
          <a:stretch/>
        </p:blipFill>
        <p:spPr>
          <a:xfrm>
            <a:off x="1461600" y="4242960"/>
            <a:ext cx="418680" cy="418680"/>
          </a:xfrm>
          <a:prstGeom prst="rect">
            <a:avLst/>
          </a:prstGeom>
          <a:noFill/>
          <a:ln w="0">
            <a:noFill/>
          </a:ln>
        </p:spPr>
      </p:pic>
      <p:sp>
        <p:nvSpPr>
          <p:cNvPr id="575" name="Text 3"/>
          <p:cNvSpPr/>
          <p:nvPr/>
        </p:nvSpPr>
        <p:spPr>
          <a:xfrm>
            <a:off x="1461600" y="481428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Comparability is the product</a:t>
            </a:r>
            <a:endParaRPr lang="en-US" sz="2020" b="0" u="none" strike="noStrike">
              <a:solidFill>
                <a:srgbClr val="000000"/>
              </a:solidFill>
              <a:effectLst/>
              <a:uFillTx/>
              <a:latin typeface="Arial"/>
            </a:endParaRPr>
          </a:p>
        </p:txBody>
      </p:sp>
      <p:sp>
        <p:nvSpPr>
          <p:cNvPr id="576" name="Text 4"/>
          <p:cNvSpPr/>
          <p:nvPr/>
        </p:nvSpPr>
        <p:spPr>
          <a:xfrm>
            <a:off x="1461600" y="5262480"/>
            <a:ext cx="4627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not extraction — knowing when not to put two numbers in one column</a:t>
            </a:r>
            <a:endParaRPr lang="en-US" sz="1800" b="0" u="none" strike="noStrike">
              <a:solidFill>
                <a:srgbClr val="000000"/>
              </a:solidFill>
              <a:effectLst/>
              <a:uFillTx/>
              <a:latin typeface="Arial"/>
            </a:endParaRPr>
          </a:p>
        </p:txBody>
      </p:sp>
      <p:sp>
        <p:nvSpPr>
          <p:cNvPr id="577" name="Shape 5"/>
          <p:cNvSpPr/>
          <p:nvPr/>
        </p:nvSpPr>
        <p:spPr>
          <a:xfrm>
            <a:off x="6578640" y="3886200"/>
            <a:ext cx="5130360" cy="23040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78" name="Image 1" descr="preencoded.png"/>
          <p:cNvPicPr/>
          <p:nvPr/>
        </p:nvPicPr>
        <p:blipFill>
          <a:blip r:embed="rId3">
            <a:extLst>
              <a:ext uri="{96DAC541-7B7A-43D3-8B79-37D633B846F1}">
                <asvg:svgBlip xmlns:asvg="http://schemas.microsoft.com/office/drawing/2016/SVG/main" r:embed="rId4"/>
              </a:ext>
            </a:extLst>
          </a:blip>
          <a:stretch/>
        </p:blipFill>
        <p:spPr>
          <a:xfrm>
            <a:off x="6897240" y="4242960"/>
            <a:ext cx="418680" cy="418680"/>
          </a:xfrm>
          <a:prstGeom prst="rect">
            <a:avLst/>
          </a:prstGeom>
          <a:noFill/>
          <a:ln w="0">
            <a:noFill/>
          </a:ln>
        </p:spPr>
      </p:pic>
      <p:sp>
        <p:nvSpPr>
          <p:cNvPr id="579" name="Text 6"/>
          <p:cNvSpPr/>
          <p:nvPr/>
        </p:nvSpPr>
        <p:spPr>
          <a:xfrm>
            <a:off x="6897240" y="481428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Provenance you can prove</a:t>
            </a:r>
            <a:endParaRPr lang="en-US" sz="2020" b="0" u="none" strike="noStrike">
              <a:solidFill>
                <a:srgbClr val="000000"/>
              </a:solidFill>
              <a:effectLst/>
              <a:uFillTx/>
              <a:latin typeface="Arial"/>
            </a:endParaRPr>
          </a:p>
        </p:txBody>
      </p:sp>
      <p:sp>
        <p:nvSpPr>
          <p:cNvPr id="580" name="Text 7"/>
          <p:cNvSpPr/>
          <p:nvPr/>
        </p:nvSpPr>
        <p:spPr>
          <a:xfrm>
            <a:off x="6897240" y="5262480"/>
            <a:ext cx="4942440" cy="3236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every number one click from its source</a:t>
            </a:r>
            <a:endParaRPr lang="en-US" sz="1800" b="0" u="none" strike="noStrike">
              <a:solidFill>
                <a:srgbClr val="000000"/>
              </a:solidFill>
              <a:effectLst/>
              <a:uFillTx/>
              <a:latin typeface="Arial"/>
            </a:endParaRPr>
          </a:p>
        </p:txBody>
      </p:sp>
      <p:sp>
        <p:nvSpPr>
          <p:cNvPr id="581" name="Shape 8"/>
          <p:cNvSpPr/>
          <p:nvPr/>
        </p:nvSpPr>
        <p:spPr>
          <a:xfrm>
            <a:off x="12014280" y="3886200"/>
            <a:ext cx="5130360" cy="2304000"/>
          </a:xfrm>
          <a:prstGeom prst="rect">
            <a:avLst/>
          </a:prstGeom>
          <a:solidFill>
            <a:srgbClr val="F3F2F2"/>
          </a:solidFill>
          <a:ln w="13912">
            <a:solidFill>
              <a:srgbClr val="201E1E">
                <a:alpha val="4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82" name="Image 2" descr="preencoded.png"/>
          <p:cNvPicPr/>
          <p:nvPr/>
        </p:nvPicPr>
        <p:blipFill>
          <a:blip r:embed="rId5">
            <a:extLst>
              <a:ext uri="{96DAC541-7B7A-43D3-8B79-37D633B846F1}">
                <asvg:svgBlip xmlns:asvg="http://schemas.microsoft.com/office/drawing/2016/SVG/main" r:embed="rId6"/>
              </a:ext>
            </a:extLst>
          </a:blip>
          <a:stretch/>
        </p:blipFill>
        <p:spPr>
          <a:xfrm>
            <a:off x="12332880" y="4242960"/>
            <a:ext cx="418680" cy="418680"/>
          </a:xfrm>
          <a:prstGeom prst="rect">
            <a:avLst/>
          </a:prstGeom>
          <a:noFill/>
          <a:ln w="0">
            <a:noFill/>
          </a:ln>
        </p:spPr>
      </p:pic>
      <p:sp>
        <p:nvSpPr>
          <p:cNvPr id="583" name="Text 9"/>
          <p:cNvSpPr/>
          <p:nvPr/>
        </p:nvSpPr>
        <p:spPr>
          <a:xfrm>
            <a:off x="12332880" y="4814280"/>
            <a:ext cx="4942440" cy="3333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1000"/>
              </a:lnSpc>
              <a:tabLst>
                <a:tab pos="0" algn="l"/>
              </a:tabLst>
            </a:pPr>
            <a:r>
              <a:rPr lang="en-US" sz="2020" b="1" u="none" spc="-20" strike="noStrike">
                <a:solidFill>
                  <a:srgbClr val="201E1D"/>
                </a:solidFill>
                <a:effectLst/>
                <a:uFillTx/>
                <a:latin typeface="Arial"/>
                <a:ea typeface="Arial"/>
              </a:rPr>
              <a:t>A clear path forward</a:t>
            </a:r>
            <a:endParaRPr lang="en-US" sz="2020" b="0" u="none" strike="noStrike">
              <a:solidFill>
                <a:srgbClr val="000000"/>
              </a:solidFill>
              <a:effectLst/>
              <a:uFillTx/>
              <a:latin typeface="Arial"/>
            </a:endParaRPr>
          </a:p>
        </p:txBody>
      </p:sp>
      <p:sp>
        <p:nvSpPr>
          <p:cNvPr id="584" name="Text 10"/>
          <p:cNvSpPr/>
          <p:nvPr/>
        </p:nvSpPr>
        <p:spPr>
          <a:xfrm>
            <a:off x="12332880" y="5262480"/>
            <a:ext cx="4627800" cy="609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8000"/>
              </a:lnSpc>
              <a:tabLst>
                <a:tab pos="0" algn="l"/>
              </a:tabLst>
            </a:pPr>
            <a:r>
              <a:rPr lang="en-US" sz="1800" b="0" u="none" strike="noStrike">
                <a:solidFill>
                  <a:srgbClr val="201D1D">
                    <a:alpha val="68000"/>
                  </a:srgbClr>
                </a:solidFill>
                <a:effectLst/>
                <a:uFillTx/>
                <a:latin typeface="Arial"/>
                <a:ea typeface="Arial"/>
              </a:rPr>
              <a:t>to the reliable, redundant, production-grade version</a:t>
            </a:r>
            <a:endParaRPr lang="en-US" sz="1800" b="0" u="none" strike="noStrike">
              <a:solidFill>
                <a:srgbClr val="000000"/>
              </a:solidFill>
              <a:effectLst/>
              <a:uFillTx/>
              <a:latin typeface="Arial"/>
            </a:endParaRPr>
          </a:p>
        </p:txBody>
      </p:sp>
      <p:sp>
        <p:nvSpPr>
          <p:cNvPr id="585" name="Text 11"/>
          <p:cNvSpPr/>
          <p:nvPr/>
        </p:nvSpPr>
        <p:spPr>
          <a:xfrm>
            <a:off x="1143000" y="6719400"/>
            <a:ext cx="15715800" cy="194400"/>
          </a:xfrm>
          <a:prstGeom prst="rect">
            <a:avLst/>
          </a:prstGeom>
          <a:noFill/>
          <a:ln w="0">
            <a:noFill/>
          </a:ln>
        </p:spPr>
        <p:style>
          <a:lnRef idx="0"/>
          <a:fillRef idx="0"/>
          <a:effectRef idx="0"/>
          <a:fontRef idx="minor"/>
        </p:style>
        <p:txBody>
          <a:bodyPr lIns="25560" tIns="25560" rIns="25560" bIns="25560" anchor="t">
            <a:normAutofit fontScale="47500" lnSpcReduction="19999"/>
          </a:bodyPr>
          <a:p>
            <a:pPr defTabSz="914400">
              <a:lnSpc>
                <a:spcPct val="122000"/>
              </a:lnSpc>
              <a:tabLst>
                <a:tab pos="0" algn="l"/>
              </a:tabLst>
            </a:pPr>
            <a:r>
              <a:rPr lang="en-US" sz="1800" b="0" u="none" strike="noStrike">
                <a:solidFill>
                  <a:srgbClr val="211D1D">
                    <a:alpha val="55000"/>
                  </a:srgbClr>
                </a:solidFill>
                <a:effectLst/>
                <a:uFillTx/>
                <a:latin typeface="Arial"/>
                <a:ea typeface="Arial"/>
              </a:rPr>
              <a:t>Over to you — and I have a few questions for you.</a:t>
            </a:r>
            <a:endParaRPr lang="en-US" sz="1800" b="0" u="none" strike="noStrike">
              <a:solidFill>
                <a:srgbClr val="000000"/>
              </a:solidFill>
              <a:effectLst/>
              <a:uFillTx/>
              <a:latin typeface="Arial"/>
            </a:endParaRPr>
          </a:p>
        </p:txBody>
      </p:sp>
      <p:pic>
        <p:nvPicPr>
          <p:cNvPr id="586" name="Image 3" descr="preencoded.png"/>
          <p:cNvPicPr/>
          <p:nvPr/>
        </p:nvPicPr>
        <p:blipFill>
          <a:blip r:embed="rId7"/>
          <a:stretch/>
        </p:blipFill>
        <p:spPr>
          <a:xfrm>
            <a:off x="1143000" y="8987040"/>
            <a:ext cx="3484800" cy="15660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2F2"/>
        </a:solidFill>
      </p:bgPr>
    </p:bg>
    <p:spTree>
      <p:nvGrpSpPr>
        <p:cNvPr id="1" name=""/>
        <p:cNvGrpSpPr/>
        <p:nvPr/>
      </p:nvGrpSpPr>
      <p:grpSpPr>
        <a:xfrm>
          <a:off x="0" y="0"/>
          <a:ext cx="0" cy="0"/>
          <a:chOff x="0" y="0"/>
          <a:chExt cx="0" cy="0"/>
        </a:xfrm>
      </p:grpSpPr>
      <p:sp>
        <p:nvSpPr>
          <p:cNvPr id="587" name="Text 0"/>
          <p:cNvSpPr/>
          <p:nvPr/>
        </p:nvSpPr>
        <p:spPr>
          <a:xfrm>
            <a:off x="15213960" y="914400"/>
            <a:ext cx="2123640" cy="392040"/>
          </a:xfrm>
          <a:prstGeom prst="rect">
            <a:avLst/>
          </a:prstGeom>
          <a:noFill/>
          <a:ln w="0">
            <a:noFill/>
          </a:ln>
        </p:spPr>
        <p:style>
          <a:lnRef idx="0"/>
          <a:fillRef idx="0"/>
          <a:effectRef idx="0"/>
          <a:fontRef idx="minor"/>
        </p:style>
        <p:txBody>
          <a:bodyPr wrap="none" lIns="25560" tIns="25560" rIns="25560" bIns="25560" anchor="t">
            <a:normAutofit lnSpcReduction="9999"/>
          </a:bodyPr>
          <a:p>
            <a:pPr defTabSz="914400">
              <a:lnSpc>
                <a:spcPct val="134000"/>
              </a:lnSpc>
              <a:tabLst>
                <a:tab pos="0" algn="l"/>
              </a:tabLst>
            </a:pPr>
            <a:r>
              <a:rPr lang="en-US" sz="1800" b="1" u="none" spc="145" strike="noStrike">
                <a:solidFill>
                  <a:srgbClr val="211D1D">
                    <a:alpha val="55000"/>
                  </a:srgbClr>
                </a:solidFill>
                <a:effectLst/>
                <a:uFillTx/>
                <a:latin typeface="Arial"/>
                <a:ea typeface="Arial"/>
              </a:rPr>
              <a:t>PREPARED FOR</a:t>
            </a:r>
            <a:endParaRPr lang="en-US" sz="1800" b="0" u="none" strike="noStrike">
              <a:solidFill>
                <a:srgbClr val="000000"/>
              </a:solidFill>
              <a:effectLst/>
              <a:uFillTx/>
              <a:latin typeface="Arial"/>
            </a:endParaRPr>
          </a:p>
        </p:txBody>
      </p:sp>
      <p:pic>
        <p:nvPicPr>
          <p:cNvPr id="588" name="Image 0" descr="preencoded.png"/>
          <p:cNvPicPr/>
          <p:nvPr/>
        </p:nvPicPr>
        <p:blipFill>
          <a:blip r:embed="rId1"/>
          <a:stretch/>
        </p:blipFill>
        <p:spPr>
          <a:xfrm>
            <a:off x="15519960" y="1382760"/>
            <a:ext cx="1624680" cy="399600"/>
          </a:xfrm>
          <a:prstGeom prst="rect">
            <a:avLst/>
          </a:prstGeom>
          <a:noFill/>
          <a:ln w="0">
            <a:noFill/>
          </a:ln>
        </p:spPr>
      </p:pic>
      <p:pic>
        <p:nvPicPr>
          <p:cNvPr id="589" name="Image 1" descr="preencoded.png"/>
          <p:cNvPicPr/>
          <p:nvPr/>
        </p:nvPicPr>
        <p:blipFill>
          <a:blip r:embed="rId2">
            <a:extLst>
              <a:ext uri="{96DAC541-7B7A-43D3-8B79-37D633B846F1}">
                <asvg:svgBlip xmlns:asvg="http://schemas.microsoft.com/office/drawing/2016/SVG/main" r:embed="rId3"/>
              </a:ext>
            </a:extLst>
          </a:blip>
          <a:stretch/>
        </p:blipFill>
        <p:spPr>
          <a:xfrm>
            <a:off x="1143000" y="3191400"/>
            <a:ext cx="1123560" cy="723600"/>
          </a:xfrm>
          <a:prstGeom prst="rect">
            <a:avLst/>
          </a:prstGeom>
          <a:noFill/>
          <a:ln w="0">
            <a:noFill/>
          </a:ln>
        </p:spPr>
      </p:pic>
      <p:sp>
        <p:nvSpPr>
          <p:cNvPr id="590" name="Text 1"/>
          <p:cNvSpPr/>
          <p:nvPr/>
        </p:nvSpPr>
        <p:spPr>
          <a:xfrm>
            <a:off x="2533680" y="3039120"/>
            <a:ext cx="4764240" cy="10663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78000"/>
              </a:lnSpc>
              <a:tabLst>
                <a:tab pos="0" algn="l"/>
              </a:tabLst>
            </a:pPr>
            <a:r>
              <a:rPr lang="en-US" sz="9000" b="1" u="none" spc="-181" strike="noStrike">
                <a:solidFill>
                  <a:srgbClr val="201E1D"/>
                </a:solidFill>
                <a:effectLst/>
                <a:uFillTx/>
                <a:latin typeface="Arial"/>
                <a:ea typeface="Arial"/>
              </a:rPr>
              <a:t>Concord</a:t>
            </a:r>
            <a:endParaRPr lang="en-US" sz="9000" b="0" u="none" strike="noStrike">
              <a:solidFill>
                <a:srgbClr val="000000"/>
              </a:solidFill>
              <a:effectLst/>
              <a:uFillTx/>
              <a:latin typeface="Arial"/>
            </a:endParaRPr>
          </a:p>
        </p:txBody>
      </p:sp>
      <p:sp>
        <p:nvSpPr>
          <p:cNvPr id="591" name="Text 2"/>
          <p:cNvSpPr/>
          <p:nvPr/>
        </p:nvSpPr>
        <p:spPr>
          <a:xfrm>
            <a:off x="1143000" y="4429440"/>
            <a:ext cx="7260120" cy="9788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12000"/>
              </a:lnSpc>
              <a:tabLst>
                <a:tab pos="0" algn="l"/>
              </a:tabLst>
            </a:pPr>
            <a:r>
              <a:rPr lang="en-US" sz="2850" b="0" u="none" strike="noStrike">
                <a:solidFill>
                  <a:srgbClr val="201D1D">
                    <a:alpha val="68000"/>
                  </a:srgbClr>
                </a:solidFill>
                <a:effectLst/>
                <a:uFillTx/>
                <a:latin typeface="Arial"/>
                <a:ea typeface="Arial"/>
              </a:rPr>
              <a:t>One comparable, source-traced view of every portfolio company.</a:t>
            </a:r>
            <a:endParaRPr lang="en-US" sz="2850" b="0" u="none" strike="noStrike">
              <a:solidFill>
                <a:srgbClr val="000000"/>
              </a:solidFill>
              <a:effectLst/>
              <a:uFillTx/>
              <a:latin typeface="Arial"/>
            </a:endParaRPr>
          </a:p>
        </p:txBody>
      </p:sp>
      <p:sp>
        <p:nvSpPr>
          <p:cNvPr id="592" name="Text 3"/>
          <p:cNvSpPr/>
          <p:nvPr/>
        </p:nvSpPr>
        <p:spPr>
          <a:xfrm>
            <a:off x="1143000" y="5718600"/>
            <a:ext cx="6469560" cy="545400"/>
          </a:xfrm>
          <a:prstGeom prst="rect">
            <a:avLst/>
          </a:prstGeom>
          <a:noFill/>
          <a:ln w="0">
            <a:noFill/>
          </a:ln>
        </p:spPr>
        <p:style>
          <a:lnRef idx="0"/>
          <a:fillRef idx="0"/>
          <a:effectRef idx="0"/>
          <a:fontRef idx="minor"/>
        </p:style>
        <p:txBody>
          <a:bodyPr lIns="0" tIns="0" rIns="0" bIns="0" anchor="t">
            <a:normAutofit/>
          </a:bodyPr>
          <a:p>
            <a:pPr defTabSz="914400">
              <a:lnSpc>
                <a:spcPct val="98000"/>
              </a:lnSpc>
              <a:tabLst>
                <a:tab pos="0" algn="l"/>
              </a:tabLst>
            </a:pPr>
            <a:r>
              <a:rPr lang="en-US" sz="3300" b="1" u="none" spc="-48" strike="noStrike">
                <a:solidFill>
                  <a:srgbClr val="201E1D"/>
                </a:solidFill>
                <a:effectLst/>
                <a:uFillTx/>
                <a:latin typeface="Arial"/>
                <a:ea typeface="Arial"/>
              </a:rPr>
              <a:t>Built with AI, decided by humans</a:t>
            </a:r>
            <a:endParaRPr lang="en-US" sz="3300" b="0" u="none" strike="noStrike">
              <a:solidFill>
                <a:srgbClr val="000000"/>
              </a:solidFill>
              <a:effectLst/>
              <a:uFillTx/>
              <a:latin typeface="Arial"/>
            </a:endParaRPr>
          </a:p>
        </p:txBody>
      </p:sp>
      <p:pic>
        <p:nvPicPr>
          <p:cNvPr id="593" name="Image 2" descr="preencoded.png"/>
          <p:cNvPicPr/>
          <p:nvPr/>
        </p:nvPicPr>
        <p:blipFill>
          <a:blip r:embed="rId4">
            <a:extLst>
              <a:ext uri="{96DAC541-7B7A-43D3-8B79-37D633B846F1}">
                <asvg:svgBlip xmlns:asvg="http://schemas.microsoft.com/office/drawing/2016/SVG/main" r:embed="rId5"/>
              </a:ext>
            </a:extLst>
          </a:blip>
          <a:stretch/>
        </p:blipFill>
        <p:spPr>
          <a:xfrm>
            <a:off x="7518960" y="5810400"/>
            <a:ext cx="361440" cy="361440"/>
          </a:xfrm>
          <a:prstGeom prst="rect">
            <a:avLst/>
          </a:prstGeom>
          <a:noFill/>
          <a:ln w="0">
            <a:noFill/>
          </a:ln>
        </p:spPr>
      </p:pic>
      <p:sp>
        <p:nvSpPr>
          <p:cNvPr id="594" name="Text 4"/>
          <p:cNvSpPr/>
          <p:nvPr/>
        </p:nvSpPr>
        <p:spPr>
          <a:xfrm>
            <a:off x="1143000" y="6576480"/>
            <a:ext cx="17601840" cy="4806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35000"/>
              </a:lnSpc>
              <a:tabLst>
                <a:tab pos="0" algn="l"/>
              </a:tabLst>
            </a:pPr>
            <a:r>
              <a:rPr lang="en-US" sz="2250" b="0" u="none" strike="noStrike">
                <a:solidFill>
                  <a:srgbClr val="211D1D">
                    <a:alpha val="55000"/>
                  </a:srgbClr>
                </a:solidFill>
                <a:effectLst/>
                <a:uFillTx/>
                <a:latin typeface="Arial"/>
                <a:ea typeface="Arial"/>
              </a:rPr>
              <a:t>Made with love, with AI — but human-first on every decision. Thanks.</a:t>
            </a:r>
            <a:endParaRPr lang="en-US" sz="2250" b="0" u="none" strike="noStrike">
              <a:solidFill>
                <a:srgbClr val="000000"/>
              </a:solidFill>
              <a:effectLst/>
              <a:uFillTx/>
              <a:latin typeface="Arial"/>
            </a:endParaRPr>
          </a:p>
        </p:txBody>
      </p:sp>
      <p:sp>
        <p:nvSpPr>
          <p:cNvPr id="595" name="Text 5"/>
          <p:cNvSpPr/>
          <p:nvPr/>
        </p:nvSpPr>
        <p:spPr>
          <a:xfrm>
            <a:off x="1143000" y="8987040"/>
            <a:ext cx="158508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Xavier Medina</a:t>
            </a:r>
            <a:endParaRPr lang="en-US" sz="1800" b="0" u="none" strike="noStrike">
              <a:solidFill>
                <a:srgbClr val="000000"/>
              </a:solidFill>
              <a:effectLst/>
              <a:uFillTx/>
              <a:latin typeface="Arial"/>
            </a:endParaRPr>
          </a:p>
        </p:txBody>
      </p:sp>
      <p:sp>
        <p:nvSpPr>
          <p:cNvPr id="596" name="Text 6"/>
          <p:cNvSpPr/>
          <p:nvPr/>
        </p:nvSpPr>
        <p:spPr>
          <a:xfrm>
            <a:off x="2755800" y="8987040"/>
            <a:ext cx="151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597" name="Text 7"/>
          <p:cNvSpPr/>
          <p:nvPr/>
        </p:nvSpPr>
        <p:spPr>
          <a:xfrm>
            <a:off x="3003120" y="8987040"/>
            <a:ext cx="309780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Forward Deployed Engineer</a:t>
            </a:r>
            <a:endParaRPr lang="en-US" sz="1800" b="0" u="none" strike="noStrike">
              <a:solidFill>
                <a:srgbClr val="000000"/>
              </a:solidFill>
              <a:effectLst/>
              <a:uFillTx/>
              <a:latin typeface="Arial"/>
            </a:endParaRPr>
          </a:p>
        </p:txBody>
      </p:sp>
      <p:sp>
        <p:nvSpPr>
          <p:cNvPr id="598" name="Text 8"/>
          <p:cNvSpPr/>
          <p:nvPr/>
        </p:nvSpPr>
        <p:spPr>
          <a:xfrm>
            <a:off x="5991120" y="8987040"/>
            <a:ext cx="151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a:t>
            </a:r>
            <a:endParaRPr lang="en-US" sz="1800" b="0" u="none" strike="noStrike">
              <a:solidFill>
                <a:srgbClr val="000000"/>
              </a:solidFill>
              <a:effectLst/>
              <a:uFillTx/>
              <a:latin typeface="Arial"/>
            </a:endParaRPr>
          </a:p>
        </p:txBody>
      </p:sp>
      <p:sp>
        <p:nvSpPr>
          <p:cNvPr id="599" name="Text 9"/>
          <p:cNvSpPr/>
          <p:nvPr/>
        </p:nvSpPr>
        <p:spPr>
          <a:xfrm>
            <a:off x="6238800" y="8987040"/>
            <a:ext cx="2698920" cy="194400"/>
          </a:xfrm>
          <a:prstGeom prst="rect">
            <a:avLst/>
          </a:prstGeom>
          <a:noFill/>
          <a:ln w="0">
            <a:noFill/>
          </a:ln>
        </p:spPr>
        <p:style>
          <a:lnRef idx="0"/>
          <a:fillRef idx="0"/>
          <a:effectRef idx="0"/>
          <a:fontRef idx="minor"/>
        </p:style>
        <p:txBody>
          <a:bodyPr lIns="25560" tIns="25560" rIns="25560" bIns="25560" anchor="t">
            <a:normAutofit fontScale="40000" lnSpcReduction="19999"/>
          </a:bodyPr>
          <a:p>
            <a:pPr defTabSz="914400">
              <a:lnSpc>
                <a:spcPct val="134000"/>
              </a:lnSpc>
              <a:tabLst>
                <a:tab pos="0" algn="l"/>
              </a:tabLst>
            </a:pPr>
            <a:r>
              <a:rPr lang="en-US" sz="1800" b="0" u="none" strike="noStrike">
                <a:solidFill>
                  <a:srgbClr val="211D1D">
                    <a:alpha val="55000"/>
                  </a:srgbClr>
                </a:solidFill>
                <a:effectLst/>
                <a:uFillTx/>
                <a:latin typeface="Arial"/>
                <a:ea typeface="Arial"/>
              </a:rPr>
              <a:t>xmedinavei@gmail.com</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49</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2026-07-15T01:34:37Z</dcterms:created>
  <dc:creator>PptxGenJS</dc:creator>
  <dc:description/>
  <dc:language>en-US</dc:language>
  <cp:lastModifiedBy/>
  <dcterms:modified xsi:type="dcterms:W3CDTF">2026-07-14T22:38:08Z</dcterms:modified>
  <cp:revision>4</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25</vt:i4>
  </property>
  <property fmtid="{D5CDD505-2E9C-101B-9397-08002B2CF9AE}" pid="3" name="PresentationFormat">
    <vt:lpwstr>On-screen Show (16:9)</vt:lpwstr>
  </property>
  <property fmtid="{D5CDD505-2E9C-101B-9397-08002B2CF9AE}" pid="4" name="Slides">
    <vt:i4>25</vt:i4>
  </property>
</Properties>
</file>