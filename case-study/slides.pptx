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bio, confidently: 'I'm Xavier. I'm a software engineer — for 4+ years I've built AI-powered, production-grade systems end to end. Today at ProsperaLabs I automate real customer workflows across voice, chat and email.' Then the FDE motivation: take an unclear problem, make reasonable assumptions, ship a first useful version, make it reliable enough to trust, improve from real feedback. Then the humility pivot, warmly: 'That's the builder in me. But most of my time here did NOT go into coding — it went into learning your world. So let me show you my map, and please correct me.' Keep 'production-grade' tied to ProsperaLabs, never to Concord — Concord's demo is a single deterministic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line (say it): 'I'm going to show you my mental model of your world. You live this every day — so please stop me and correct me where I'm wrong.' Sagard invests through several branches — venture, PE, private credit, real estate (plus a large solutions / fund-of-funds arm). I scoped Concord to one: the direct PE portfolio companies — the packs in my demo. Credit and the rest are natural extensions, not v1. Say the branch line-up and scale 'roughly — I'll re-verify on sagard.com the morning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fund lives about 10 years across four stages: raise the money, invest it, hold and monitor, then exit and return the cash. Concord lives in stage 3 — hold and monitor — the quarter-by-quarter job of watching every company and reconciling its numbers. Spoken, don't slide: money flow LP → GP (Sagard) → portfolio company → exit → back to the LP; '2 and 20' in one line (≈2% management fee + ~20% carried interest, paid only after LPs get capital + a preferred return back); and 'the mark' — each quarter the GP estimates fair value, a human, audited judgment. Concord feeds the inputs; it never makes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read the SAME quarterly pack, for OPPOSITE jobs. The deal team wants speed; valuations, LP-reporting and credit want precision. Land hard on row 2 — that's our customer. These are my assumed roles; please correct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take-home solved the deal partner's need — an 'AI Scout': give it a company URL, it scrapes the company info and press, searches and scrapes the founders, summarizes, and posts a suggestion in Slack — 'should we move forward?'. I used an LLM there on purpose, because the deal partner needs speed over precision. This round, Portfolio Operations needs the opposite: precision first — a number you'd sign your name to, traceable, with a wrong answer refused rather than guessed. That is why this one is deterministic. Same builder, two rounds, two opposite trust postures.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as the Operations team's own job. 'Remember stage 3 — hold and monitor. The way the team monitors is by reviewing every company's quarterly report, by hand. That manual quarter-close review is a core part of their job — and it's the pain Concord solves.' Make it felt: it's the second week after close; 20+ PDF packs land — a SaaS company, a lender, a payments company, a freight marketplace. An analyst opens each, hunts for the numbers, and hand-keys them into a master spreadsheet. That review IS the monitoring. Honest: these are synthetic test packs — 10 companies across 24 PDFs. Say '20+ packs', never '20+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today/built twin of the future orchestrator picture (slide 17). Walk the pipeline top to bottom: 1 READ — a deterministic parser reads every pack offline; 2 UNDERSTAND — classify equity vs credit, map to one vocabulary, normalize unit + scale; 3 CROSS-CHECK — reconcile against the company's own report; 4 THE COMPARABILITY GATE — is this safe, like-for-like? YES rank it in its sector, NO show it but REFUSE to rank; 5 THE COCKPIT — click any number to see its source. One offline click, and a human owns every number that leaves the building. Land the line: reading the number is the easy 10 percent; comparability + trust is the expensive 90 percent. If a partner asks where did this 78 percent come from, the answer is one click, not re-open the PDF. Honesty: this is what runs today — one deterministic pass; provenance is file-level; the redundant / orchestrator version is the future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trap is provable from the real packs. Trap 1 — same metric renames itself over time; miss a relabel by hand and the trend silently splits. Trap 2 — a software gross margin (cost to deliver software) vs a lender's gross margin (interest income minus cost of funds); one column = quietly wrong. Trap 3 — right number, wrong basis: ClearPay's cash includes restricted client float it can't spend; also (spoken, not on the card) ConstructIQ reports burn per QUARTER while everyone else is per month. Trap 4 — the finished sheet is stale, retyped, and no number links back to its source, so 'where did this 78% come from?' → 'let me re-open the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idea in one picture. Two companies both print the same '60% gross margin' (illustrative) — but a SaaS delivery-margin and a lender's interest-margin are different machines. On screen this fires for real on LendBridge: its labelled 'gross margin' (58→62%) is an interest margin — shown in full, but never ranked against a SaaS margin. The product isn't pulling the number out; the product is knowing when NOT to put them in the same column. Same label, different metric. Comparability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almost verbatim: 'For this demo I used a single deterministic method — fixed rules — on purpose. Rules are cheap, fast, testable, offline, and they never invent a number. But one method is not production-grade: a single reader, however good, can be wrong and you'd never know.' The honest Firecrawl story (own it): 'My first build used Firecrawl, a paid extraction service. I hit errors AND ran out of credit mid-build, so I switched to deterministic — and honestly that was the right move: it let me prove the business case, auditable and offline. Deterministic-first is genuinely right for a trust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one reader trustworthy in production, you don't rely on one. You run 2–4 independent readers in parallel — methods that fail in DIFFERENT ways. A small orchestrator collects their answers: the more readers agree, the higher the confidence; any disagreement flags that metric and sends it to a human, every reader's answer side by side. Consensus is tiered, not all-or-nothing. The disagreement IS the alarm. Deep architecture is in §8 (Group A). Disarming line: 'this demo showcases the business more than the technical — but I'll stay honest about what one method can't do.' Both judges: 'the thing that makes the numbers more correct is the same thing that gives you the control and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I build by, and the one I'd want a tool at Sagard to follow: be AI-first, but human-decision-driven. AI is probabilistic — it gives a likely answer, not a certain one — so we never let it decide. AI does the heavy, repetitive work and suggests with reasons. The human is the center of every decision, and makes every call that reaches a report. A probabilistic model can't decide what's 'right enough' for a report — a human signs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quality first, time second. No invented numbers. 'Today the quarter-close is hours to days — often days — of re-typing 20+ packs before anyone can even see the portfolio. With Concord it's one click to a comparable, source-traced view — so the team spends its time on judgment, not typing. But the bigger win isn't the hours. It's that the comparison is trustworthy, and every number is one click from proof. A wrong number caught before it reaches an investment committee is worth far more than any typing saved.' If they ask for a number, turn it back: 'How many hours does your team actually spend on this today?' Never fabricate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from the app — the three beats and every honest caveat are spoken, not on slides. (1) Pain on screen: load 24 packs offline in ~1 second — 'nothing left the machine' (screenshot the live run; the '24/24' figure comes from the run, never a fixed label). (2) Two proofs: NovaCloud's hidden trend — one lonely dot to a naive tool; Concord stitches renamed labels into 5 quarters, $24.1M → $34.2M (+42%) across 2 source labels; and the refusal — a lender's 62% 'gross margin' next to a SaaS 76%, classifier tags the lender as credit, Concord refuses to rank them and says why. (3) Trust spine: click any number → the provenance drawer shows source file, raw label, confidence, and the exact source text. Say the honesty caveats before they ask: 24 packs are synthetic fixtures, not real filings; PeopleFlow's GBP flag is a front-end rule; provenance is file-level; the raw missing-metric flag has a couple of false positives suppressed on the grid (never '0 false alarms'); intra-SaaS margin is roadmap; 22/22 reconciliation is a second witness, the real catch is the 7 in-document conflicts. If you voice a confidence range, quote only 90.4%–99.5%. Do NOT stage a live 'MediSight +5.5M' catch — not in the corpus. Scripts: cockpit-frontend-guide.md + demo-honesty-script.md.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about making the PRODUCT more trustworthy and more useful — scaling and system design live in §9 and the iv- doc. The honest bottom line: the reliable version of Concord isn't 'more AI.' It's more agreement, more human judgment, and a complete record of both — the ensemble raises warnings, a human decides, and every decision is permanently traceable. Everything in this section is designed, not built. Show Groups A, C, E, G; B and F are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for Parinaz. Three reader FAMILIES that fail differently — Firecrawl (a cloud AI parser — flattens odd tables), a doc-AI/OCR engine (fails quietly), a vision-LLM (fails silently). Three copies of one model share blind spots — confidently wrong the same way (correlated failure); for M independent readers error variance shrinks ~1/M (RMS ~1/√M). So use DIFFERENT mechanisms whose errors decorrelate. Consensus is TIERED, not 'all must agree': validated (all agree within tolerance) / validated-with-note / disagree (no quorum or the most-trusted dissents → human queue) / unresolved. Count isn't enough — independence decides. Deep depth (A0–A9): correlated-failure math, Self-MoA hedge, supervisor graph, the ClearPay trace, cost/latency, confidence routing, the human-review queue — all Q&amp;A, never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future design on one screen — read this first. A document comes in at the top; three AI readers read it at the same time; the orchestrator (a referee) lines them up on the same fact and asks one question — are the numbers close enough? Whatever they agree on is auto-accepted; whatever they disagree on goes to a person with the real PDF in front of them, who validates or corrects, with a second person approving (four-eyes) and a full audit trail. One trusted number lands in the cockpit, still traceable to its source, and every correction teaches the readers. The honest limit the picture shows: all three readers are AI, so they can share a blind spot — agreement is strong evidence, not proof, which is exactly why the disagree path ends at a person. Future expansion, not built; the on-page PDF screenshot is new here — today's proof-of-source is file-level.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numbers are clean and comparable, an LLM writes a short 'here's the story' note — per company and for the whole portfolio — explicitly a suggestion, labelled 'AI suggestion — review'. The human accepts, corrects, or comments; next quarter the LLM reads last quarter's comments first, so it learns the house view. Why it's safe: it reads only over already-normalized, provenance-tagged numbers — it can't inject a wrong figure, only a wrong interpretation, which the human refutes. It cites every number. No dollar-ROI or fund-return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PeopleFlow carries a '· not comparable (GBP)' flag — one label reads 'Net Pound Retention (NPR)', the tell that its figures may be in pounds. So the tool refuses to put it on a dollar axis. The honest limit you MUST own: this flag is a front-end rulebook rule, not captured data — in the live payload PeopleFlow's currency is null and every row is comparable; the parser does not see the £. Roadmap: a dedicated reader captures the currency symbol → captured data; convert LEVELS only with a dated, sourced rate (fx_rate / fx_source / fx_date); refuse to convert RATIOS/percentages; refuse over convert where the rate/basis is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for a compliance-minded operations team (Sharon's world). None of this exists yet — the natural next layer on top of two controls Concord already has (provenance + refuse-to-compare). Design principles: never overwrite silently (the extracted value and every human action are both kept — a correction is a new state); human-in-the-loop (the machine only flags; a human decides); segregation of duties / maker-checker (whoever suggests is not whoever approves); least privilege (see only your assigned companies). The audit trail: an append-only, immutable log — who, which field, old→new, when, why — exportable to survive an auditor or LP challenge. This overlaps iv-system-design-and-scaling.md.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Concord today is a prototype, not a production system. It runs offline in memory, one deterministic extraction pass — no database, no login. The 76%→90% recall is real but measured on 24 synthetic PDFs — enough to prove the idea, not to promise production reliability. How recall was measured (Parinaz will ask): recall = values captured correctly ÷ the 128 numbers physically printed across the 24 synthetic PDFs; the 76%→90% jump came from a backend parser fix, not a changed test set; and recall paired with 0 wrong values is the right measure because a confidently-wrong number is worse than a flagged-missing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paths. Option 1 — harden in place: keep the working engine; add a durable store, a job queue + retries, and the redundant-extraction ensemble; stay offline/on-prem. High reliability gain fast (the ensemble is the biggest single lever); low risk (additive + reversible; the deterministic core stays as a canary). Option 2 — cloud re-platform: event-driven, multi-tenant, auto-scales for quarter-end bursts; highest ceiling but data leaves on-prem — a real data-residency question. Recommendation: do Option 1 first; treat Option 2 as the destination — move only when volume, bursts, tenants or SLAs justify it, and only after data-residency is answered. The depth lives in iv-system-design-and-scaling.md (Q&amp;A /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FDE monologue: 'Most of my time was not coding. It went into understanding your world — what Sagard is and how it makes money, the difference between VC, PE and private credit, how PE works, who the personas are, how the portfolio operations team works and what problems they have, and how they monitor the portfolio using the quarterly reports. Only then did I scope the problem, then plan, weigh trade-offs, and build — and last, make these slides. That's on purpose, because that is what a Forward Deployed Engineer does: take something ambiguous, research it, understand it, get feedback, plan, weigh trade-offs, then solve it with software and AI. The hardest part wasn't the code — it was learning enough of your world to point the code at the right problem.' These percentages are my own rough self-estimate — say 'roughly,' not a measured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Concord — comparability as the product, every number one click from its source, and a clear path to the reliable, redundant version. I'd love your questions — and I have a few for you.' If pressed on 'its source,' provenance is file-level (source file + its own label + confidence + exact excerpt — no page/sentence; page-level anchoring is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it. After the time bar, PAUSE before this card comes up. Bring it up and let the heart line land — read it slowly: 'Concord — one comparable, source-traced view of every portfolio company. Built with AI, decided by humans. Made with love, with AI — but human-first on every decision.' Say 'Thanks,' and leave the card on screen through Q&amp;A. Don't talk over it. 'Human-first on every decision' is the whole thesis in six words. If asked: the Concord mark is original SVG drawn in code; the Sagard logo is loaded from a file I provided, not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image" Target="../media/image-6-5.png"/><Relationship Id="rId6" Type="http://schemas.openxmlformats.org/officeDocument/2006/relationships/image" Target="../media/image-6-6.svg"/><Relationship Id="rId7" Type="http://schemas.openxmlformats.org/officeDocument/2006/relationships/image" Target="../media/image-6-7.png"/><Relationship Id="rId8" Type="http://schemas.openxmlformats.org/officeDocument/2006/relationships/image" Target="../media/image-6-8.svg"/><Relationship Id="rId9" Type="http://schemas.openxmlformats.org/officeDocument/2006/relationships/image" Target="../media/image-6-9.png"/><Relationship Id="rId10" Type="http://schemas.openxmlformats.org/officeDocument/2006/relationships/image" Target="../media/image-6-10.svg"/><Relationship Id="rId11" Type="http://schemas.openxmlformats.org/officeDocument/2006/relationships/image" Target="../media/image-6-11.png"/><Relationship Id="rId12" Type="http://schemas.openxmlformats.org/officeDocument/2006/relationships/image" Target="../media/image-6-12.sv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image" Target="../media/image-24-5.png"/><Relationship Id="rId6" Type="http://schemas.openxmlformats.org/officeDocument/2006/relationships/image" Target="../media/image-24-6.sv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svg"/><Relationship Id="rId4" Type="http://schemas.openxmlformats.org/officeDocument/2006/relationships/image" Target="../media/image-25-4.png"/><Relationship Id="rId5" Type="http://schemas.openxmlformats.org/officeDocument/2006/relationships/image" Target="../media/image-25-5.sv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BUSINESS CASE PRESENTATION</a:t>
            </a:r>
            <a:endParaRPr lang="en-US" sz="1800" dirty="0"/>
          </a:p>
        </p:txBody>
      </p:sp>
      <p:sp>
        <p:nvSpPr>
          <p:cNvPr id="3" name="Text 1"/>
          <p:cNvSpPr/>
          <p:nvPr/>
        </p:nvSpPr>
        <p:spPr>
          <a:xfrm>
            <a:off x="1107646" y="1863576"/>
            <a:ext cx="17641078" cy="460573"/>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A business case for Concord</a:t>
            </a:r>
            <a:endParaRPr lang="en-US" sz="4800" dirty="0"/>
          </a:p>
        </p:txBody>
      </p:sp>
      <p:sp>
        <p:nvSpPr>
          <p:cNvPr id="4" name="Text 2"/>
          <p:cNvSpPr/>
          <p:nvPr/>
        </p:nvSpPr>
        <p:spPr>
          <a:xfrm>
            <a:off x="1142970" y="2727872"/>
            <a:ext cx="14323584" cy="954345"/>
          </a:xfrm>
          <a:prstGeom prst="rect">
            <a:avLst/>
          </a:prstGeom>
          <a:noFill/>
          <a:ln/>
        </p:spPr>
        <p:txBody>
          <a:bodyPr wrap="square" lIns="25400" tIns="25400" rIns="25400" bIns="25400" rtlCol="0" anchor="t">
            <a:normAutofit/>
          </a:bodyPr>
          <a:lstStyle/>
          <a:p>
            <a:pPr algn="l" indent="0" marL="0">
              <a:lnSpc>
                <a:spcPct val="111633"/>
              </a:lnSpc>
              <a:buNone/>
            </a:pPr>
            <a:r>
              <a:rPr lang="en-US" sz="2775" b="1" spc="-42" kern="0" dirty="0">
                <a:solidFill>
                  <a:srgbClr val="201E1D"/>
                </a:solidFill>
                <a:latin typeface="Arial" pitchFamily="34" charset="0"/>
                <a:ea typeface="Arial" pitchFamily="34" charset="-122"/>
                <a:cs typeface="Arial" pitchFamily="34" charset="-120"/>
              </a:rPr>
              <a:t>I’m Xavier — a software engineer who likes </a:t>
            </a:r>
            <a:pPr algn="l" indent="0" marL="0">
              <a:lnSpc>
                <a:spcPct val="111633"/>
              </a:lnSpc>
              <a:buNone/>
            </a:pPr>
            <a:r>
              <a:rPr lang="en-US" sz="2775" b="1" spc="-42" kern="0" dirty="0">
                <a:solidFill>
                  <a:srgbClr val="AE1800"/>
                </a:solidFill>
                <a:latin typeface="Arial" pitchFamily="34" charset="0"/>
                <a:ea typeface="Arial" pitchFamily="34" charset="-122"/>
                <a:cs typeface="Arial" pitchFamily="34" charset="-120"/>
              </a:rPr>
              <a:t>solving hard problems </a:t>
            </a:r>
            <a:pPr algn="l" indent="0" marL="0">
              <a:lnSpc>
                <a:spcPct val="111633"/>
              </a:lnSpc>
              <a:buNone/>
            </a:pPr>
            <a:r>
              <a:rPr lang="en-US" sz="2775" b="1" spc="-42" kern="0" dirty="0">
                <a:solidFill>
                  <a:srgbClr val="201E1D"/>
                </a:solidFill>
                <a:latin typeface="Arial" pitchFamily="34" charset="0"/>
                <a:ea typeface="Arial" pitchFamily="34" charset="-122"/>
                <a:cs typeface="Arial" pitchFamily="34" charset="-120"/>
              </a:rPr>
              <a:t>and </a:t>
            </a:r>
            <a:pPr algn="l" indent="0" marL="0">
              <a:lnSpc>
                <a:spcPct val="111633"/>
              </a:lnSpc>
              <a:buNone/>
            </a:pPr>
            <a:r>
              <a:rPr lang="en-US" sz="2775" b="1" spc="-42" kern="0" dirty="0">
                <a:solidFill>
                  <a:srgbClr val="AE1800"/>
                </a:solidFill>
                <a:latin typeface="Arial" pitchFamily="34" charset="0"/>
                <a:ea typeface="Arial" pitchFamily="34" charset="-122"/>
                <a:cs typeface="Arial" pitchFamily="34" charset="-120"/>
              </a:rPr>
              <a:t>owning them end to end </a:t>
            </a:r>
            <a:pPr algn="l" indent="0" marL="0">
              <a:lnSpc>
                <a:spcPct val="111633"/>
              </a:lnSpc>
              <a:buNone/>
            </a:pPr>
            <a:r>
              <a:rPr lang="en-US" sz="2775" b="1" spc="-42" kern="0" dirty="0">
                <a:solidFill>
                  <a:srgbClr val="201E1D"/>
                </a:solidFill>
                <a:latin typeface="Arial" pitchFamily="34" charset="0"/>
                <a:ea typeface="Arial" pitchFamily="34" charset="-122"/>
                <a:cs typeface="Arial" pitchFamily="34" charset="-120"/>
              </a:rPr>
              <a:t>.</a:t>
            </a:r>
            <a:endParaRPr lang="en-US" sz="2775" dirty="0"/>
          </a:p>
        </p:txBody>
      </p:sp>
      <p:sp>
        <p:nvSpPr>
          <p:cNvPr id="5" name="Text 3"/>
          <p:cNvSpPr/>
          <p:nvPr/>
        </p:nvSpPr>
        <p:spPr>
          <a:xfrm>
            <a:off x="1142970" y="4558516"/>
            <a:ext cx="17602220"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EC3013"/>
                </a:solidFill>
                <a:latin typeface="Arial" pitchFamily="34" charset="0"/>
                <a:ea typeface="Arial" pitchFamily="34" charset="-122"/>
                <a:cs typeface="Arial" pitchFamily="34" charset="-120"/>
              </a:rPr>
              <a:t>HOW I TAKE OWNERSHIP — END TO END</a:t>
            </a:r>
            <a:endParaRPr lang="en-US" sz="1800" dirty="0"/>
          </a:p>
        </p:txBody>
      </p:sp>
      <p:sp>
        <p:nvSpPr>
          <p:cNvPr id="6" name="Shape 4"/>
          <p:cNvSpPr/>
          <p:nvPr/>
        </p:nvSpPr>
        <p:spPr>
          <a:xfrm>
            <a:off x="1142970" y="5122176"/>
            <a:ext cx="2844492" cy="1344914"/>
          </a:xfrm>
          <a:prstGeom prst="rect">
            <a:avLst/>
          </a:prstGeom>
          <a:solidFill>
            <a:srgbClr val="F3F2F2"/>
          </a:solidFill>
          <a:ln w="13912">
            <a:solidFill>
              <a:srgbClr val="201E1E">
                <a:alpha val="40000"/>
              </a:srgbClr>
            </a:solidFill>
            <a:prstDash val="solid"/>
          </a:ln>
        </p:spPr>
      </p:sp>
      <p:sp>
        <p:nvSpPr>
          <p:cNvPr id="7" name="Text 5"/>
          <p:cNvSpPr/>
          <p:nvPr/>
        </p:nvSpPr>
        <p:spPr>
          <a:xfrm>
            <a:off x="1309264" y="5307490"/>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01</a:t>
            </a:r>
            <a:endParaRPr lang="en-US" sz="1800" dirty="0"/>
          </a:p>
        </p:txBody>
      </p:sp>
      <p:sp>
        <p:nvSpPr>
          <p:cNvPr id="8" name="Text 6"/>
          <p:cNvSpPr/>
          <p:nvPr/>
        </p:nvSpPr>
        <p:spPr>
          <a:xfrm>
            <a:off x="1309264" y="5728333"/>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Unclear problem</a:t>
            </a:r>
            <a:endParaRPr lang="en-US" sz="1800" dirty="0"/>
          </a:p>
        </p:txBody>
      </p:sp>
      <p:sp>
        <p:nvSpPr>
          <p:cNvPr id="9" name="Text 7"/>
          <p:cNvSpPr/>
          <p:nvPr/>
        </p:nvSpPr>
        <p:spPr>
          <a:xfrm>
            <a:off x="4092129" y="568029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0" name="Shape 8"/>
          <p:cNvSpPr/>
          <p:nvPr/>
        </p:nvSpPr>
        <p:spPr>
          <a:xfrm>
            <a:off x="4425369" y="5122176"/>
            <a:ext cx="2844600" cy="1344914"/>
          </a:xfrm>
          <a:prstGeom prst="rect">
            <a:avLst/>
          </a:prstGeom>
          <a:solidFill>
            <a:srgbClr val="F3F2F2"/>
          </a:solidFill>
          <a:ln w="13912">
            <a:solidFill>
              <a:srgbClr val="201E1E">
                <a:alpha val="40000"/>
              </a:srgbClr>
            </a:solidFill>
            <a:prstDash val="solid"/>
          </a:ln>
        </p:spPr>
      </p:sp>
      <p:sp>
        <p:nvSpPr>
          <p:cNvPr id="11" name="Text 9"/>
          <p:cNvSpPr/>
          <p:nvPr/>
        </p:nvSpPr>
        <p:spPr>
          <a:xfrm>
            <a:off x="4591662" y="5307490"/>
            <a:ext cx="276321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02</a:t>
            </a:r>
            <a:endParaRPr lang="en-US" sz="1800" dirty="0"/>
          </a:p>
        </p:txBody>
      </p:sp>
      <p:sp>
        <p:nvSpPr>
          <p:cNvPr id="12" name="Text 10"/>
          <p:cNvSpPr/>
          <p:nvPr/>
        </p:nvSpPr>
        <p:spPr>
          <a:xfrm>
            <a:off x="4591662" y="5728333"/>
            <a:ext cx="2588213" cy="56371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Reasonable assumptions</a:t>
            </a:r>
            <a:endParaRPr lang="en-US" sz="1800" dirty="0"/>
          </a:p>
        </p:txBody>
      </p:sp>
      <p:sp>
        <p:nvSpPr>
          <p:cNvPr id="13" name="Text 11"/>
          <p:cNvSpPr/>
          <p:nvPr/>
        </p:nvSpPr>
        <p:spPr>
          <a:xfrm>
            <a:off x="7374636" y="568029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7707876" y="5122176"/>
            <a:ext cx="2844492" cy="1344914"/>
          </a:xfrm>
          <a:prstGeom prst="rect">
            <a:avLst/>
          </a:prstGeom>
          <a:solidFill>
            <a:srgbClr val="F3F2F2"/>
          </a:solidFill>
          <a:ln w="13912">
            <a:solidFill>
              <a:srgbClr val="201E1E">
                <a:alpha val="40000"/>
              </a:srgbClr>
            </a:solidFill>
            <a:prstDash val="solid"/>
          </a:ln>
        </p:spPr>
      </p:sp>
      <p:sp>
        <p:nvSpPr>
          <p:cNvPr id="15" name="Text 13"/>
          <p:cNvSpPr/>
          <p:nvPr/>
        </p:nvSpPr>
        <p:spPr>
          <a:xfrm>
            <a:off x="7874170" y="5307490"/>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03</a:t>
            </a:r>
            <a:endParaRPr lang="en-US" sz="1800" dirty="0"/>
          </a:p>
        </p:txBody>
      </p:sp>
      <p:sp>
        <p:nvSpPr>
          <p:cNvPr id="16" name="Text 14"/>
          <p:cNvSpPr/>
          <p:nvPr/>
        </p:nvSpPr>
        <p:spPr>
          <a:xfrm>
            <a:off x="7874170" y="5728333"/>
            <a:ext cx="2588105" cy="56371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Ship a useful v1 — built to scale</a:t>
            </a:r>
            <a:endParaRPr lang="en-US" sz="1800" dirty="0"/>
          </a:p>
        </p:txBody>
      </p:sp>
      <p:sp>
        <p:nvSpPr>
          <p:cNvPr id="17" name="Text 15"/>
          <p:cNvSpPr/>
          <p:nvPr/>
        </p:nvSpPr>
        <p:spPr>
          <a:xfrm>
            <a:off x="10657036" y="568029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8" name="Shape 16"/>
          <p:cNvSpPr/>
          <p:nvPr/>
        </p:nvSpPr>
        <p:spPr>
          <a:xfrm>
            <a:off x="10990275" y="5122176"/>
            <a:ext cx="2844492" cy="1344914"/>
          </a:xfrm>
          <a:prstGeom prst="rect">
            <a:avLst/>
          </a:prstGeom>
          <a:solidFill>
            <a:srgbClr val="F3F2F2"/>
          </a:solidFill>
          <a:ln w="13912">
            <a:solidFill>
              <a:srgbClr val="201E1E">
                <a:alpha val="40000"/>
              </a:srgbClr>
            </a:solidFill>
            <a:prstDash val="solid"/>
          </a:ln>
        </p:spPr>
      </p:sp>
      <p:sp>
        <p:nvSpPr>
          <p:cNvPr id="19" name="Text 17"/>
          <p:cNvSpPr/>
          <p:nvPr/>
        </p:nvSpPr>
        <p:spPr>
          <a:xfrm>
            <a:off x="11156568" y="5307490"/>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04</a:t>
            </a:r>
            <a:endParaRPr lang="en-US" sz="1800" dirty="0"/>
          </a:p>
        </p:txBody>
      </p:sp>
      <p:sp>
        <p:nvSpPr>
          <p:cNvPr id="20" name="Text 18"/>
          <p:cNvSpPr/>
          <p:nvPr/>
        </p:nvSpPr>
        <p:spPr>
          <a:xfrm>
            <a:off x="11156568" y="5728333"/>
            <a:ext cx="2588105" cy="56371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Make it reliable to trust</a:t>
            </a:r>
            <a:endParaRPr lang="en-US" sz="1800" dirty="0"/>
          </a:p>
        </p:txBody>
      </p:sp>
      <p:sp>
        <p:nvSpPr>
          <p:cNvPr id="21" name="Text 19"/>
          <p:cNvSpPr/>
          <p:nvPr/>
        </p:nvSpPr>
        <p:spPr>
          <a:xfrm>
            <a:off x="13939434" y="568029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14272673" y="5122176"/>
            <a:ext cx="2872316" cy="1344914"/>
          </a:xfrm>
          <a:prstGeom prst="rect">
            <a:avLst/>
          </a:prstGeom>
          <a:solidFill>
            <a:srgbClr val="F3F2F2"/>
          </a:solidFill>
          <a:ln w="27824">
            <a:solidFill>
              <a:srgbClr val="EC3013"/>
            </a:solidFill>
            <a:prstDash val="solid"/>
          </a:ln>
        </p:spPr>
      </p:sp>
      <p:sp>
        <p:nvSpPr>
          <p:cNvPr id="23" name="Text 21"/>
          <p:cNvSpPr/>
          <p:nvPr/>
        </p:nvSpPr>
        <p:spPr>
          <a:xfrm>
            <a:off x="14452879" y="5321403"/>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05 · ↻</a:t>
            </a:r>
            <a:endParaRPr lang="en-US" sz="1800" dirty="0"/>
          </a:p>
        </p:txBody>
      </p:sp>
      <p:sp>
        <p:nvSpPr>
          <p:cNvPr id="24" name="Text 22"/>
          <p:cNvSpPr/>
          <p:nvPr/>
        </p:nvSpPr>
        <p:spPr>
          <a:xfrm>
            <a:off x="14452879" y="5742245"/>
            <a:ext cx="2588105" cy="56371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Improve from real feedback</a:t>
            </a:r>
            <a:endParaRPr lang="en-US" sz="1800" dirty="0"/>
          </a:p>
        </p:txBody>
      </p:sp>
      <p:sp>
        <p:nvSpPr>
          <p:cNvPr id="25" name="Text 23"/>
          <p:cNvSpPr/>
          <p:nvPr/>
        </p:nvSpPr>
        <p:spPr>
          <a:xfrm>
            <a:off x="1142970" y="6996078"/>
            <a:ext cx="15716200" cy="194937"/>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That’s the builder in me — but most of my time here went into understanding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your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world, not the code. So here’s my map; please correct me.</a:t>
            </a:r>
            <a:endParaRPr lang="en-US" sz="1800" dirty="0"/>
          </a:p>
        </p:txBody>
      </p:sp>
      <p:sp>
        <p:nvSpPr>
          <p:cNvPr id="26" name="Text 24"/>
          <p:cNvSpPr/>
          <p:nvPr/>
        </p:nvSpPr>
        <p:spPr>
          <a:xfrm>
            <a:off x="1142970" y="8632925"/>
            <a:ext cx="1501870" cy="549154"/>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Xavier Medina</a:t>
            </a:r>
            <a:endParaRPr lang="en-US" sz="1800" dirty="0"/>
          </a:p>
        </p:txBody>
      </p:sp>
      <p:sp>
        <p:nvSpPr>
          <p:cNvPr id="27" name="Text 25"/>
          <p:cNvSpPr/>
          <p:nvPr/>
        </p:nvSpPr>
        <p:spPr>
          <a:xfrm>
            <a:off x="2740042" y="8632925"/>
            <a:ext cx="15239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2987635" y="8632925"/>
            <a:ext cx="5190308" cy="549154"/>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Software engineer — 4+ yrs shipping production AI</a:t>
            </a:r>
            <a:endParaRPr lang="en-US" sz="1800" dirty="0"/>
          </a:p>
        </p:txBody>
      </p:sp>
      <p:sp>
        <p:nvSpPr>
          <p:cNvPr id="29" name="Text 27"/>
          <p:cNvSpPr/>
          <p:nvPr/>
        </p:nvSpPr>
        <p:spPr>
          <a:xfrm>
            <a:off x="8198171" y="8632925"/>
            <a:ext cx="15239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30" name="Text 28"/>
          <p:cNvSpPr/>
          <p:nvPr/>
        </p:nvSpPr>
        <p:spPr>
          <a:xfrm>
            <a:off x="8445764" y="8632925"/>
            <a:ext cx="8960202" cy="549154"/>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ProsperaLabs — voice · chat · email · ecommerce, real-estate, legal &amp; customer-service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01 · HERE'S MY MAP — CORRECT ME</a:t>
            </a:r>
            <a:endParaRPr lang="en-US" sz="1800" dirty="0"/>
          </a:p>
        </p:txBody>
      </p:sp>
      <p:pic>
        <p:nvPicPr>
          <p:cNvPr id="3" name="Image 0" descr="preencoded.png">    </p:cNvPr>
          <p:cNvPicPr>
            <a:picLocks noChangeAspect="1"/>
          </p:cNvPicPr>
          <p:nvPr/>
        </p:nvPicPr>
        <p:blipFill>
          <a:blip r:embed="rId1"/>
          <a:stretch>
            <a:fillRect/>
          </a:stretch>
        </p:blipFill>
        <p:spPr>
          <a:xfrm>
            <a:off x="15829638" y="457145"/>
            <a:ext cx="1315351" cy="323784"/>
          </a:xfrm>
          <a:prstGeom prst="rect">
            <a:avLst/>
          </a:prstGeom>
        </p:spPr>
      </p:pic>
      <p:sp>
        <p:nvSpPr>
          <p:cNvPr id="4"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Four strategies, one focus — Concord starts with your direct PE portfolio companies</a:t>
            </a:r>
            <a:endParaRPr lang="en-US" sz="4800" dirty="0"/>
          </a:p>
        </p:txBody>
      </p:sp>
      <p:sp>
        <p:nvSpPr>
          <p:cNvPr id="5" name="Shape 2"/>
          <p:cNvSpPr/>
          <p:nvPr/>
        </p:nvSpPr>
        <p:spPr>
          <a:xfrm>
            <a:off x="1142970" y="3886273"/>
            <a:ext cx="3284790" cy="2362566"/>
          </a:xfrm>
          <a:prstGeom prst="rect">
            <a:avLst/>
          </a:prstGeom>
          <a:solidFill>
            <a:srgbClr val="F3F2F2">
              <a:alpha val="40000"/>
            </a:srgbClr>
          </a:solidFill>
          <a:ln w="13912">
            <a:solidFill>
              <a:srgbClr val="201E1E">
                <a:alpha val="16000"/>
              </a:srgbClr>
            </a:solidFill>
            <a:prstDash val="solid"/>
          </a:ln>
        </p:spPr>
      </p:sp>
      <p:sp>
        <p:nvSpPr>
          <p:cNvPr id="6" name="Text 3"/>
          <p:cNvSpPr/>
          <p:nvPr/>
        </p:nvSpPr>
        <p:spPr>
          <a:xfrm>
            <a:off x="1442625" y="4166799"/>
            <a:ext cx="295402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alpha val="40000"/>
                  </a:srgbClr>
                </a:solidFill>
                <a:latin typeface="Arial" pitchFamily="34" charset="0"/>
                <a:ea typeface="Arial" pitchFamily="34" charset="-122"/>
                <a:cs typeface="Arial" pitchFamily="34" charset="-120"/>
              </a:rPr>
              <a:t>Venture</a:t>
            </a:r>
            <a:endParaRPr lang="en-US" sz="2025" dirty="0"/>
          </a:p>
        </p:txBody>
      </p:sp>
      <p:sp>
        <p:nvSpPr>
          <p:cNvPr id="7" name="Text 4"/>
          <p:cNvSpPr/>
          <p:nvPr/>
        </p:nvSpPr>
        <p:spPr>
          <a:xfrm>
            <a:off x="1442625" y="4576663"/>
            <a:ext cx="2954028"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27000"/>
                  </a:srgbClr>
                </a:solidFill>
                <a:latin typeface="Arial" pitchFamily="34" charset="0"/>
                <a:ea typeface="Arial" pitchFamily="34" charset="-122"/>
                <a:cs typeface="Arial" pitchFamily="34" charset="-120"/>
              </a:rPr>
              <a:t>VC</a:t>
            </a:r>
            <a:endParaRPr lang="en-US" sz="1800" dirty="0"/>
          </a:p>
        </p:txBody>
      </p:sp>
      <p:sp>
        <p:nvSpPr>
          <p:cNvPr id="8" name="Shape 5"/>
          <p:cNvSpPr/>
          <p:nvPr/>
        </p:nvSpPr>
        <p:spPr>
          <a:xfrm>
            <a:off x="4618183" y="3886273"/>
            <a:ext cx="5576274" cy="2362566"/>
          </a:xfrm>
          <a:prstGeom prst="rect">
            <a:avLst/>
          </a:prstGeom>
          <a:solidFill>
            <a:srgbClr val="F3F2F2"/>
          </a:solidFill>
          <a:ln w="27824">
            <a:solidFill>
              <a:srgbClr val="EC3013"/>
            </a:solidFill>
            <a:prstDash val="solid"/>
          </a:ln>
        </p:spPr>
      </p:sp>
      <p:pic>
        <p:nvPicPr>
          <p:cNvPr id="9"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22185" y="4171255"/>
            <a:ext cx="361933" cy="228572"/>
          </a:xfrm>
          <a:prstGeom prst="rect">
            <a:avLst/>
          </a:prstGeom>
        </p:spPr>
      </p:pic>
      <p:sp>
        <p:nvSpPr>
          <p:cNvPr id="10" name="Text 6"/>
          <p:cNvSpPr/>
          <p:nvPr/>
        </p:nvSpPr>
        <p:spPr>
          <a:xfrm>
            <a:off x="5350744" y="4171255"/>
            <a:ext cx="958535"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spc="-18" kern="0" dirty="0">
                <a:solidFill>
                  <a:srgbClr val="201E1D"/>
                </a:solidFill>
                <a:latin typeface="Arial" pitchFamily="34" charset="0"/>
                <a:ea typeface="Arial" pitchFamily="34" charset="-122"/>
                <a:cs typeface="Arial" pitchFamily="34" charset="-120"/>
              </a:rPr>
              <a:t>Concord</a:t>
            </a:r>
            <a:endParaRPr lang="en-US" sz="1800" dirty="0"/>
          </a:p>
        </p:txBody>
      </p:sp>
      <p:sp>
        <p:nvSpPr>
          <p:cNvPr id="11" name="Text 7"/>
          <p:cNvSpPr/>
          <p:nvPr/>
        </p:nvSpPr>
        <p:spPr>
          <a:xfrm>
            <a:off x="4922185" y="4514059"/>
            <a:ext cx="5465096"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 CONCORD FOCUSES HERE TODAY</a:t>
            </a:r>
            <a:endParaRPr lang="en-US" sz="1800" dirty="0"/>
          </a:p>
        </p:txBody>
      </p:sp>
      <p:sp>
        <p:nvSpPr>
          <p:cNvPr id="12" name="Text 8"/>
          <p:cNvSpPr/>
          <p:nvPr/>
        </p:nvSpPr>
        <p:spPr>
          <a:xfrm>
            <a:off x="4922185" y="4982507"/>
            <a:ext cx="5465096"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Private equity</a:t>
            </a:r>
            <a:endParaRPr lang="en-US" sz="2025" dirty="0"/>
          </a:p>
        </p:txBody>
      </p:sp>
      <p:sp>
        <p:nvSpPr>
          <p:cNvPr id="13" name="Text 9"/>
          <p:cNvSpPr/>
          <p:nvPr/>
        </p:nvSpPr>
        <p:spPr>
          <a:xfrm>
            <a:off x="4922185" y="5392372"/>
            <a:ext cx="5117317"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direct PE portfolio companies — the packs in my demo</a:t>
            </a:r>
            <a:endParaRPr lang="en-US" sz="1800" dirty="0"/>
          </a:p>
        </p:txBody>
      </p:sp>
      <p:sp>
        <p:nvSpPr>
          <p:cNvPr id="14" name="Shape 10"/>
          <p:cNvSpPr/>
          <p:nvPr/>
        </p:nvSpPr>
        <p:spPr>
          <a:xfrm>
            <a:off x="10384879" y="3886273"/>
            <a:ext cx="3284898" cy="2362566"/>
          </a:xfrm>
          <a:prstGeom prst="rect">
            <a:avLst/>
          </a:prstGeom>
          <a:solidFill>
            <a:srgbClr val="F3F2F2">
              <a:alpha val="40000"/>
            </a:srgbClr>
          </a:solidFill>
          <a:ln w="13912">
            <a:solidFill>
              <a:srgbClr val="201E1E">
                <a:alpha val="16000"/>
              </a:srgbClr>
            </a:solidFill>
            <a:prstDash val="solid"/>
          </a:ln>
        </p:spPr>
      </p:sp>
      <p:sp>
        <p:nvSpPr>
          <p:cNvPr id="15" name="Text 11"/>
          <p:cNvSpPr/>
          <p:nvPr/>
        </p:nvSpPr>
        <p:spPr>
          <a:xfrm>
            <a:off x="10684534" y="4166799"/>
            <a:ext cx="295414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alpha val="40000"/>
                  </a:srgbClr>
                </a:solidFill>
                <a:latin typeface="Arial" pitchFamily="34" charset="0"/>
                <a:ea typeface="Arial" pitchFamily="34" charset="-122"/>
                <a:cs typeface="Arial" pitchFamily="34" charset="-120"/>
              </a:rPr>
              <a:t>Private credit</a:t>
            </a:r>
            <a:endParaRPr lang="en-US" sz="2025" dirty="0"/>
          </a:p>
        </p:txBody>
      </p:sp>
      <p:sp>
        <p:nvSpPr>
          <p:cNvPr id="16" name="Text 12"/>
          <p:cNvSpPr/>
          <p:nvPr/>
        </p:nvSpPr>
        <p:spPr>
          <a:xfrm>
            <a:off x="10684534" y="4576663"/>
            <a:ext cx="2954148"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27000"/>
                  </a:srgbClr>
                </a:solidFill>
                <a:latin typeface="Arial" pitchFamily="34" charset="0"/>
                <a:ea typeface="Arial" pitchFamily="34" charset="-122"/>
                <a:cs typeface="Arial" pitchFamily="34" charset="-120"/>
              </a:rPr>
              <a:t>PC</a:t>
            </a:r>
            <a:endParaRPr lang="en-US" sz="1800" dirty="0"/>
          </a:p>
        </p:txBody>
      </p:sp>
      <p:sp>
        <p:nvSpPr>
          <p:cNvPr id="17" name="Shape 13"/>
          <p:cNvSpPr/>
          <p:nvPr/>
        </p:nvSpPr>
        <p:spPr>
          <a:xfrm>
            <a:off x="13860199" y="3886273"/>
            <a:ext cx="3284790" cy="2362566"/>
          </a:xfrm>
          <a:prstGeom prst="rect">
            <a:avLst/>
          </a:prstGeom>
          <a:solidFill>
            <a:srgbClr val="F3F2F2">
              <a:alpha val="40000"/>
            </a:srgbClr>
          </a:solidFill>
          <a:ln w="13912">
            <a:solidFill>
              <a:srgbClr val="201E1E">
                <a:alpha val="16000"/>
              </a:srgbClr>
            </a:solidFill>
            <a:prstDash val="solid"/>
          </a:ln>
        </p:spPr>
      </p:sp>
      <p:sp>
        <p:nvSpPr>
          <p:cNvPr id="18" name="Text 14"/>
          <p:cNvSpPr/>
          <p:nvPr/>
        </p:nvSpPr>
        <p:spPr>
          <a:xfrm>
            <a:off x="14159854" y="4166799"/>
            <a:ext cx="295402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alpha val="40000"/>
                  </a:srgbClr>
                </a:solidFill>
                <a:latin typeface="Arial" pitchFamily="34" charset="0"/>
                <a:ea typeface="Arial" pitchFamily="34" charset="-122"/>
                <a:cs typeface="Arial" pitchFamily="34" charset="-120"/>
              </a:rPr>
              <a:t>Real estate</a:t>
            </a:r>
            <a:endParaRPr lang="en-US" sz="2025" dirty="0"/>
          </a:p>
        </p:txBody>
      </p:sp>
      <p:sp>
        <p:nvSpPr>
          <p:cNvPr id="19" name="Text 15"/>
          <p:cNvSpPr/>
          <p:nvPr/>
        </p:nvSpPr>
        <p:spPr>
          <a:xfrm>
            <a:off x="14159854" y="4576663"/>
            <a:ext cx="2954028"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27000"/>
                  </a:srgbClr>
                </a:solidFill>
                <a:latin typeface="Arial" pitchFamily="34" charset="0"/>
                <a:ea typeface="Arial" pitchFamily="34" charset="-122"/>
                <a:cs typeface="Arial" pitchFamily="34" charset="-120"/>
              </a:rPr>
              <a:t>+ a large solutions arm</a:t>
            </a:r>
            <a:endParaRPr lang="en-US" sz="1800" dirty="0"/>
          </a:p>
        </p:txBody>
      </p:sp>
      <p:sp>
        <p:nvSpPr>
          <p:cNvPr id="20" name="Text 16"/>
          <p:cNvSpPr/>
          <p:nvPr/>
        </p:nvSpPr>
        <p:spPr>
          <a:xfrm>
            <a:off x="1142970" y="6777827"/>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v1 = PE only; the other three branches are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documented extensions, not built.</a:t>
            </a:r>
            <a:endParaRPr lang="en-US" sz="1800" dirty="0"/>
          </a:p>
        </p:txBody>
      </p:sp>
      <p:sp>
        <p:nvSpPr>
          <p:cNvPr id="21" name="Text 17"/>
          <p:cNvSpPr/>
          <p:nvPr/>
        </p:nvSpPr>
        <p:spPr>
          <a:xfrm>
            <a:off x="1142970" y="8374355"/>
            <a:ext cx="15716200"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dirty="0">
                <a:solidFill>
                  <a:srgbClr val="1F1F1D">
                    <a:alpha val="45000"/>
                  </a:srgbClr>
                </a:solidFill>
                <a:latin typeface="Arial" pitchFamily="34" charset="0"/>
                <a:ea typeface="Arial" pitchFamily="34" charset="-122"/>
                <a:cs typeface="Arial" pitchFamily="34" charset="-120"/>
              </a:rPr>
              <a:t>Re-verify Sagard's strategy line-up + scale figures on sagard.com the morning of; print no AUM / portfolio-count / fund-size numbers as fact.</a:t>
            </a:r>
            <a:endParaRPr lang="en-US" sz="1800" dirty="0"/>
          </a:p>
        </p:txBody>
      </p:sp>
      <p:pic>
        <p:nvPicPr>
          <p:cNvPr id="22" name="Image 2" descr="preencoded.png">    </p:cNvPr>
          <p:cNvPicPr>
            <a:picLocks noChangeAspect="1"/>
          </p:cNvPicPr>
          <p:nvPr/>
        </p:nvPicPr>
        <p:blipFill>
          <a:blip r:embed="rId4"/>
          <a:stretch>
            <a:fillRect/>
          </a:stretch>
        </p:blipFill>
        <p:spPr>
          <a:xfrm>
            <a:off x="1142970" y="8987142"/>
            <a:ext cx="3355111" cy="15683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01 · HERE'S MY MAP — CORRECT ME</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Fundraise → invest → hold → exit: Concord lives in the quarter-by-quarter middle</a:t>
            </a:r>
            <a:endParaRPr lang="en-US" sz="4800" dirty="0"/>
          </a:p>
        </p:txBody>
      </p:sp>
      <p:sp>
        <p:nvSpPr>
          <p:cNvPr id="4" name="Shape 2"/>
          <p:cNvSpPr/>
          <p:nvPr/>
        </p:nvSpPr>
        <p:spPr>
          <a:xfrm>
            <a:off x="1142970" y="3886273"/>
            <a:ext cx="3541186" cy="3002525"/>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323606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STAGE 1</a:t>
            </a:r>
            <a:endParaRPr lang="en-US" sz="1800" dirty="0"/>
          </a:p>
        </p:txBody>
      </p:sp>
      <p:sp>
        <p:nvSpPr>
          <p:cNvPr id="6" name="Text 4"/>
          <p:cNvSpPr/>
          <p:nvPr/>
        </p:nvSpPr>
        <p:spPr>
          <a:xfrm>
            <a:off x="1442625" y="4635247"/>
            <a:ext cx="3236065"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Fundraise</a:t>
            </a:r>
            <a:endParaRPr lang="en-US" sz="2025" dirty="0"/>
          </a:p>
        </p:txBody>
      </p:sp>
      <p:sp>
        <p:nvSpPr>
          <p:cNvPr id="7" name="Text 5"/>
          <p:cNvSpPr/>
          <p:nvPr/>
        </p:nvSpPr>
        <p:spPr>
          <a:xfrm>
            <a:off x="1442625" y="5045112"/>
            <a:ext cx="323606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raise the capital</a:t>
            </a:r>
            <a:endParaRPr lang="en-US" sz="1800" dirty="0"/>
          </a:p>
        </p:txBody>
      </p:sp>
      <p:sp>
        <p:nvSpPr>
          <p:cNvPr id="8" name="Text 6"/>
          <p:cNvSpPr/>
          <p:nvPr/>
        </p:nvSpPr>
        <p:spPr>
          <a:xfrm>
            <a:off x="4836538" y="5235100"/>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9" name="Shape 7"/>
          <p:cNvSpPr/>
          <p:nvPr/>
        </p:nvSpPr>
        <p:spPr>
          <a:xfrm>
            <a:off x="5293574" y="3886273"/>
            <a:ext cx="3541295" cy="3002525"/>
          </a:xfrm>
          <a:prstGeom prst="rect">
            <a:avLst/>
          </a:prstGeom>
          <a:solidFill>
            <a:srgbClr val="F3F2F2"/>
          </a:solidFill>
          <a:ln w="13912">
            <a:solidFill>
              <a:srgbClr val="201E1E">
                <a:alpha val="40000"/>
              </a:srgbClr>
            </a:solidFill>
            <a:prstDash val="solid"/>
          </a:ln>
        </p:spPr>
      </p:sp>
      <p:sp>
        <p:nvSpPr>
          <p:cNvPr id="10" name="Text 8"/>
          <p:cNvSpPr/>
          <p:nvPr/>
        </p:nvSpPr>
        <p:spPr>
          <a:xfrm>
            <a:off x="5593229" y="4166799"/>
            <a:ext cx="323618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STAGE 2</a:t>
            </a:r>
            <a:endParaRPr lang="en-US" sz="1800" dirty="0"/>
          </a:p>
        </p:txBody>
      </p:sp>
      <p:sp>
        <p:nvSpPr>
          <p:cNvPr id="11" name="Text 9"/>
          <p:cNvSpPr/>
          <p:nvPr/>
        </p:nvSpPr>
        <p:spPr>
          <a:xfrm>
            <a:off x="5593229" y="4635247"/>
            <a:ext cx="3236184"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Invest</a:t>
            </a:r>
            <a:endParaRPr lang="en-US" sz="2025" dirty="0"/>
          </a:p>
        </p:txBody>
      </p:sp>
      <p:sp>
        <p:nvSpPr>
          <p:cNvPr id="12" name="Text 10"/>
          <p:cNvSpPr/>
          <p:nvPr/>
        </p:nvSpPr>
        <p:spPr>
          <a:xfrm>
            <a:off x="5593229" y="5045112"/>
            <a:ext cx="3236184"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buy the companies</a:t>
            </a:r>
            <a:endParaRPr lang="en-US" sz="1800" dirty="0"/>
          </a:p>
        </p:txBody>
      </p:sp>
      <p:sp>
        <p:nvSpPr>
          <p:cNvPr id="13" name="Text 11"/>
          <p:cNvSpPr/>
          <p:nvPr/>
        </p:nvSpPr>
        <p:spPr>
          <a:xfrm>
            <a:off x="8987251" y="5235100"/>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4" name="Shape 12"/>
          <p:cNvSpPr/>
          <p:nvPr/>
        </p:nvSpPr>
        <p:spPr>
          <a:xfrm>
            <a:off x="9444287" y="3886273"/>
            <a:ext cx="3549990" cy="3002525"/>
          </a:xfrm>
          <a:prstGeom prst="rect">
            <a:avLst/>
          </a:prstGeom>
          <a:solidFill>
            <a:srgbClr val="F3F2F2"/>
          </a:solidFill>
          <a:ln w="27824">
            <a:solidFill>
              <a:srgbClr val="EC3013"/>
            </a:solidFill>
            <a:prstDash val="solid"/>
          </a:ln>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748289" y="4171255"/>
            <a:ext cx="361933" cy="228572"/>
          </a:xfrm>
          <a:prstGeom prst="rect">
            <a:avLst/>
          </a:prstGeom>
        </p:spPr>
      </p:pic>
      <p:sp>
        <p:nvSpPr>
          <p:cNvPr id="16" name="Text 13"/>
          <p:cNvSpPr/>
          <p:nvPr/>
        </p:nvSpPr>
        <p:spPr>
          <a:xfrm>
            <a:off x="10176849" y="4171255"/>
            <a:ext cx="958535"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spc="-18" kern="0" dirty="0">
                <a:solidFill>
                  <a:srgbClr val="201E1D"/>
                </a:solidFill>
                <a:latin typeface="Arial" pitchFamily="34" charset="0"/>
                <a:ea typeface="Arial" pitchFamily="34" charset="-122"/>
                <a:cs typeface="Arial" pitchFamily="34" charset="-120"/>
              </a:rPr>
              <a:t>Concord</a:t>
            </a:r>
            <a:endParaRPr lang="en-US" sz="1800" dirty="0"/>
          </a:p>
        </p:txBody>
      </p:sp>
      <p:sp>
        <p:nvSpPr>
          <p:cNvPr id="17" name="Text 14"/>
          <p:cNvSpPr/>
          <p:nvPr/>
        </p:nvSpPr>
        <p:spPr>
          <a:xfrm>
            <a:off x="9748289" y="4514059"/>
            <a:ext cx="3030245" cy="746533"/>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STAGE 3 · CONCORD'S HOME</a:t>
            </a:r>
            <a:endParaRPr lang="en-US" sz="1800" dirty="0"/>
          </a:p>
        </p:txBody>
      </p:sp>
      <p:sp>
        <p:nvSpPr>
          <p:cNvPr id="18" name="Text 15"/>
          <p:cNvSpPr/>
          <p:nvPr/>
        </p:nvSpPr>
        <p:spPr>
          <a:xfrm>
            <a:off x="9748289" y="5336724"/>
            <a:ext cx="3236184"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Hold / monitor</a:t>
            </a:r>
            <a:endParaRPr lang="en-US" sz="2025" dirty="0"/>
          </a:p>
        </p:txBody>
      </p:sp>
      <p:sp>
        <p:nvSpPr>
          <p:cNvPr id="19" name="Text 16"/>
          <p:cNvSpPr/>
          <p:nvPr/>
        </p:nvSpPr>
        <p:spPr>
          <a:xfrm>
            <a:off x="9748289" y="5746589"/>
            <a:ext cx="3030245" cy="895328"/>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watch every company, reconcile its numbers — every quarter</a:t>
            </a:r>
            <a:endParaRPr lang="en-US" sz="1800" dirty="0"/>
          </a:p>
        </p:txBody>
      </p:sp>
      <p:sp>
        <p:nvSpPr>
          <p:cNvPr id="20" name="Text 17"/>
          <p:cNvSpPr/>
          <p:nvPr/>
        </p:nvSpPr>
        <p:spPr>
          <a:xfrm>
            <a:off x="13146658" y="5235100"/>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21" name="Shape 18"/>
          <p:cNvSpPr/>
          <p:nvPr/>
        </p:nvSpPr>
        <p:spPr>
          <a:xfrm>
            <a:off x="13603694" y="3886273"/>
            <a:ext cx="3541295" cy="3002525"/>
          </a:xfrm>
          <a:prstGeom prst="rect">
            <a:avLst/>
          </a:prstGeom>
          <a:solidFill>
            <a:srgbClr val="F3F2F2"/>
          </a:solidFill>
          <a:ln w="13912">
            <a:solidFill>
              <a:srgbClr val="201E1E">
                <a:alpha val="40000"/>
              </a:srgbClr>
            </a:solidFill>
            <a:prstDash val="solid"/>
          </a:ln>
        </p:spPr>
      </p:sp>
      <p:sp>
        <p:nvSpPr>
          <p:cNvPr id="22" name="Text 19"/>
          <p:cNvSpPr/>
          <p:nvPr/>
        </p:nvSpPr>
        <p:spPr>
          <a:xfrm>
            <a:off x="13903349" y="4166799"/>
            <a:ext cx="323618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STAGE 4</a:t>
            </a:r>
            <a:endParaRPr lang="en-US" sz="1800" dirty="0"/>
          </a:p>
        </p:txBody>
      </p:sp>
      <p:sp>
        <p:nvSpPr>
          <p:cNvPr id="23" name="Text 20"/>
          <p:cNvSpPr/>
          <p:nvPr/>
        </p:nvSpPr>
        <p:spPr>
          <a:xfrm>
            <a:off x="13903349" y="4635247"/>
            <a:ext cx="3236184"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Exit</a:t>
            </a:r>
            <a:endParaRPr lang="en-US" sz="2025" dirty="0"/>
          </a:p>
        </p:txBody>
      </p:sp>
      <p:sp>
        <p:nvSpPr>
          <p:cNvPr id="24" name="Text 21"/>
          <p:cNvSpPr/>
          <p:nvPr/>
        </p:nvSpPr>
        <p:spPr>
          <a:xfrm>
            <a:off x="13903349" y="5045112"/>
            <a:ext cx="3236184"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sell, return the cash</a:t>
            </a:r>
            <a:endParaRPr lang="en-US" sz="1800" dirty="0"/>
          </a:p>
        </p:txBody>
      </p:sp>
      <p:sp>
        <p:nvSpPr>
          <p:cNvPr id="25" name="Text 22"/>
          <p:cNvSpPr/>
          <p:nvPr/>
        </p:nvSpPr>
        <p:spPr>
          <a:xfrm>
            <a:off x="1142970" y="7417786"/>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A fund lives ~10 years; monitoring is the quarter-by-quarter middle.</a:t>
            </a:r>
            <a:endParaRPr lang="en-US" sz="1800" dirty="0"/>
          </a:p>
        </p:txBody>
      </p:sp>
      <p:sp>
        <p:nvSpPr>
          <p:cNvPr id="26" name="Text 23"/>
          <p:cNvSpPr/>
          <p:nvPr/>
        </p:nvSpPr>
        <p:spPr>
          <a:xfrm>
            <a:off x="1142970" y="8103612"/>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Concord feeds the inputs to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the mark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it never makes the mark (a human, audited judgment).</a:t>
            </a:r>
            <a:endParaRPr lang="en-US" sz="1800" dirty="0"/>
          </a:p>
        </p:txBody>
      </p:sp>
      <p:pic>
        <p:nvPicPr>
          <p:cNvPr id="27" name="Image 1" descr="preencoded.png">    </p:cNvPr>
          <p:cNvPicPr>
            <a:picLocks noChangeAspect="1"/>
          </p:cNvPicPr>
          <p:nvPr/>
        </p:nvPicPr>
        <p:blipFill>
          <a:blip r:embed="rId3"/>
          <a:stretch>
            <a:fillRect/>
          </a:stretch>
        </p:blipFill>
        <p:spPr>
          <a:xfrm>
            <a:off x="1142970" y="8987142"/>
            <a:ext cx="3355111" cy="15683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01 · HERE'S MY MAP — CORRECT ME</a:t>
            </a:r>
            <a:endParaRPr lang="en-US" sz="1800" dirty="0"/>
          </a:p>
        </p:txBody>
      </p:sp>
      <p:sp>
        <p:nvSpPr>
          <p:cNvPr id="3" name="Text 1"/>
          <p:cNvSpPr/>
          <p:nvPr/>
        </p:nvSpPr>
        <p:spPr>
          <a:xfrm>
            <a:off x="1107646" y="1863576"/>
            <a:ext cx="17641078" cy="460573"/>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Five people read the same pack — for opposite jobs</a:t>
            </a:r>
            <a:endParaRPr lang="en-US" sz="4800" dirty="0"/>
          </a:p>
        </p:txBody>
      </p:sp>
      <p:sp>
        <p:nvSpPr>
          <p:cNvPr id="4" name="Shape 2"/>
          <p:cNvSpPr/>
          <p:nvPr/>
        </p:nvSpPr>
        <p:spPr>
          <a:xfrm>
            <a:off x="1142970" y="4098216"/>
            <a:ext cx="609526" cy="13912"/>
          </a:xfrm>
          <a:prstGeom prst="rect">
            <a:avLst/>
          </a:prstGeom>
          <a:solidFill>
            <a:srgbClr val="201E1E">
              <a:alpha val="40000"/>
            </a:srgbClr>
          </a:solidFill>
          <a:ln/>
        </p:spPr>
      </p:sp>
      <p:sp>
        <p:nvSpPr>
          <p:cNvPr id="5" name="Shape 3"/>
          <p:cNvSpPr/>
          <p:nvPr/>
        </p:nvSpPr>
        <p:spPr>
          <a:xfrm>
            <a:off x="1752497" y="4098216"/>
            <a:ext cx="4172450" cy="13912"/>
          </a:xfrm>
          <a:prstGeom prst="rect">
            <a:avLst/>
          </a:prstGeom>
          <a:solidFill>
            <a:srgbClr val="201E1E">
              <a:alpha val="40000"/>
            </a:srgbClr>
          </a:solidFill>
          <a:ln/>
        </p:spPr>
      </p:sp>
      <p:sp>
        <p:nvSpPr>
          <p:cNvPr id="6" name="Text 4"/>
          <p:cNvSpPr/>
          <p:nvPr/>
        </p:nvSpPr>
        <p:spPr>
          <a:xfrm>
            <a:off x="1981097" y="3578445"/>
            <a:ext cx="3840424" cy="189398"/>
          </a:xfrm>
          <a:prstGeom prst="rect">
            <a:avLst/>
          </a:prstGeom>
          <a:noFill/>
          <a:ln/>
        </p:spPr>
        <p:txBody>
          <a:bodyPr wrap="square" lIns="25400" tIns="25400" rIns="25400" bIns="25400" rtlCol="0" anchor="ctr">
            <a:normAutofit/>
          </a:bodyPr>
          <a:lstStyle/>
          <a:p>
            <a:pPr algn="l" indent="0" marL="0">
              <a:lnSpc>
                <a:spcPct val="134048"/>
              </a:lnSpc>
              <a:buNone/>
            </a:pPr>
            <a:r>
              <a:rPr lang="en-US" sz="1800" b="1" spc="144" kern="0" dirty="0">
                <a:solidFill>
                  <a:srgbClr val="201E1C">
                    <a:alpha val="60000"/>
                  </a:srgbClr>
                </a:solidFill>
                <a:latin typeface="Arial" pitchFamily="34" charset="0"/>
                <a:ea typeface="Arial" pitchFamily="34" charset="-122"/>
                <a:cs typeface="Arial" pitchFamily="34" charset="-120"/>
              </a:rPr>
              <a:t>PERSONA</a:t>
            </a:r>
            <a:endParaRPr lang="en-US" sz="1800" dirty="0"/>
          </a:p>
        </p:txBody>
      </p:sp>
      <p:sp>
        <p:nvSpPr>
          <p:cNvPr id="7" name="Shape 5"/>
          <p:cNvSpPr/>
          <p:nvPr/>
        </p:nvSpPr>
        <p:spPr>
          <a:xfrm>
            <a:off x="5924946" y="4098216"/>
            <a:ext cx="4786976" cy="13912"/>
          </a:xfrm>
          <a:prstGeom prst="rect">
            <a:avLst/>
          </a:prstGeom>
          <a:solidFill>
            <a:srgbClr val="201E1E">
              <a:alpha val="40000"/>
            </a:srgbClr>
          </a:solidFill>
          <a:ln/>
        </p:spPr>
      </p:sp>
      <p:sp>
        <p:nvSpPr>
          <p:cNvPr id="8" name="Text 6"/>
          <p:cNvSpPr/>
          <p:nvPr/>
        </p:nvSpPr>
        <p:spPr>
          <a:xfrm>
            <a:off x="6153546" y="3578445"/>
            <a:ext cx="4473385" cy="189398"/>
          </a:xfrm>
          <a:prstGeom prst="rect">
            <a:avLst/>
          </a:prstGeom>
          <a:noFill/>
          <a:ln/>
        </p:spPr>
        <p:txBody>
          <a:bodyPr wrap="square" lIns="25400" tIns="25400" rIns="25400" bIns="25400" rtlCol="0" anchor="ctr">
            <a:normAutofit/>
          </a:bodyPr>
          <a:lstStyle/>
          <a:p>
            <a:pPr algn="l" indent="0" marL="0">
              <a:lnSpc>
                <a:spcPct val="134048"/>
              </a:lnSpc>
              <a:buNone/>
            </a:pPr>
            <a:r>
              <a:rPr lang="en-US" sz="1800" b="1" spc="144" kern="0" dirty="0">
                <a:solidFill>
                  <a:srgbClr val="201E1C">
                    <a:alpha val="60000"/>
                  </a:srgbClr>
                </a:solidFill>
                <a:latin typeface="Arial" pitchFamily="34" charset="0"/>
                <a:ea typeface="Arial" pitchFamily="34" charset="-122"/>
                <a:cs typeface="Arial" pitchFamily="34" charset="-120"/>
              </a:rPr>
              <a:t>WHAT THEY DO</a:t>
            </a:r>
            <a:endParaRPr lang="en-US" sz="1800" dirty="0"/>
          </a:p>
        </p:txBody>
      </p:sp>
      <p:sp>
        <p:nvSpPr>
          <p:cNvPr id="9" name="Shape 7"/>
          <p:cNvSpPr/>
          <p:nvPr/>
        </p:nvSpPr>
        <p:spPr>
          <a:xfrm>
            <a:off x="10711923" y="4098216"/>
            <a:ext cx="5289988" cy="13912"/>
          </a:xfrm>
          <a:prstGeom prst="rect">
            <a:avLst/>
          </a:prstGeom>
          <a:solidFill>
            <a:srgbClr val="201E1E">
              <a:alpha val="40000"/>
            </a:srgbClr>
          </a:solidFill>
          <a:ln/>
        </p:spPr>
      </p:sp>
      <p:sp>
        <p:nvSpPr>
          <p:cNvPr id="10" name="Text 8"/>
          <p:cNvSpPr/>
          <p:nvPr/>
        </p:nvSpPr>
        <p:spPr>
          <a:xfrm>
            <a:off x="10940523" y="3578445"/>
            <a:ext cx="5220087" cy="189398"/>
          </a:xfrm>
          <a:prstGeom prst="rect">
            <a:avLst/>
          </a:prstGeom>
          <a:noFill/>
          <a:ln/>
        </p:spPr>
        <p:txBody>
          <a:bodyPr wrap="square" lIns="25400" tIns="25400" rIns="25400" bIns="25400" rtlCol="0" anchor="ctr">
            <a:normAutofit/>
          </a:bodyPr>
          <a:lstStyle/>
          <a:p>
            <a:pPr algn="l" indent="0" marL="0">
              <a:lnSpc>
                <a:spcPct val="134048"/>
              </a:lnSpc>
              <a:buNone/>
            </a:pPr>
            <a:r>
              <a:rPr lang="en-US" sz="1800" b="1" spc="144" kern="0" dirty="0">
                <a:solidFill>
                  <a:srgbClr val="201E1C">
                    <a:alpha val="60000"/>
                  </a:srgbClr>
                </a:solidFill>
                <a:latin typeface="Arial" pitchFamily="34" charset="0"/>
                <a:ea typeface="Arial" pitchFamily="34" charset="-122"/>
                <a:cs typeface="Arial" pitchFamily="34" charset="-120"/>
              </a:rPr>
              <a:t>TRUST POSTURE</a:t>
            </a:r>
            <a:endParaRPr lang="en-US" sz="1800" dirty="0"/>
          </a:p>
        </p:txBody>
      </p:sp>
      <p:sp>
        <p:nvSpPr>
          <p:cNvPr id="11" name="Shape 9"/>
          <p:cNvSpPr/>
          <p:nvPr/>
        </p:nvSpPr>
        <p:spPr>
          <a:xfrm>
            <a:off x="1142970" y="5020439"/>
            <a:ext cx="609526" cy="9525"/>
          </a:xfrm>
          <a:prstGeom prst="rect">
            <a:avLst/>
          </a:prstGeom>
          <a:solidFill>
            <a:srgbClr val="201E1E">
              <a:alpha val="40000"/>
            </a:srgbClr>
          </a:solidFill>
          <a:ln/>
        </p:spPr>
      </p:sp>
      <p:sp>
        <p:nvSpPr>
          <p:cNvPr id="12" name="Text 10"/>
          <p:cNvSpPr/>
          <p:nvPr/>
        </p:nvSpPr>
        <p:spPr>
          <a:xfrm>
            <a:off x="1142970" y="4469844"/>
            <a:ext cx="457126" cy="230979"/>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EC3013"/>
                </a:solidFill>
                <a:latin typeface="Arial" pitchFamily="34" charset="0"/>
                <a:ea typeface="Arial" pitchFamily="34" charset="-122"/>
                <a:cs typeface="Arial" pitchFamily="34" charset="-120"/>
              </a:rPr>
              <a:t>1</a:t>
            </a:r>
            <a:endParaRPr lang="en-US" sz="2175" dirty="0"/>
          </a:p>
        </p:txBody>
      </p:sp>
      <p:sp>
        <p:nvSpPr>
          <p:cNvPr id="13" name="Shape 11"/>
          <p:cNvSpPr/>
          <p:nvPr/>
        </p:nvSpPr>
        <p:spPr>
          <a:xfrm>
            <a:off x="1752497" y="5020439"/>
            <a:ext cx="4172450" cy="9525"/>
          </a:xfrm>
          <a:prstGeom prst="rect">
            <a:avLst/>
          </a:prstGeom>
          <a:solidFill>
            <a:srgbClr val="201E1E">
              <a:alpha val="40000"/>
            </a:srgbClr>
          </a:solidFill>
          <a:ln/>
        </p:spPr>
      </p:sp>
      <p:sp>
        <p:nvSpPr>
          <p:cNvPr id="14" name="Text 12"/>
          <p:cNvSpPr/>
          <p:nvPr/>
        </p:nvSpPr>
        <p:spPr>
          <a:xfrm>
            <a:off x="1981097" y="4469844"/>
            <a:ext cx="3840424" cy="230979"/>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Deal partner</a:t>
            </a:r>
            <a:endParaRPr lang="en-US" sz="2175" dirty="0"/>
          </a:p>
        </p:txBody>
      </p:sp>
      <p:sp>
        <p:nvSpPr>
          <p:cNvPr id="15" name="Shape 13"/>
          <p:cNvSpPr/>
          <p:nvPr/>
        </p:nvSpPr>
        <p:spPr>
          <a:xfrm>
            <a:off x="5924946" y="5020439"/>
            <a:ext cx="4786976" cy="9525"/>
          </a:xfrm>
          <a:prstGeom prst="rect">
            <a:avLst/>
          </a:prstGeom>
          <a:solidFill>
            <a:srgbClr val="201E1E">
              <a:alpha val="40000"/>
            </a:srgbClr>
          </a:solidFill>
          <a:ln/>
        </p:spPr>
      </p:sp>
      <p:sp>
        <p:nvSpPr>
          <p:cNvPr id="16" name="Text 14"/>
          <p:cNvSpPr/>
          <p:nvPr/>
        </p:nvSpPr>
        <p:spPr>
          <a:xfrm>
            <a:off x="6153546" y="4469844"/>
            <a:ext cx="4473385" cy="230979"/>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Fast “on track?” board read</a:t>
            </a:r>
            <a:endParaRPr lang="en-US" sz="2175" dirty="0"/>
          </a:p>
        </p:txBody>
      </p:sp>
      <p:sp>
        <p:nvSpPr>
          <p:cNvPr id="17" name="Shape 15"/>
          <p:cNvSpPr/>
          <p:nvPr/>
        </p:nvSpPr>
        <p:spPr>
          <a:xfrm>
            <a:off x="10711923" y="5020439"/>
            <a:ext cx="5289988" cy="9525"/>
          </a:xfrm>
          <a:prstGeom prst="rect">
            <a:avLst/>
          </a:prstGeom>
          <a:solidFill>
            <a:srgbClr val="201E1E">
              <a:alpha val="40000"/>
            </a:srgbClr>
          </a:solidFill>
          <a:ln/>
        </p:spPr>
      </p:sp>
      <p:sp>
        <p:nvSpPr>
          <p:cNvPr id="18" name="Text 16"/>
          <p:cNvSpPr/>
          <p:nvPr/>
        </p:nvSpPr>
        <p:spPr>
          <a:xfrm>
            <a:off x="10940523" y="4469844"/>
            <a:ext cx="5220087" cy="230979"/>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Speed over precision</a:t>
            </a:r>
            <a:endParaRPr lang="en-US" sz="2175" dirty="0"/>
          </a:p>
        </p:txBody>
      </p:sp>
      <p:sp>
        <p:nvSpPr>
          <p:cNvPr id="19" name="Shape 17"/>
          <p:cNvSpPr/>
          <p:nvPr/>
        </p:nvSpPr>
        <p:spPr>
          <a:xfrm>
            <a:off x="1142970" y="5027395"/>
            <a:ext cx="14858940" cy="1576421"/>
          </a:xfrm>
          <a:prstGeom prst="rect">
            <a:avLst/>
          </a:prstGeom>
          <a:solidFill>
            <a:srgbClr val="FFF2EF"/>
          </a:solidFill>
          <a:ln/>
        </p:spPr>
      </p:sp>
      <p:sp>
        <p:nvSpPr>
          <p:cNvPr id="20" name="Shape 18"/>
          <p:cNvSpPr/>
          <p:nvPr/>
        </p:nvSpPr>
        <p:spPr>
          <a:xfrm>
            <a:off x="1142970" y="6596860"/>
            <a:ext cx="609526" cy="9525"/>
          </a:xfrm>
          <a:prstGeom prst="rect">
            <a:avLst/>
          </a:prstGeom>
          <a:solidFill>
            <a:srgbClr val="201E1E">
              <a:alpha val="40000"/>
            </a:srgbClr>
          </a:solidFill>
          <a:ln/>
        </p:spPr>
      </p:sp>
      <p:sp>
        <p:nvSpPr>
          <p:cNvPr id="21" name="Text 19"/>
          <p:cNvSpPr/>
          <p:nvPr/>
        </p:nvSpPr>
        <p:spPr>
          <a:xfrm>
            <a:off x="1142970" y="5385112"/>
            <a:ext cx="457126" cy="892132"/>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EC3013"/>
                </a:solidFill>
                <a:latin typeface="Arial" pitchFamily="34" charset="0"/>
                <a:ea typeface="Arial" pitchFamily="34" charset="-122"/>
                <a:cs typeface="Arial" pitchFamily="34" charset="-120"/>
              </a:rPr>
              <a:t>2</a:t>
            </a:r>
            <a:endParaRPr lang="en-US" sz="2175" dirty="0"/>
          </a:p>
        </p:txBody>
      </p:sp>
      <p:sp>
        <p:nvSpPr>
          <p:cNvPr id="22" name="Shape 20"/>
          <p:cNvSpPr/>
          <p:nvPr/>
        </p:nvSpPr>
        <p:spPr>
          <a:xfrm>
            <a:off x="1752497" y="6596860"/>
            <a:ext cx="4172450" cy="9525"/>
          </a:xfrm>
          <a:prstGeom prst="rect">
            <a:avLst/>
          </a:prstGeom>
          <a:solidFill>
            <a:srgbClr val="201E1E">
              <a:alpha val="40000"/>
            </a:srgbClr>
          </a:solidFill>
          <a:ln/>
        </p:spPr>
      </p:sp>
      <p:sp>
        <p:nvSpPr>
          <p:cNvPr id="23" name="Text 21"/>
          <p:cNvSpPr/>
          <p:nvPr/>
        </p:nvSpPr>
        <p:spPr>
          <a:xfrm>
            <a:off x="1981097" y="5384145"/>
            <a:ext cx="3840424" cy="894066"/>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AE1800"/>
                </a:solidFill>
                <a:latin typeface="Arial" pitchFamily="34" charset="0"/>
                <a:ea typeface="Arial" pitchFamily="34" charset="-122"/>
                <a:cs typeface="Arial" pitchFamily="34" charset="-120"/>
              </a:rPr>
              <a:t>Reporting Operations + Controls</a:t>
            </a:r>
            <a:endParaRPr lang="en-US" sz="2175" dirty="0"/>
          </a:p>
        </p:txBody>
      </p:sp>
      <p:sp>
        <p:nvSpPr>
          <p:cNvPr id="24" name="Shape 22"/>
          <p:cNvSpPr/>
          <p:nvPr/>
        </p:nvSpPr>
        <p:spPr>
          <a:xfrm>
            <a:off x="5924946" y="6596860"/>
            <a:ext cx="4786976" cy="9525"/>
          </a:xfrm>
          <a:prstGeom prst="rect">
            <a:avLst/>
          </a:prstGeom>
          <a:solidFill>
            <a:srgbClr val="201E1E">
              <a:alpha val="40000"/>
            </a:srgbClr>
          </a:solidFill>
          <a:ln/>
        </p:spPr>
      </p:sp>
      <p:sp>
        <p:nvSpPr>
          <p:cNvPr id="25" name="Text 23"/>
          <p:cNvSpPr/>
          <p:nvPr/>
        </p:nvSpPr>
        <p:spPr>
          <a:xfrm>
            <a:off x="6153546" y="5385112"/>
            <a:ext cx="4473385" cy="892132"/>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AE1800"/>
                </a:solidFill>
                <a:latin typeface="Arial" pitchFamily="34" charset="0"/>
                <a:ea typeface="Arial" pitchFamily="34" charset="-122"/>
                <a:cs typeface="Arial" pitchFamily="34" charset="-120"/>
              </a:rPr>
              <a:t>Owns the reconciliation &amp; reporting grind</a:t>
            </a:r>
            <a:endParaRPr lang="en-US" sz="2175" dirty="0"/>
          </a:p>
        </p:txBody>
      </p:sp>
      <p:sp>
        <p:nvSpPr>
          <p:cNvPr id="26" name="Shape 24"/>
          <p:cNvSpPr/>
          <p:nvPr/>
        </p:nvSpPr>
        <p:spPr>
          <a:xfrm>
            <a:off x="10711923" y="6596860"/>
            <a:ext cx="5289988" cy="9525"/>
          </a:xfrm>
          <a:prstGeom prst="rect">
            <a:avLst/>
          </a:prstGeom>
          <a:solidFill>
            <a:srgbClr val="201E1E">
              <a:alpha val="40000"/>
            </a:srgbClr>
          </a:solidFill>
          <a:ln/>
        </p:spPr>
      </p:sp>
      <p:sp>
        <p:nvSpPr>
          <p:cNvPr id="27" name="Text 25"/>
          <p:cNvSpPr/>
          <p:nvPr/>
        </p:nvSpPr>
        <p:spPr>
          <a:xfrm>
            <a:off x="10940495" y="5436282"/>
            <a:ext cx="3513866" cy="793052"/>
          </a:xfrm>
          <a:prstGeom prst="rect">
            <a:avLst/>
          </a:prstGeom>
          <a:noFill/>
          <a:ln/>
        </p:spPr>
        <p:txBody>
          <a:bodyPr wrap="square" lIns="0" tIns="0" rIns="0" bIns="0" rtlCol="0" anchor="t">
            <a:normAutofit/>
          </a:bodyPr>
          <a:lstStyle/>
          <a:p>
            <a:pPr algn="l" indent="0" marL="0">
              <a:lnSpc>
                <a:spcPct val="136778"/>
              </a:lnSpc>
              <a:buNone/>
            </a:pPr>
            <a:r>
              <a:rPr lang="en-US" sz="2175" b="1" dirty="0">
                <a:solidFill>
                  <a:srgbClr val="AE1800"/>
                </a:solidFill>
                <a:latin typeface="Arial" pitchFamily="34" charset="0"/>
                <a:ea typeface="Arial" pitchFamily="34" charset="-122"/>
                <a:cs typeface="Arial" pitchFamily="34" charset="-120"/>
              </a:rPr>
              <a:t>Comparability + control ⬅ our customer</a:t>
            </a:r>
            <a:endParaRPr lang="en-US" sz="2175" dirty="0"/>
          </a:p>
        </p:txBody>
      </p:sp>
      <p:pic>
        <p:nvPicPr>
          <p:cNvPr id="2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5620956" y="5696592"/>
            <a:ext cx="380954" cy="238028"/>
          </a:xfrm>
          <a:prstGeom prst="rect">
            <a:avLst/>
          </a:prstGeom>
        </p:spPr>
      </p:pic>
      <p:sp>
        <p:nvSpPr>
          <p:cNvPr id="29" name="Shape 26"/>
          <p:cNvSpPr/>
          <p:nvPr/>
        </p:nvSpPr>
        <p:spPr>
          <a:xfrm>
            <a:off x="1142970" y="7508649"/>
            <a:ext cx="609526" cy="9525"/>
          </a:xfrm>
          <a:prstGeom prst="rect">
            <a:avLst/>
          </a:prstGeom>
          <a:solidFill>
            <a:srgbClr val="201E1E">
              <a:alpha val="40000"/>
            </a:srgbClr>
          </a:solidFill>
          <a:ln/>
        </p:spPr>
      </p:sp>
      <p:sp>
        <p:nvSpPr>
          <p:cNvPr id="30" name="Text 27"/>
          <p:cNvSpPr/>
          <p:nvPr/>
        </p:nvSpPr>
        <p:spPr>
          <a:xfrm>
            <a:off x="1142970" y="6961532"/>
            <a:ext cx="457126"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EC3013"/>
                </a:solidFill>
                <a:latin typeface="Arial" pitchFamily="34" charset="0"/>
                <a:ea typeface="Arial" pitchFamily="34" charset="-122"/>
                <a:cs typeface="Arial" pitchFamily="34" charset="-120"/>
              </a:rPr>
              <a:t>3</a:t>
            </a:r>
            <a:endParaRPr lang="en-US" sz="2175" dirty="0"/>
          </a:p>
        </p:txBody>
      </p:sp>
      <p:sp>
        <p:nvSpPr>
          <p:cNvPr id="31" name="Shape 28"/>
          <p:cNvSpPr/>
          <p:nvPr/>
        </p:nvSpPr>
        <p:spPr>
          <a:xfrm>
            <a:off x="1752497" y="7508649"/>
            <a:ext cx="4172450" cy="9525"/>
          </a:xfrm>
          <a:prstGeom prst="rect">
            <a:avLst/>
          </a:prstGeom>
          <a:solidFill>
            <a:srgbClr val="201E1E">
              <a:alpha val="40000"/>
            </a:srgbClr>
          </a:solidFill>
          <a:ln/>
        </p:spPr>
      </p:sp>
      <p:sp>
        <p:nvSpPr>
          <p:cNvPr id="32" name="Text 29"/>
          <p:cNvSpPr/>
          <p:nvPr/>
        </p:nvSpPr>
        <p:spPr>
          <a:xfrm>
            <a:off x="1981097" y="6961532"/>
            <a:ext cx="3840424"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Valuation analyst</a:t>
            </a:r>
            <a:endParaRPr lang="en-US" sz="2175" dirty="0"/>
          </a:p>
        </p:txBody>
      </p:sp>
      <p:sp>
        <p:nvSpPr>
          <p:cNvPr id="33" name="Shape 30"/>
          <p:cNvSpPr/>
          <p:nvPr/>
        </p:nvSpPr>
        <p:spPr>
          <a:xfrm>
            <a:off x="5924946" y="7508649"/>
            <a:ext cx="4786976" cy="9525"/>
          </a:xfrm>
          <a:prstGeom prst="rect">
            <a:avLst/>
          </a:prstGeom>
          <a:solidFill>
            <a:srgbClr val="201E1E">
              <a:alpha val="40000"/>
            </a:srgbClr>
          </a:solidFill>
          <a:ln/>
        </p:spPr>
      </p:sp>
      <p:sp>
        <p:nvSpPr>
          <p:cNvPr id="34" name="Text 31"/>
          <p:cNvSpPr/>
          <p:nvPr/>
        </p:nvSpPr>
        <p:spPr>
          <a:xfrm>
            <a:off x="6153546" y="6961532"/>
            <a:ext cx="4473385"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Sets each mark → fund NAV</a:t>
            </a:r>
            <a:endParaRPr lang="en-US" sz="2175" dirty="0"/>
          </a:p>
        </p:txBody>
      </p:sp>
      <p:sp>
        <p:nvSpPr>
          <p:cNvPr id="35" name="Shape 32"/>
          <p:cNvSpPr/>
          <p:nvPr/>
        </p:nvSpPr>
        <p:spPr>
          <a:xfrm>
            <a:off x="10711923" y="7508649"/>
            <a:ext cx="5289988" cy="9525"/>
          </a:xfrm>
          <a:prstGeom prst="rect">
            <a:avLst/>
          </a:prstGeom>
          <a:solidFill>
            <a:srgbClr val="201E1E">
              <a:alpha val="40000"/>
            </a:srgbClr>
          </a:solidFill>
          <a:ln/>
        </p:spPr>
      </p:sp>
      <p:sp>
        <p:nvSpPr>
          <p:cNvPr id="36" name="Text 33"/>
          <p:cNvSpPr/>
          <p:nvPr/>
        </p:nvSpPr>
        <p:spPr>
          <a:xfrm>
            <a:off x="10940523" y="6961532"/>
            <a:ext cx="5220087"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Precision above all</a:t>
            </a:r>
            <a:endParaRPr lang="en-US" sz="2175" dirty="0"/>
          </a:p>
        </p:txBody>
      </p:sp>
      <p:sp>
        <p:nvSpPr>
          <p:cNvPr id="37" name="Shape 34"/>
          <p:cNvSpPr/>
          <p:nvPr/>
        </p:nvSpPr>
        <p:spPr>
          <a:xfrm>
            <a:off x="1142970" y="8420439"/>
            <a:ext cx="609526" cy="9525"/>
          </a:xfrm>
          <a:prstGeom prst="rect">
            <a:avLst/>
          </a:prstGeom>
          <a:solidFill>
            <a:srgbClr val="201E1E">
              <a:alpha val="40000"/>
            </a:srgbClr>
          </a:solidFill>
          <a:ln/>
        </p:spPr>
      </p:sp>
      <p:sp>
        <p:nvSpPr>
          <p:cNvPr id="38" name="Text 35"/>
          <p:cNvSpPr/>
          <p:nvPr/>
        </p:nvSpPr>
        <p:spPr>
          <a:xfrm>
            <a:off x="1142970" y="7873322"/>
            <a:ext cx="457126"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EC3013"/>
                </a:solidFill>
                <a:latin typeface="Arial" pitchFamily="34" charset="0"/>
                <a:ea typeface="Arial" pitchFamily="34" charset="-122"/>
                <a:cs typeface="Arial" pitchFamily="34" charset="-120"/>
              </a:rPr>
              <a:t>4</a:t>
            </a:r>
            <a:endParaRPr lang="en-US" sz="2175" dirty="0"/>
          </a:p>
        </p:txBody>
      </p:sp>
      <p:sp>
        <p:nvSpPr>
          <p:cNvPr id="39" name="Shape 36"/>
          <p:cNvSpPr/>
          <p:nvPr/>
        </p:nvSpPr>
        <p:spPr>
          <a:xfrm>
            <a:off x="1752497" y="8420439"/>
            <a:ext cx="4172450" cy="9525"/>
          </a:xfrm>
          <a:prstGeom prst="rect">
            <a:avLst/>
          </a:prstGeom>
          <a:solidFill>
            <a:srgbClr val="201E1E">
              <a:alpha val="40000"/>
            </a:srgbClr>
          </a:solidFill>
          <a:ln/>
        </p:spPr>
      </p:sp>
      <p:sp>
        <p:nvSpPr>
          <p:cNvPr id="40" name="Text 37"/>
          <p:cNvSpPr/>
          <p:nvPr/>
        </p:nvSpPr>
        <p:spPr>
          <a:xfrm>
            <a:off x="1981097" y="7873322"/>
            <a:ext cx="3840424"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IR / LP-reporting</a:t>
            </a:r>
            <a:endParaRPr lang="en-US" sz="2175" dirty="0"/>
          </a:p>
        </p:txBody>
      </p:sp>
      <p:sp>
        <p:nvSpPr>
          <p:cNvPr id="41" name="Shape 38"/>
          <p:cNvSpPr/>
          <p:nvPr/>
        </p:nvSpPr>
        <p:spPr>
          <a:xfrm>
            <a:off x="5924946" y="8420439"/>
            <a:ext cx="4786976" cy="9525"/>
          </a:xfrm>
          <a:prstGeom prst="rect">
            <a:avLst/>
          </a:prstGeom>
          <a:solidFill>
            <a:srgbClr val="201E1E">
              <a:alpha val="40000"/>
            </a:srgbClr>
          </a:solidFill>
          <a:ln/>
        </p:spPr>
      </p:sp>
      <p:sp>
        <p:nvSpPr>
          <p:cNvPr id="42" name="Text 39"/>
          <p:cNvSpPr/>
          <p:nvPr/>
        </p:nvSpPr>
        <p:spPr>
          <a:xfrm>
            <a:off x="6153546" y="7873322"/>
            <a:ext cx="4473385"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Reports numbers outward</a:t>
            </a:r>
            <a:endParaRPr lang="en-US" sz="2175" dirty="0"/>
          </a:p>
        </p:txBody>
      </p:sp>
      <p:sp>
        <p:nvSpPr>
          <p:cNvPr id="43" name="Shape 40"/>
          <p:cNvSpPr/>
          <p:nvPr/>
        </p:nvSpPr>
        <p:spPr>
          <a:xfrm>
            <a:off x="10711923" y="8420439"/>
            <a:ext cx="5289988" cy="9525"/>
          </a:xfrm>
          <a:prstGeom prst="rect">
            <a:avLst/>
          </a:prstGeom>
          <a:solidFill>
            <a:srgbClr val="201E1E">
              <a:alpha val="40000"/>
            </a:srgbClr>
          </a:solidFill>
          <a:ln/>
        </p:spPr>
      </p:sp>
      <p:sp>
        <p:nvSpPr>
          <p:cNvPr id="44" name="Text 41"/>
          <p:cNvSpPr/>
          <p:nvPr/>
        </p:nvSpPr>
        <p:spPr>
          <a:xfrm>
            <a:off x="10940523" y="7873322"/>
            <a:ext cx="5220087" cy="227501"/>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Precision (external)</a:t>
            </a:r>
            <a:endParaRPr lang="en-US" sz="2175" dirty="0"/>
          </a:p>
        </p:txBody>
      </p:sp>
      <p:sp>
        <p:nvSpPr>
          <p:cNvPr id="45" name="Shape 42"/>
          <p:cNvSpPr/>
          <p:nvPr/>
        </p:nvSpPr>
        <p:spPr>
          <a:xfrm>
            <a:off x="1142970" y="9760245"/>
            <a:ext cx="609526" cy="9525"/>
          </a:xfrm>
          <a:prstGeom prst="rect">
            <a:avLst/>
          </a:prstGeom>
          <a:solidFill>
            <a:srgbClr val="201E1E">
              <a:alpha val="40000"/>
            </a:srgbClr>
          </a:solidFill>
          <a:ln/>
        </p:spPr>
      </p:sp>
      <p:sp>
        <p:nvSpPr>
          <p:cNvPr id="46" name="Text 43"/>
          <p:cNvSpPr/>
          <p:nvPr/>
        </p:nvSpPr>
        <p:spPr>
          <a:xfrm>
            <a:off x="1142970" y="8785112"/>
            <a:ext cx="457126" cy="655517"/>
          </a:xfrm>
          <a:prstGeom prst="rect">
            <a:avLst/>
          </a:prstGeom>
          <a:noFill/>
          <a:ln/>
        </p:spPr>
        <p:txBody>
          <a:bodyPr wrap="square" lIns="25400" tIns="25400" rIns="25400" bIns="25400" rtlCol="0" anchor="ctr">
            <a:normAutofit/>
          </a:bodyPr>
          <a:lstStyle/>
          <a:p>
            <a:pPr algn="l" indent="0" marL="0">
              <a:lnSpc>
                <a:spcPct val="136778"/>
              </a:lnSpc>
              <a:buNone/>
            </a:pPr>
            <a:r>
              <a:rPr lang="en-US" sz="2175" b="1" dirty="0">
                <a:solidFill>
                  <a:srgbClr val="EC3013"/>
                </a:solidFill>
                <a:latin typeface="Arial" pitchFamily="34" charset="0"/>
                <a:ea typeface="Arial" pitchFamily="34" charset="-122"/>
                <a:cs typeface="Arial" pitchFamily="34" charset="-120"/>
              </a:rPr>
              <a:t>5</a:t>
            </a:r>
            <a:endParaRPr lang="en-US" sz="2175" dirty="0"/>
          </a:p>
        </p:txBody>
      </p:sp>
      <p:sp>
        <p:nvSpPr>
          <p:cNvPr id="47" name="Shape 44"/>
          <p:cNvSpPr/>
          <p:nvPr/>
        </p:nvSpPr>
        <p:spPr>
          <a:xfrm>
            <a:off x="1752497" y="9760245"/>
            <a:ext cx="4172450" cy="9525"/>
          </a:xfrm>
          <a:prstGeom prst="rect">
            <a:avLst/>
          </a:prstGeom>
          <a:solidFill>
            <a:srgbClr val="201E1E">
              <a:alpha val="40000"/>
            </a:srgbClr>
          </a:solidFill>
          <a:ln/>
        </p:spPr>
      </p:sp>
      <p:sp>
        <p:nvSpPr>
          <p:cNvPr id="48" name="Text 45"/>
          <p:cNvSpPr/>
          <p:nvPr/>
        </p:nvSpPr>
        <p:spPr>
          <a:xfrm>
            <a:off x="1981097" y="8785112"/>
            <a:ext cx="3840424" cy="655517"/>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Risk / Credit analyst</a:t>
            </a:r>
            <a:endParaRPr lang="en-US" sz="2175" dirty="0"/>
          </a:p>
        </p:txBody>
      </p:sp>
      <p:sp>
        <p:nvSpPr>
          <p:cNvPr id="49" name="Shape 46"/>
          <p:cNvSpPr/>
          <p:nvPr/>
        </p:nvSpPr>
        <p:spPr>
          <a:xfrm>
            <a:off x="5924946" y="9760245"/>
            <a:ext cx="4786976" cy="9525"/>
          </a:xfrm>
          <a:prstGeom prst="rect">
            <a:avLst/>
          </a:prstGeom>
          <a:solidFill>
            <a:srgbClr val="201E1E">
              <a:alpha val="40000"/>
            </a:srgbClr>
          </a:solidFill>
          <a:ln/>
        </p:spPr>
      </p:sp>
      <p:sp>
        <p:nvSpPr>
          <p:cNvPr id="50" name="Text 47"/>
          <p:cNvSpPr/>
          <p:nvPr/>
        </p:nvSpPr>
        <p:spPr>
          <a:xfrm>
            <a:off x="6153546" y="8785112"/>
            <a:ext cx="4473385" cy="655517"/>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Checks borrowers stay in covenants</a:t>
            </a:r>
            <a:endParaRPr lang="en-US" sz="2175" dirty="0"/>
          </a:p>
        </p:txBody>
      </p:sp>
      <p:sp>
        <p:nvSpPr>
          <p:cNvPr id="51" name="Shape 48"/>
          <p:cNvSpPr/>
          <p:nvPr/>
        </p:nvSpPr>
        <p:spPr>
          <a:xfrm>
            <a:off x="10711923" y="9760245"/>
            <a:ext cx="5289988" cy="9525"/>
          </a:xfrm>
          <a:prstGeom prst="rect">
            <a:avLst/>
          </a:prstGeom>
          <a:solidFill>
            <a:srgbClr val="201E1E">
              <a:alpha val="40000"/>
            </a:srgbClr>
          </a:solidFill>
          <a:ln/>
        </p:spPr>
      </p:sp>
      <p:sp>
        <p:nvSpPr>
          <p:cNvPr id="52" name="Text 49"/>
          <p:cNvSpPr/>
          <p:nvPr/>
        </p:nvSpPr>
        <p:spPr>
          <a:xfrm>
            <a:off x="10940523" y="8785112"/>
            <a:ext cx="5220087" cy="655517"/>
          </a:xfrm>
          <a:prstGeom prst="rect">
            <a:avLst/>
          </a:prstGeom>
          <a:noFill/>
          <a:ln/>
        </p:spPr>
        <p:txBody>
          <a:bodyPr wrap="square" lIns="25400" tIns="25400" rIns="25400" bIns="25400" rtlCol="0" anchor="ctr">
            <a:normAutofit/>
          </a:bodyPr>
          <a:lstStyle/>
          <a:p>
            <a:pPr algn="l" indent="0" marL="0">
              <a:lnSpc>
                <a:spcPct val="136778"/>
              </a:lnSpc>
              <a:buNone/>
            </a:pPr>
            <a:r>
              <a:rPr lang="en-US" sz="2175" dirty="0">
                <a:solidFill>
                  <a:srgbClr val="201E1D"/>
                </a:solidFill>
                <a:latin typeface="Arial" pitchFamily="34" charset="0"/>
                <a:ea typeface="Arial" pitchFamily="34" charset="-122"/>
                <a:cs typeface="Arial" pitchFamily="34" charset="-120"/>
              </a:rPr>
              <a:t>Precision + exact definitions</a:t>
            </a:r>
            <a:endParaRPr lang="en-US" sz="2175" dirty="0"/>
          </a:p>
        </p:txBody>
      </p:sp>
      <p:pic>
        <p:nvPicPr>
          <p:cNvPr id="53" name="Image 1" descr="preencoded.png">    </p:cNvPr>
          <p:cNvPicPr>
            <a:picLocks noChangeAspect="1"/>
          </p:cNvPicPr>
          <p:nvPr/>
        </p:nvPicPr>
        <p:blipFill>
          <a:blip r:embed="rId3"/>
          <a:stretch>
            <a:fillRect/>
          </a:stretch>
        </p:blipFill>
        <p:spPr>
          <a:xfrm>
            <a:off x="1142970" y="8987142"/>
            <a:ext cx="3355111" cy="15683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TWO ROUNDS, TWO TOOLS</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Same builder, opposite tools — speed for the deal partner, precision for Ops</a:t>
            </a:r>
            <a:endParaRPr lang="en-US" sz="4800" dirty="0"/>
          </a:p>
        </p:txBody>
      </p:sp>
      <p:sp>
        <p:nvSpPr>
          <p:cNvPr id="4" name="Shape 2"/>
          <p:cNvSpPr/>
          <p:nvPr/>
        </p:nvSpPr>
        <p:spPr>
          <a:xfrm>
            <a:off x="1142970" y="3886273"/>
            <a:ext cx="7810478" cy="3390978"/>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793228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ROUND 1 · LLM · SPEED</a:t>
            </a:r>
            <a:endParaRPr lang="en-US" sz="1800" dirty="0"/>
          </a:p>
        </p:txBody>
      </p:sp>
      <p:sp>
        <p:nvSpPr>
          <p:cNvPr id="6" name="Text 4"/>
          <p:cNvSpPr/>
          <p:nvPr/>
        </p:nvSpPr>
        <p:spPr>
          <a:xfrm>
            <a:off x="1442625" y="4635247"/>
            <a:ext cx="7932285"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Deal partner → “AI Scout”</a:t>
            </a:r>
            <a:endParaRPr lang="en-US" sz="2025" dirty="0"/>
          </a:p>
        </p:txBody>
      </p:sp>
      <p:sp>
        <p:nvSpPr>
          <p:cNvPr id="7" name="Text 5"/>
          <p:cNvSpPr/>
          <p:nvPr/>
        </p:nvSpPr>
        <p:spPr>
          <a:xfrm>
            <a:off x="1282605" y="5083153"/>
            <a:ext cx="7447389" cy="1123791"/>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company URL → scrape info + press</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search + scrape the founders</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summarize → Slack: “move forward?”</a:t>
            </a:r>
            <a:endParaRPr lang="en-US" sz="1800" dirty="0"/>
          </a:p>
        </p:txBody>
      </p:sp>
      <p:sp>
        <p:nvSpPr>
          <p:cNvPr id="8" name="Text 6"/>
          <p:cNvSpPr/>
          <p:nvPr/>
        </p:nvSpPr>
        <p:spPr>
          <a:xfrm>
            <a:off x="1442625" y="6359266"/>
            <a:ext cx="7427504"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deal partner wants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speed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a fast, directional read that keeps a deal moving</a:t>
            </a:r>
            <a:endParaRPr lang="en-US" sz="1800" dirty="0"/>
          </a:p>
        </p:txBody>
      </p:sp>
      <p:sp>
        <p:nvSpPr>
          <p:cNvPr id="9" name="Shape 7"/>
          <p:cNvSpPr/>
          <p:nvPr/>
        </p:nvSpPr>
        <p:spPr>
          <a:xfrm>
            <a:off x="9334402" y="3886273"/>
            <a:ext cx="7810587" cy="3390978"/>
          </a:xfrm>
          <a:prstGeom prst="rect">
            <a:avLst/>
          </a:prstGeom>
          <a:solidFill>
            <a:srgbClr val="F3F2F2"/>
          </a:solidFill>
          <a:ln w="27824">
            <a:solidFill>
              <a:srgbClr val="EC3013"/>
            </a:solidFill>
            <a:prstDash val="solid"/>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38405" y="4171255"/>
            <a:ext cx="361933" cy="228572"/>
          </a:xfrm>
          <a:prstGeom prst="rect">
            <a:avLst/>
          </a:prstGeom>
        </p:spPr>
      </p:pic>
      <p:sp>
        <p:nvSpPr>
          <p:cNvPr id="11" name="Text 8"/>
          <p:cNvSpPr/>
          <p:nvPr/>
        </p:nvSpPr>
        <p:spPr>
          <a:xfrm>
            <a:off x="10066965" y="4171255"/>
            <a:ext cx="958535"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spc="-18" kern="0" dirty="0">
                <a:solidFill>
                  <a:srgbClr val="201E1D"/>
                </a:solidFill>
                <a:latin typeface="Arial" pitchFamily="34" charset="0"/>
                <a:ea typeface="Arial" pitchFamily="34" charset="-122"/>
                <a:cs typeface="Arial" pitchFamily="34" charset="-120"/>
              </a:rPr>
              <a:t>Concord</a:t>
            </a:r>
            <a:endParaRPr lang="en-US" sz="1800" dirty="0"/>
          </a:p>
        </p:txBody>
      </p:sp>
      <p:sp>
        <p:nvSpPr>
          <p:cNvPr id="12" name="Text 9"/>
          <p:cNvSpPr/>
          <p:nvPr/>
        </p:nvSpPr>
        <p:spPr>
          <a:xfrm>
            <a:off x="9638405" y="4514059"/>
            <a:ext cx="79228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ROUND 2 · DETERMINISTIC · PRECISION</a:t>
            </a:r>
            <a:endParaRPr lang="en-US" sz="1800" dirty="0"/>
          </a:p>
        </p:txBody>
      </p:sp>
      <p:sp>
        <p:nvSpPr>
          <p:cNvPr id="13" name="Text 10"/>
          <p:cNvSpPr/>
          <p:nvPr/>
        </p:nvSpPr>
        <p:spPr>
          <a:xfrm>
            <a:off x="9638405" y="4982507"/>
            <a:ext cx="7922841"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Operations → Concord</a:t>
            </a:r>
            <a:endParaRPr lang="en-US" sz="2025" dirty="0"/>
          </a:p>
        </p:txBody>
      </p:sp>
      <p:sp>
        <p:nvSpPr>
          <p:cNvPr id="14" name="Text 11"/>
          <p:cNvSpPr/>
          <p:nvPr/>
        </p:nvSpPr>
        <p:spPr>
          <a:xfrm>
            <a:off x="9478385" y="5430413"/>
            <a:ext cx="7438802" cy="1123791"/>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a number you'd sign your name to</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traceable to its source</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a wrong answer refused, not guessed</a:t>
            </a:r>
            <a:endParaRPr lang="en-US" sz="1800" dirty="0"/>
          </a:p>
        </p:txBody>
      </p:sp>
      <p:sp>
        <p:nvSpPr>
          <p:cNvPr id="15" name="Text 12"/>
          <p:cNvSpPr/>
          <p:nvPr/>
        </p:nvSpPr>
        <p:spPr>
          <a:xfrm>
            <a:off x="9638405" y="6706527"/>
            <a:ext cx="792284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precision first — that's why this one is deterministic</a:t>
            </a:r>
            <a:endParaRPr lang="en-US" sz="1800" dirty="0"/>
          </a:p>
        </p:txBody>
      </p:sp>
      <p:sp>
        <p:nvSpPr>
          <p:cNvPr id="16" name="Text 13"/>
          <p:cNvSpPr/>
          <p:nvPr/>
        </p:nvSpPr>
        <p:spPr>
          <a:xfrm>
            <a:off x="1142970" y="7806239"/>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Same builder, two rounds,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two opposite trust postures.</a:t>
            </a:r>
            <a:endParaRPr lang="en-US" sz="1800" dirty="0"/>
          </a:p>
        </p:txBody>
      </p:sp>
      <p:pic>
        <p:nvPicPr>
          <p:cNvPr id="17" name="Image 1" descr="preencoded.png">    </p:cNvPr>
          <p:cNvPicPr>
            <a:picLocks noChangeAspect="1"/>
          </p:cNvPicPr>
          <p:nvPr/>
        </p:nvPicPr>
        <p:blipFill>
          <a:blip r:embed="rId3"/>
          <a:stretch>
            <a:fillRect/>
          </a:stretch>
        </p:blipFill>
        <p:spPr>
          <a:xfrm>
            <a:off x="1142970" y="8987142"/>
            <a:ext cx="3355111" cy="15683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02 · THE QUARTER-CLOSE HURTS</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Monitoring the portfolio means hand-keying 20+ packs — every quarter</a:t>
            </a:r>
            <a:endParaRPr lang="en-US" sz="4800" dirty="0"/>
          </a:p>
        </p:txBody>
      </p:sp>
      <p:sp>
        <p:nvSpPr>
          <p:cNvPr id="4" name="Shape 2"/>
          <p:cNvSpPr/>
          <p:nvPr/>
        </p:nvSpPr>
        <p:spPr>
          <a:xfrm>
            <a:off x="1142970" y="3886273"/>
            <a:ext cx="4927728" cy="4201035"/>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476126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SECOND WEEK AFTER CLOSE</a:t>
            </a:r>
            <a:endParaRPr lang="en-US" sz="1800" dirty="0"/>
          </a:p>
        </p:txBody>
      </p:sp>
      <p:sp>
        <p:nvSpPr>
          <p:cNvPr id="6" name="Text 4"/>
          <p:cNvSpPr/>
          <p:nvPr/>
        </p:nvSpPr>
        <p:spPr>
          <a:xfrm>
            <a:off x="1442625" y="4635247"/>
            <a:ext cx="4761261"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20+ PDF packs land</a:t>
            </a:r>
            <a:endParaRPr lang="en-US" sz="1800" dirty="0"/>
          </a:p>
        </p:txBody>
      </p:sp>
      <p:sp>
        <p:nvSpPr>
          <p:cNvPr id="7" name="Shape 5"/>
          <p:cNvSpPr/>
          <p:nvPr/>
        </p:nvSpPr>
        <p:spPr>
          <a:xfrm>
            <a:off x="1442625" y="5031308"/>
            <a:ext cx="4328419" cy="629634"/>
          </a:xfrm>
          <a:prstGeom prst="rect">
            <a:avLst/>
          </a:prstGeom>
          <a:solidFill>
            <a:srgbClr val="F3F2F2"/>
          </a:solidFill>
          <a:ln w="13912">
            <a:solidFill>
              <a:srgbClr val="201E1E">
                <a:alpha val="40000"/>
              </a:srgbClr>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618375" y="5241403"/>
            <a:ext cx="209443" cy="209443"/>
          </a:xfrm>
          <a:prstGeom prst="rect">
            <a:avLst/>
          </a:prstGeom>
        </p:spPr>
      </p:pic>
      <p:sp>
        <p:nvSpPr>
          <p:cNvPr id="9" name="Text 6"/>
          <p:cNvSpPr/>
          <p:nvPr/>
        </p:nvSpPr>
        <p:spPr>
          <a:xfrm>
            <a:off x="1942050" y="5217709"/>
            <a:ext cx="635295" cy="288519"/>
          </a:xfrm>
          <a:prstGeom prst="rect">
            <a:avLst/>
          </a:prstGeom>
          <a:noFill/>
          <a:ln/>
        </p:spPr>
        <p:txBody>
          <a:bodyPr wrap="square" lIns="0" tIns="0" rIns="0" bIns="0" rtlCol="0" anchor="t">
            <a:normAutofit/>
          </a:bodyPr>
          <a:lstStyle/>
          <a:p>
            <a:pPr algn="l" indent="0" marL="0">
              <a:lnSpc>
                <a:spcPct val="134048"/>
              </a:lnSpc>
              <a:buNone/>
            </a:pPr>
            <a:r>
              <a:rPr lang="en-US" sz="1800" b="1" dirty="0">
                <a:solidFill>
                  <a:srgbClr val="201E1D"/>
                </a:solidFill>
                <a:latin typeface="Arial" pitchFamily="34" charset="0"/>
                <a:ea typeface="Arial" pitchFamily="34" charset="-122"/>
                <a:cs typeface="Arial" pitchFamily="34" charset="-120"/>
              </a:rPr>
              <a:t>SaaS</a:t>
            </a:r>
            <a:endParaRPr lang="en-US" sz="1800" dirty="0"/>
          </a:p>
        </p:txBody>
      </p:sp>
      <p:sp>
        <p:nvSpPr>
          <p:cNvPr id="10" name="Shape 7"/>
          <p:cNvSpPr/>
          <p:nvPr/>
        </p:nvSpPr>
        <p:spPr>
          <a:xfrm>
            <a:off x="1442625" y="5746589"/>
            <a:ext cx="4328419" cy="629634"/>
          </a:xfrm>
          <a:prstGeom prst="rect">
            <a:avLst/>
          </a:prstGeom>
          <a:solidFill>
            <a:srgbClr val="F3F2F2"/>
          </a:solidFill>
          <a:ln w="13912">
            <a:solidFill>
              <a:srgbClr val="201E1E">
                <a:alpha val="40000"/>
              </a:srgbClr>
            </a:solidFill>
            <a:prstDash val="solid"/>
          </a:ln>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8375" y="5956684"/>
            <a:ext cx="209443" cy="209443"/>
          </a:xfrm>
          <a:prstGeom prst="rect">
            <a:avLst/>
          </a:prstGeom>
        </p:spPr>
      </p:pic>
      <p:sp>
        <p:nvSpPr>
          <p:cNvPr id="12" name="Text 8"/>
          <p:cNvSpPr/>
          <p:nvPr/>
        </p:nvSpPr>
        <p:spPr>
          <a:xfrm>
            <a:off x="1942050" y="5932990"/>
            <a:ext cx="814522" cy="288519"/>
          </a:xfrm>
          <a:prstGeom prst="rect">
            <a:avLst/>
          </a:prstGeom>
          <a:noFill/>
          <a:ln/>
        </p:spPr>
        <p:txBody>
          <a:bodyPr wrap="square" lIns="0" tIns="0" rIns="0" bIns="0" rtlCol="0" anchor="t">
            <a:normAutofit/>
          </a:bodyPr>
          <a:lstStyle/>
          <a:p>
            <a:pPr algn="l" indent="0" marL="0">
              <a:lnSpc>
                <a:spcPct val="134048"/>
              </a:lnSpc>
              <a:buNone/>
            </a:pPr>
            <a:r>
              <a:rPr lang="en-US" sz="1800" b="1" dirty="0">
                <a:solidFill>
                  <a:srgbClr val="201E1D"/>
                </a:solidFill>
                <a:latin typeface="Arial" pitchFamily="34" charset="0"/>
                <a:ea typeface="Arial" pitchFamily="34" charset="-122"/>
                <a:cs typeface="Arial" pitchFamily="34" charset="-120"/>
              </a:rPr>
              <a:t>Lender</a:t>
            </a:r>
            <a:endParaRPr lang="en-US" sz="1800" dirty="0"/>
          </a:p>
        </p:txBody>
      </p:sp>
      <p:sp>
        <p:nvSpPr>
          <p:cNvPr id="13" name="Shape 9"/>
          <p:cNvSpPr/>
          <p:nvPr/>
        </p:nvSpPr>
        <p:spPr>
          <a:xfrm>
            <a:off x="1442625" y="6461869"/>
            <a:ext cx="4328419" cy="629634"/>
          </a:xfrm>
          <a:prstGeom prst="rect">
            <a:avLst/>
          </a:prstGeom>
          <a:solidFill>
            <a:srgbClr val="F3F2F2"/>
          </a:solidFill>
          <a:ln w="13912">
            <a:solidFill>
              <a:srgbClr val="201E1E">
                <a:alpha val="40000"/>
              </a:srgbClr>
            </a:solidFill>
            <a:prstDash val="solid"/>
          </a:ln>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18375" y="6671964"/>
            <a:ext cx="209443" cy="209443"/>
          </a:xfrm>
          <a:prstGeom prst="rect">
            <a:avLst/>
          </a:prstGeom>
        </p:spPr>
      </p:pic>
      <p:sp>
        <p:nvSpPr>
          <p:cNvPr id="15" name="Text 10"/>
          <p:cNvSpPr/>
          <p:nvPr/>
        </p:nvSpPr>
        <p:spPr>
          <a:xfrm>
            <a:off x="1942050" y="6648270"/>
            <a:ext cx="1129067" cy="288519"/>
          </a:xfrm>
          <a:prstGeom prst="rect">
            <a:avLst/>
          </a:prstGeom>
          <a:noFill/>
          <a:ln/>
        </p:spPr>
        <p:txBody>
          <a:bodyPr wrap="square" lIns="0" tIns="0" rIns="0" bIns="0" rtlCol="0" anchor="t">
            <a:normAutofit/>
          </a:bodyPr>
          <a:lstStyle/>
          <a:p>
            <a:pPr algn="l" indent="0" marL="0">
              <a:lnSpc>
                <a:spcPct val="134048"/>
              </a:lnSpc>
              <a:buNone/>
            </a:pPr>
            <a:r>
              <a:rPr lang="en-US" sz="1800" b="1" dirty="0">
                <a:solidFill>
                  <a:srgbClr val="201E1D"/>
                </a:solidFill>
                <a:latin typeface="Arial" pitchFamily="34" charset="0"/>
                <a:ea typeface="Arial" pitchFamily="34" charset="-122"/>
                <a:cs typeface="Arial" pitchFamily="34" charset="-120"/>
              </a:rPr>
              <a:t>Payments</a:t>
            </a:r>
            <a:endParaRPr lang="en-US" sz="1800" dirty="0"/>
          </a:p>
        </p:txBody>
      </p:sp>
      <p:sp>
        <p:nvSpPr>
          <p:cNvPr id="16" name="Shape 11"/>
          <p:cNvSpPr/>
          <p:nvPr/>
        </p:nvSpPr>
        <p:spPr>
          <a:xfrm>
            <a:off x="1442625" y="7177149"/>
            <a:ext cx="4328419" cy="629634"/>
          </a:xfrm>
          <a:prstGeom prst="rect">
            <a:avLst/>
          </a:prstGeom>
          <a:solidFill>
            <a:srgbClr val="F3F2F2"/>
          </a:solidFill>
          <a:ln w="13912">
            <a:solidFill>
              <a:srgbClr val="201E1E">
                <a:alpha val="40000"/>
              </a:srgbClr>
            </a:solidFill>
            <a:prstDash val="solid"/>
          </a:ln>
        </p:spPr>
      </p:sp>
      <p:pic>
        <p:nvPicPr>
          <p:cNvPr id="17"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18375" y="7387244"/>
            <a:ext cx="209443" cy="209443"/>
          </a:xfrm>
          <a:prstGeom prst="rect">
            <a:avLst/>
          </a:prstGeom>
        </p:spPr>
      </p:pic>
      <p:sp>
        <p:nvSpPr>
          <p:cNvPr id="18" name="Text 12"/>
          <p:cNvSpPr/>
          <p:nvPr/>
        </p:nvSpPr>
        <p:spPr>
          <a:xfrm>
            <a:off x="1942050" y="7363551"/>
            <a:ext cx="1821632" cy="288518"/>
          </a:xfrm>
          <a:prstGeom prst="rect">
            <a:avLst/>
          </a:prstGeom>
          <a:noFill/>
          <a:ln/>
        </p:spPr>
        <p:txBody>
          <a:bodyPr wrap="square" lIns="0" tIns="0" rIns="0" bIns="0" rtlCol="0" anchor="t">
            <a:normAutofit/>
          </a:bodyPr>
          <a:lstStyle/>
          <a:p>
            <a:pPr algn="l" indent="0" marL="0">
              <a:lnSpc>
                <a:spcPct val="134048"/>
              </a:lnSpc>
              <a:buNone/>
            </a:pPr>
            <a:r>
              <a:rPr lang="en-US" sz="1800" b="1" dirty="0">
                <a:solidFill>
                  <a:srgbClr val="201E1D"/>
                </a:solidFill>
                <a:latin typeface="Arial" pitchFamily="34" charset="0"/>
                <a:ea typeface="Arial" pitchFamily="34" charset="-122"/>
                <a:cs typeface="Arial" pitchFamily="34" charset="-120"/>
              </a:rPr>
              <a:t>Freight … +more</a:t>
            </a:r>
            <a:endParaRPr lang="en-US" sz="1800" dirty="0"/>
          </a:p>
        </p:txBody>
      </p:sp>
      <p:sp>
        <p:nvSpPr>
          <p:cNvPr id="19" name="Text 13"/>
          <p:cNvSpPr/>
          <p:nvPr/>
        </p:nvSpPr>
        <p:spPr>
          <a:xfrm>
            <a:off x="6223080" y="5834409"/>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20" name="Shape 14"/>
          <p:cNvSpPr/>
          <p:nvPr/>
        </p:nvSpPr>
        <p:spPr>
          <a:xfrm>
            <a:off x="6680116" y="3886273"/>
            <a:ext cx="4927728" cy="4201035"/>
          </a:xfrm>
          <a:prstGeom prst="rect">
            <a:avLst/>
          </a:prstGeom>
          <a:solidFill>
            <a:srgbClr val="EAE9E9"/>
          </a:solidFill>
          <a:ln w="13912">
            <a:solidFill>
              <a:srgbClr val="201E1E">
                <a:alpha val="40000"/>
              </a:srgbClr>
            </a:solidFill>
            <a:prstDash val="solid"/>
          </a:ln>
        </p:spPr>
      </p:sp>
      <p:pic>
        <p:nvPicPr>
          <p:cNvPr id="21"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979770" y="4166799"/>
            <a:ext cx="323784" cy="323784"/>
          </a:xfrm>
          <a:prstGeom prst="rect">
            <a:avLst/>
          </a:prstGeom>
        </p:spPr>
      </p:pic>
      <p:sp>
        <p:nvSpPr>
          <p:cNvPr id="22" name="Text 15"/>
          <p:cNvSpPr/>
          <p:nvPr/>
        </p:nvSpPr>
        <p:spPr>
          <a:xfrm>
            <a:off x="7436807" y="4200709"/>
            <a:ext cx="1400019" cy="294062"/>
          </a:xfrm>
          <a:prstGeom prst="rect">
            <a:avLst/>
          </a:prstGeom>
          <a:noFill/>
          <a:ln/>
        </p:spPr>
        <p:txBody>
          <a:bodyPr wrap="square" lIns="25400" tIns="25400" rIns="25400" bIns="25400" rtlCol="0" anchor="t">
            <a:normAutofit/>
          </a:bodyPr>
          <a:lstStyle/>
          <a:p>
            <a:pPr algn="l" indent="0" marL="0">
              <a:lnSpc>
                <a:spcPct val="96860"/>
              </a:lnSpc>
              <a:buNone/>
            </a:pPr>
            <a:r>
              <a:rPr lang="en-US" sz="1800" b="1" spc="-18" kern="0" dirty="0">
                <a:solidFill>
                  <a:srgbClr val="201E1D"/>
                </a:solidFill>
                <a:latin typeface="Arial" pitchFamily="34" charset="0"/>
                <a:ea typeface="Arial" pitchFamily="34" charset="-122"/>
                <a:cs typeface="Arial" pitchFamily="34" charset="-120"/>
              </a:rPr>
              <a:t>Hand-keyed</a:t>
            </a:r>
            <a:endParaRPr lang="en-US" sz="1800" dirty="0"/>
          </a:p>
        </p:txBody>
      </p:sp>
      <p:sp>
        <p:nvSpPr>
          <p:cNvPr id="23" name="Text 16"/>
          <p:cNvSpPr/>
          <p:nvPr/>
        </p:nvSpPr>
        <p:spPr>
          <a:xfrm>
            <a:off x="6979770" y="4604814"/>
            <a:ext cx="4458271"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an analyst opens each one, hunts for the numbers, and types them in</a:t>
            </a:r>
            <a:endParaRPr lang="en-US" sz="1800" dirty="0"/>
          </a:p>
        </p:txBody>
      </p:sp>
      <p:sp>
        <p:nvSpPr>
          <p:cNvPr id="24" name="Text 17"/>
          <p:cNvSpPr/>
          <p:nvPr/>
        </p:nvSpPr>
        <p:spPr>
          <a:xfrm>
            <a:off x="11760225" y="5834409"/>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25" name="Shape 18"/>
          <p:cNvSpPr/>
          <p:nvPr/>
        </p:nvSpPr>
        <p:spPr>
          <a:xfrm>
            <a:off x="12217261" y="3886273"/>
            <a:ext cx="4927728" cy="4201035"/>
          </a:xfrm>
          <a:prstGeom prst="rect">
            <a:avLst/>
          </a:prstGeom>
          <a:solidFill>
            <a:srgbClr val="F3F2F2"/>
          </a:solidFill>
          <a:ln w="13912">
            <a:solidFill>
              <a:srgbClr val="201E1E">
                <a:alpha val="40000"/>
              </a:srgbClr>
            </a:solidFill>
            <a:prstDash val="solid"/>
          </a:ln>
        </p:spPr>
      </p:sp>
      <p:sp>
        <p:nvSpPr>
          <p:cNvPr id="26" name="Text 19"/>
          <p:cNvSpPr/>
          <p:nvPr/>
        </p:nvSpPr>
        <p:spPr>
          <a:xfrm>
            <a:off x="12516916" y="4166799"/>
            <a:ext cx="4761261"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One master spreadsheet</a:t>
            </a:r>
            <a:endParaRPr lang="en-US" sz="1800" dirty="0"/>
          </a:p>
        </p:txBody>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2516916" y="4581881"/>
            <a:ext cx="4328419" cy="1123950"/>
          </a:xfrm>
          <a:prstGeom prst="rect">
            <a:avLst/>
          </a:prstGeom>
        </p:spPr>
      </p:pic>
      <p:sp>
        <p:nvSpPr>
          <p:cNvPr id="28" name="Text 20"/>
          <p:cNvSpPr/>
          <p:nvPr/>
        </p:nvSpPr>
        <p:spPr>
          <a:xfrm>
            <a:off x="12516916" y="5839083"/>
            <a:ext cx="476126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this review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is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monitoring</a:t>
            </a:r>
            <a:endParaRPr lang="en-US" sz="1800" dirty="0"/>
          </a:p>
        </p:txBody>
      </p:sp>
      <p:sp>
        <p:nvSpPr>
          <p:cNvPr id="29" name="Text 21"/>
          <p:cNvSpPr/>
          <p:nvPr/>
        </p:nvSpPr>
        <p:spPr>
          <a:xfrm>
            <a:off x="1142970" y="8616296"/>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Synthetic test packs —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10 companies across 24 PDFs.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“20+ packs,” not “20+ companies.”</a:t>
            </a:r>
            <a:endParaRPr lang="en-US" sz="1800" dirty="0"/>
          </a:p>
        </p:txBody>
      </p:sp>
      <p:pic>
        <p:nvPicPr>
          <p:cNvPr id="30" name="Image 6" descr="preencoded.png">    </p:cNvPr>
          <p:cNvPicPr>
            <a:picLocks noChangeAspect="1"/>
          </p:cNvPicPr>
          <p:nvPr/>
        </p:nvPicPr>
        <p:blipFill>
          <a:blip r:embed="rId13"/>
          <a:stretch>
            <a:fillRect/>
          </a:stretch>
        </p:blipFill>
        <p:spPr>
          <a:xfrm>
            <a:off x="1142970" y="8987142"/>
            <a:ext cx="3355111" cy="15683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02 · THE QUARTER-CLOSE HURTS</a:t>
            </a:r>
            <a:endParaRPr lang="en-US" sz="1800" dirty="0"/>
          </a:p>
        </p:txBody>
      </p:sp>
      <p:sp>
        <p:nvSpPr>
          <p:cNvPr id="3" name="Text 1"/>
          <p:cNvSpPr/>
          <p:nvPr/>
        </p:nvSpPr>
        <p:spPr>
          <a:xfrm>
            <a:off x="1107646" y="1863576"/>
            <a:ext cx="17641078" cy="460573"/>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How Concord works today, end to end</a:t>
            </a:r>
            <a:endParaRPr lang="en-US" sz="4800" dirty="0"/>
          </a:p>
        </p:txBody>
      </p:sp>
      <p:sp>
        <p:nvSpPr>
          <p:cNvPr id="4" name="Shape 2"/>
          <p:cNvSpPr/>
          <p:nvPr/>
        </p:nvSpPr>
        <p:spPr>
          <a:xfrm>
            <a:off x="1142970" y="3200447"/>
            <a:ext cx="2844492" cy="2131603"/>
          </a:xfrm>
          <a:prstGeom prst="rect">
            <a:avLst/>
          </a:prstGeom>
          <a:solidFill>
            <a:srgbClr val="F3F2F2"/>
          </a:solidFill>
          <a:ln w="13912">
            <a:solidFill>
              <a:srgbClr val="201E1E">
                <a:alpha val="40000"/>
              </a:srgbClr>
            </a:solidFill>
            <a:prstDash val="solid"/>
          </a:ln>
        </p:spPr>
      </p:sp>
      <p:sp>
        <p:nvSpPr>
          <p:cNvPr id="5" name="Text 3"/>
          <p:cNvSpPr/>
          <p:nvPr/>
        </p:nvSpPr>
        <p:spPr>
          <a:xfrm>
            <a:off x="1309264" y="3385761"/>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1 · READ</a:t>
            </a:r>
            <a:endParaRPr lang="en-US" sz="1800" dirty="0"/>
          </a:p>
        </p:txBody>
      </p:sp>
      <p:sp>
        <p:nvSpPr>
          <p:cNvPr id="6" name="Text 4"/>
          <p:cNvSpPr/>
          <p:nvPr/>
        </p:nvSpPr>
        <p:spPr>
          <a:xfrm>
            <a:off x="1309264" y="3806604"/>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Deterministic parser</a:t>
            </a:r>
            <a:endParaRPr lang="en-US" sz="1800" dirty="0"/>
          </a:p>
        </p:txBody>
      </p:sp>
      <p:sp>
        <p:nvSpPr>
          <p:cNvPr id="7" name="Text 5"/>
          <p:cNvSpPr/>
          <p:nvPr/>
        </p:nvSpPr>
        <p:spPr>
          <a:xfrm>
            <a:off x="1309264" y="4136039"/>
            <a:ext cx="2763095" cy="247652"/>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66000"/>
                  </a:srgbClr>
                </a:solidFill>
                <a:latin typeface="Arial" pitchFamily="34" charset="0"/>
                <a:ea typeface="Arial" pitchFamily="34" charset="-122"/>
                <a:cs typeface="Arial" pitchFamily="34" charset="-120"/>
              </a:rPr>
              <a:t>every pack, offline</a:t>
            </a:r>
            <a:endParaRPr lang="en-US" sz="1800" dirty="0"/>
          </a:p>
        </p:txBody>
      </p:sp>
      <p:sp>
        <p:nvSpPr>
          <p:cNvPr id="8" name="Text 6"/>
          <p:cNvSpPr/>
          <p:nvPr/>
        </p:nvSpPr>
        <p:spPr>
          <a:xfrm>
            <a:off x="4092129" y="4151908"/>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4425369" y="3200447"/>
            <a:ext cx="2844600" cy="2131603"/>
          </a:xfrm>
          <a:prstGeom prst="rect">
            <a:avLst/>
          </a:prstGeom>
          <a:solidFill>
            <a:srgbClr val="F3F2F2"/>
          </a:solidFill>
          <a:ln w="13912">
            <a:solidFill>
              <a:srgbClr val="201E1E">
                <a:alpha val="40000"/>
              </a:srgbClr>
            </a:solidFill>
            <a:prstDash val="solid"/>
          </a:ln>
        </p:spPr>
      </p:sp>
      <p:sp>
        <p:nvSpPr>
          <p:cNvPr id="10" name="Text 8"/>
          <p:cNvSpPr/>
          <p:nvPr/>
        </p:nvSpPr>
        <p:spPr>
          <a:xfrm>
            <a:off x="4591662" y="3385761"/>
            <a:ext cx="276321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2 · UNDERSTAND</a:t>
            </a:r>
            <a:endParaRPr lang="en-US" sz="1800" dirty="0"/>
          </a:p>
        </p:txBody>
      </p:sp>
      <p:sp>
        <p:nvSpPr>
          <p:cNvPr id="11" name="Text 9"/>
          <p:cNvSpPr/>
          <p:nvPr/>
        </p:nvSpPr>
        <p:spPr>
          <a:xfrm>
            <a:off x="4591662" y="3806604"/>
            <a:ext cx="2763214"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Classify + normalize</a:t>
            </a:r>
            <a:endParaRPr lang="en-US" sz="1800" dirty="0"/>
          </a:p>
        </p:txBody>
      </p:sp>
      <p:sp>
        <p:nvSpPr>
          <p:cNvPr id="12" name="Text 10"/>
          <p:cNvSpPr/>
          <p:nvPr/>
        </p:nvSpPr>
        <p:spPr>
          <a:xfrm>
            <a:off x="4591662" y="4136039"/>
            <a:ext cx="2588213" cy="457204"/>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66000"/>
                  </a:srgbClr>
                </a:solidFill>
                <a:latin typeface="Arial" pitchFamily="34" charset="0"/>
                <a:ea typeface="Arial" pitchFamily="34" charset="-122"/>
                <a:cs typeface="Arial" pitchFamily="34" charset="-120"/>
              </a:rPr>
              <a:t>equity / credit · one vocabulary · unit + scale</a:t>
            </a:r>
            <a:endParaRPr lang="en-US" sz="1800" dirty="0"/>
          </a:p>
        </p:txBody>
      </p:sp>
      <p:sp>
        <p:nvSpPr>
          <p:cNvPr id="13" name="Text 11"/>
          <p:cNvSpPr/>
          <p:nvPr/>
        </p:nvSpPr>
        <p:spPr>
          <a:xfrm>
            <a:off x="7374636" y="4151908"/>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7707876" y="3200447"/>
            <a:ext cx="2844492" cy="2131603"/>
          </a:xfrm>
          <a:prstGeom prst="rect">
            <a:avLst/>
          </a:prstGeom>
          <a:solidFill>
            <a:srgbClr val="F3F2F2"/>
          </a:solidFill>
          <a:ln w="13912">
            <a:solidFill>
              <a:srgbClr val="201E1E">
                <a:alpha val="40000"/>
              </a:srgbClr>
            </a:solidFill>
            <a:prstDash val="solid"/>
          </a:ln>
        </p:spPr>
      </p:sp>
      <p:sp>
        <p:nvSpPr>
          <p:cNvPr id="15" name="Text 13"/>
          <p:cNvSpPr/>
          <p:nvPr/>
        </p:nvSpPr>
        <p:spPr>
          <a:xfrm>
            <a:off x="7874170" y="3385761"/>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3 · CROSS-CHECK</a:t>
            </a:r>
            <a:endParaRPr lang="en-US" sz="1800" dirty="0"/>
          </a:p>
        </p:txBody>
      </p:sp>
      <p:sp>
        <p:nvSpPr>
          <p:cNvPr id="16" name="Text 14"/>
          <p:cNvSpPr/>
          <p:nvPr/>
        </p:nvSpPr>
        <p:spPr>
          <a:xfrm>
            <a:off x="7874170" y="3806604"/>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Reconcile</a:t>
            </a:r>
            <a:endParaRPr lang="en-US" sz="1800" dirty="0"/>
          </a:p>
        </p:txBody>
      </p:sp>
      <p:sp>
        <p:nvSpPr>
          <p:cNvPr id="17" name="Text 15"/>
          <p:cNvSpPr/>
          <p:nvPr/>
        </p:nvSpPr>
        <p:spPr>
          <a:xfrm>
            <a:off x="7874170" y="4136039"/>
            <a:ext cx="2588105" cy="457204"/>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66000"/>
                  </a:srgbClr>
                </a:solidFill>
                <a:latin typeface="Arial" pitchFamily="34" charset="0"/>
                <a:ea typeface="Arial" pitchFamily="34" charset="-122"/>
                <a:cs typeface="Arial" pitchFamily="34" charset="-120"/>
              </a:rPr>
              <a:t>against the company's own report</a:t>
            </a:r>
            <a:endParaRPr lang="en-US" sz="1800" dirty="0"/>
          </a:p>
        </p:txBody>
      </p:sp>
      <p:sp>
        <p:nvSpPr>
          <p:cNvPr id="18" name="Text 16"/>
          <p:cNvSpPr/>
          <p:nvPr/>
        </p:nvSpPr>
        <p:spPr>
          <a:xfrm>
            <a:off x="10657036" y="4151908"/>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10990275" y="3200447"/>
            <a:ext cx="2872316" cy="2131603"/>
          </a:xfrm>
          <a:prstGeom prst="rect">
            <a:avLst/>
          </a:prstGeom>
          <a:solidFill>
            <a:srgbClr val="F3F2F2"/>
          </a:solidFill>
          <a:ln w="27824">
            <a:solidFill>
              <a:srgbClr val="EC3013"/>
            </a:solidFill>
            <a:prstDash val="solid"/>
          </a:ln>
        </p:spPr>
      </p:sp>
      <p:sp>
        <p:nvSpPr>
          <p:cNvPr id="20" name="Text 18"/>
          <p:cNvSpPr/>
          <p:nvPr/>
        </p:nvSpPr>
        <p:spPr>
          <a:xfrm>
            <a:off x="11170481" y="3399674"/>
            <a:ext cx="2588105" cy="746533"/>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4 · COMPARABILITY GATE</a:t>
            </a:r>
            <a:endParaRPr lang="en-US" sz="1800" dirty="0"/>
          </a:p>
        </p:txBody>
      </p:sp>
      <p:sp>
        <p:nvSpPr>
          <p:cNvPr id="21" name="Text 19"/>
          <p:cNvSpPr/>
          <p:nvPr/>
        </p:nvSpPr>
        <p:spPr>
          <a:xfrm>
            <a:off x="11170481" y="4174733"/>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Safe, like-for-like?</a:t>
            </a:r>
            <a:endParaRPr lang="en-US" sz="1800" dirty="0"/>
          </a:p>
        </p:txBody>
      </p:sp>
      <p:sp>
        <p:nvSpPr>
          <p:cNvPr id="22" name="Text 20"/>
          <p:cNvSpPr/>
          <p:nvPr/>
        </p:nvSpPr>
        <p:spPr>
          <a:xfrm>
            <a:off x="11170481" y="4504168"/>
            <a:ext cx="2588105" cy="666755"/>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80000"/>
                  </a:srgbClr>
                </a:solidFill>
                <a:latin typeface="Arial" pitchFamily="34" charset="0"/>
                <a:ea typeface="Arial" pitchFamily="34" charset="-122"/>
                <a:cs typeface="Arial" pitchFamily="34" charset="-120"/>
              </a:rPr>
              <a:t>✔ YES → rank in sector · ✖ NO → show, but REFUSE</a:t>
            </a:r>
            <a:endParaRPr lang="en-US" sz="1800" dirty="0"/>
          </a:p>
        </p:txBody>
      </p:sp>
      <p:sp>
        <p:nvSpPr>
          <p:cNvPr id="23" name="Text 21"/>
          <p:cNvSpPr/>
          <p:nvPr/>
        </p:nvSpPr>
        <p:spPr>
          <a:xfrm>
            <a:off x="13967258" y="4151908"/>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24" name="Shape 22"/>
          <p:cNvSpPr/>
          <p:nvPr/>
        </p:nvSpPr>
        <p:spPr>
          <a:xfrm>
            <a:off x="14300497" y="3200447"/>
            <a:ext cx="2844492" cy="2131603"/>
          </a:xfrm>
          <a:prstGeom prst="rect">
            <a:avLst/>
          </a:prstGeom>
          <a:solidFill>
            <a:srgbClr val="F3F2F2"/>
          </a:solidFill>
          <a:ln w="13912">
            <a:solidFill>
              <a:srgbClr val="201E1E">
                <a:alpha val="40000"/>
              </a:srgbClr>
            </a:solidFill>
            <a:prstDash val="solid"/>
          </a:ln>
        </p:spPr>
      </p:sp>
      <p:sp>
        <p:nvSpPr>
          <p:cNvPr id="25" name="Text 23"/>
          <p:cNvSpPr/>
          <p:nvPr/>
        </p:nvSpPr>
        <p:spPr>
          <a:xfrm>
            <a:off x="14466791" y="3385761"/>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5 · COCKPIT</a:t>
            </a:r>
            <a:endParaRPr lang="en-US" sz="1800" dirty="0"/>
          </a:p>
        </p:txBody>
      </p:sp>
      <p:sp>
        <p:nvSpPr>
          <p:cNvPr id="26" name="Text 24"/>
          <p:cNvSpPr/>
          <p:nvPr/>
        </p:nvSpPr>
        <p:spPr>
          <a:xfrm>
            <a:off x="14466791" y="3806604"/>
            <a:ext cx="2588105" cy="56371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Click any number → its source</a:t>
            </a:r>
            <a:endParaRPr lang="en-US" sz="1800" dirty="0"/>
          </a:p>
        </p:txBody>
      </p:sp>
      <p:sp>
        <p:nvSpPr>
          <p:cNvPr id="27" name="Shape 25"/>
          <p:cNvSpPr/>
          <p:nvPr/>
        </p:nvSpPr>
        <p:spPr>
          <a:xfrm>
            <a:off x="1142970" y="5541493"/>
            <a:ext cx="16002019" cy="618330"/>
          </a:xfrm>
          <a:prstGeom prst="rect">
            <a:avLst/>
          </a:prstGeom>
          <a:solidFill>
            <a:srgbClr val="F3F2F2"/>
          </a:solidFill>
          <a:ln w="13912">
            <a:solidFill>
              <a:srgbClr val="201E1E">
                <a:alpha val="40000"/>
              </a:srgbClr>
            </a:solidFill>
            <a:prstDash val="solid"/>
          </a:ln>
        </p:spPr>
      </p:sp>
      <p:pic>
        <p:nvPicPr>
          <p:cNvPr id="2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366326" y="5707786"/>
            <a:ext cx="285743" cy="285743"/>
          </a:xfrm>
          <a:prstGeom prst="rect">
            <a:avLst/>
          </a:prstGeom>
        </p:spPr>
      </p:pic>
      <p:sp>
        <p:nvSpPr>
          <p:cNvPr id="29" name="Text 26"/>
          <p:cNvSpPr/>
          <p:nvPr/>
        </p:nvSpPr>
        <p:spPr>
          <a:xfrm>
            <a:off x="1785321" y="5707786"/>
            <a:ext cx="1346242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Provenance runs under the whole pipeline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one offline click, and a human owns every number that leaves the building.</a:t>
            </a:r>
            <a:endParaRPr lang="en-US" sz="1800" dirty="0"/>
          </a:p>
        </p:txBody>
      </p:sp>
      <p:sp>
        <p:nvSpPr>
          <p:cNvPr id="30" name="Text 27"/>
          <p:cNvSpPr/>
          <p:nvPr/>
        </p:nvSpPr>
        <p:spPr>
          <a:xfrm>
            <a:off x="1142970" y="6331225"/>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Reading the number is the easy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10%</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everything below — comparability + trust — is the expensive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90%</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31" name="Text 28"/>
          <p:cNvSpPr/>
          <p:nvPr/>
        </p:nvSpPr>
        <p:spPr>
          <a:xfrm>
            <a:off x="1142970" y="7017051"/>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This is what runs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today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one deterministic pass; provenance is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file-level</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The redundant / orchestrator version is the future (deck slide 17).</a:t>
            </a:r>
            <a:endParaRPr lang="en-US" sz="1800" dirty="0"/>
          </a:p>
        </p:txBody>
      </p:sp>
      <p:pic>
        <p:nvPicPr>
          <p:cNvPr id="32" name="Image 1" descr="preencoded.png">    </p:cNvPr>
          <p:cNvPicPr>
            <a:picLocks noChangeAspect="1"/>
          </p:cNvPicPr>
          <p:nvPr/>
        </p:nvPicPr>
        <p:blipFill>
          <a:blip r:embed="rId3"/>
          <a:stretch>
            <a:fillRect/>
          </a:stretch>
        </p:blipFill>
        <p:spPr>
          <a:xfrm>
            <a:off x="1142970" y="8987142"/>
            <a:ext cx="3355111" cy="15683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02 · THE QUARTER-CLOSE HURTS</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Four traps in the manual close — each one provable in the packs</a:t>
            </a:r>
            <a:endParaRPr lang="en-US" sz="4800" dirty="0"/>
          </a:p>
        </p:txBody>
      </p:sp>
      <p:sp>
        <p:nvSpPr>
          <p:cNvPr id="4" name="Shape 2"/>
          <p:cNvSpPr/>
          <p:nvPr/>
        </p:nvSpPr>
        <p:spPr>
          <a:xfrm>
            <a:off x="1142970" y="3886273"/>
            <a:ext cx="7886669" cy="1886727"/>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8016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1 · SAME METRIC, MANY NAMES</a:t>
            </a:r>
            <a:endParaRPr lang="en-US" sz="1800" dirty="0"/>
          </a:p>
        </p:txBody>
      </p:sp>
      <p:sp>
        <p:nvSpPr>
          <p:cNvPr id="6" name="Text 4"/>
          <p:cNvSpPr/>
          <p:nvPr/>
        </p:nvSpPr>
        <p:spPr>
          <a:xfrm>
            <a:off x="1442625" y="4635247"/>
            <a:ext cx="7505980" cy="895328"/>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NovaCloud ARR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appears as “End-of-Period ARR” and “ARR (End of Period)” — two labels, one line. Miss a relabel and the trend silently splits.</a:t>
            </a:r>
            <a:endParaRPr lang="en-US" sz="1800" dirty="0"/>
          </a:p>
        </p:txBody>
      </p:sp>
      <p:sp>
        <p:nvSpPr>
          <p:cNvPr id="7" name="Shape 5"/>
          <p:cNvSpPr/>
          <p:nvPr/>
        </p:nvSpPr>
        <p:spPr>
          <a:xfrm>
            <a:off x="9258212" y="3886273"/>
            <a:ext cx="7886778" cy="1886727"/>
          </a:xfrm>
          <a:prstGeom prst="rect">
            <a:avLst/>
          </a:prstGeom>
          <a:solidFill>
            <a:srgbClr val="F3F2F2"/>
          </a:solidFill>
          <a:ln w="13912">
            <a:solidFill>
              <a:srgbClr val="201E1E">
                <a:alpha val="40000"/>
              </a:srgbClr>
            </a:solidFill>
            <a:prstDash val="solid"/>
          </a:ln>
        </p:spPr>
      </p:sp>
      <p:sp>
        <p:nvSpPr>
          <p:cNvPr id="8" name="Text 6"/>
          <p:cNvSpPr/>
          <p:nvPr/>
        </p:nvSpPr>
        <p:spPr>
          <a:xfrm>
            <a:off x="9557866" y="4166799"/>
            <a:ext cx="801621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2 · SAME NAME, DIFFERENT MEANING</a:t>
            </a:r>
            <a:endParaRPr lang="en-US" sz="1800" dirty="0"/>
          </a:p>
        </p:txBody>
      </p:sp>
      <p:sp>
        <p:nvSpPr>
          <p:cNvPr id="9" name="Text 7"/>
          <p:cNvSpPr/>
          <p:nvPr/>
        </p:nvSpPr>
        <p:spPr>
          <a:xfrm>
            <a:off x="9557866" y="4635247"/>
            <a:ext cx="750609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SaaS delivery-margin vs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LendBridge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interest-margin — put them in </a:t>
            </a:r>
            <a:pPr algn="l" indent="0" marL="0">
              <a:lnSpc>
                <a:spcPct val="108103"/>
              </a:lnSpc>
              <a:buNone/>
            </a:pPr>
            <a:r>
              <a:rPr lang="en-US" sz="1800" strike="sngStrike" dirty="0">
                <a:solidFill>
                  <a:srgbClr val="1F1F1D">
                    <a:alpha val="45000"/>
                  </a:srgbClr>
                </a:solidFill>
                <a:latin typeface="Arial" pitchFamily="34" charset="0"/>
                <a:ea typeface="Arial" pitchFamily="34" charset="-122"/>
                <a:cs typeface="Arial" pitchFamily="34" charset="-120"/>
              </a:rPr>
              <a:t>one shared column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and you're quietly wrong.</a:t>
            </a:r>
            <a:endParaRPr lang="en-US" sz="1800" dirty="0"/>
          </a:p>
        </p:txBody>
      </p:sp>
      <p:sp>
        <p:nvSpPr>
          <p:cNvPr id="10" name="Shape 8"/>
          <p:cNvSpPr/>
          <p:nvPr/>
        </p:nvSpPr>
        <p:spPr>
          <a:xfrm>
            <a:off x="1142970" y="6001572"/>
            <a:ext cx="7886669" cy="1600984"/>
          </a:xfrm>
          <a:prstGeom prst="rect">
            <a:avLst/>
          </a:prstGeom>
          <a:solidFill>
            <a:srgbClr val="F3F2F2"/>
          </a:solidFill>
          <a:ln w="13912">
            <a:solidFill>
              <a:srgbClr val="201E1E">
                <a:alpha val="40000"/>
              </a:srgbClr>
            </a:solidFill>
            <a:prstDash val="solid"/>
          </a:ln>
        </p:spPr>
      </p:sp>
      <p:sp>
        <p:nvSpPr>
          <p:cNvPr id="11" name="Text 9"/>
          <p:cNvSpPr/>
          <p:nvPr/>
        </p:nvSpPr>
        <p:spPr>
          <a:xfrm>
            <a:off x="1442625" y="6282098"/>
            <a:ext cx="8016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3 · RIGHT NUMBER, WRONG BASIS</a:t>
            </a:r>
            <a:endParaRPr lang="en-US" sz="1800" dirty="0"/>
          </a:p>
        </p:txBody>
      </p:sp>
      <p:sp>
        <p:nvSpPr>
          <p:cNvPr id="12" name="Text 10"/>
          <p:cNvSpPr/>
          <p:nvPr/>
        </p:nvSpPr>
        <p:spPr>
          <a:xfrm>
            <a:off x="1442625" y="6750546"/>
            <a:ext cx="7505980"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ClearPay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“Cash $38.4M” includes $6.2M restricted client float — true spendable is </a:t>
            </a:r>
            <a:pPr algn="l" indent="0" marL="0">
              <a:lnSpc>
                <a:spcPct val="108103"/>
              </a:lnSpc>
              <a:buNone/>
            </a:pPr>
            <a:r>
              <a:rPr lang="en-US" sz="1800" strike="sngStrike" dirty="0">
                <a:solidFill>
                  <a:srgbClr val="1F1F1D">
                    <a:alpha val="45000"/>
                  </a:srgbClr>
                </a:solidFill>
                <a:latin typeface="Arial" pitchFamily="34" charset="0"/>
                <a:ea typeface="Arial" pitchFamily="34" charset="-122"/>
                <a:cs typeface="Arial" pitchFamily="34" charset="-120"/>
              </a:rPr>
              <a:t>$38.4M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$32.2M.</a:t>
            </a:r>
            <a:endParaRPr lang="en-US" sz="1800" dirty="0"/>
          </a:p>
        </p:txBody>
      </p:sp>
      <p:sp>
        <p:nvSpPr>
          <p:cNvPr id="13" name="Shape 11"/>
          <p:cNvSpPr/>
          <p:nvPr/>
        </p:nvSpPr>
        <p:spPr>
          <a:xfrm>
            <a:off x="9258212" y="6001572"/>
            <a:ext cx="7886778" cy="1600984"/>
          </a:xfrm>
          <a:prstGeom prst="rect">
            <a:avLst/>
          </a:prstGeom>
          <a:solidFill>
            <a:srgbClr val="F3F2F2"/>
          </a:solidFill>
          <a:ln w="13912">
            <a:solidFill>
              <a:srgbClr val="201E1E">
                <a:alpha val="40000"/>
              </a:srgbClr>
            </a:solidFill>
            <a:prstDash val="solid"/>
          </a:ln>
        </p:spPr>
      </p:sp>
      <p:sp>
        <p:nvSpPr>
          <p:cNvPr id="14" name="Text 12"/>
          <p:cNvSpPr/>
          <p:nvPr/>
        </p:nvSpPr>
        <p:spPr>
          <a:xfrm>
            <a:off x="9557866" y="6282098"/>
            <a:ext cx="801621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4 · CAN'T PROVE IT</a:t>
            </a:r>
            <a:endParaRPr lang="en-US" sz="1800" dirty="0"/>
          </a:p>
        </p:txBody>
      </p:sp>
      <p:sp>
        <p:nvSpPr>
          <p:cNvPr id="15" name="Text 13"/>
          <p:cNvSpPr/>
          <p:nvPr/>
        </p:nvSpPr>
        <p:spPr>
          <a:xfrm>
            <a:off x="9557866" y="6750546"/>
            <a:ext cx="750609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sheet is stale, retyped —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no number links back to its source.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“Where did this come from?” → “let me re-open the PDF.”</a:t>
            </a:r>
            <a:endParaRPr lang="en-US" sz="1800" dirty="0"/>
          </a:p>
        </p:txBody>
      </p:sp>
      <p:pic>
        <p:nvPicPr>
          <p:cNvPr id="16" name="Image 0" descr="preencoded.png">    </p:cNvPr>
          <p:cNvPicPr>
            <a:picLocks noChangeAspect="1"/>
          </p:cNvPicPr>
          <p:nvPr/>
        </p:nvPicPr>
        <p:blipFill>
          <a:blip r:embed="rId1"/>
          <a:stretch>
            <a:fillRect/>
          </a:stretch>
        </p:blipFill>
        <p:spPr>
          <a:xfrm>
            <a:off x="1142970" y="8987142"/>
            <a:ext cx="3355111" cy="15683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03 · COMPARABILITY IS THE PRODUCT</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Same label ≠ same metric — comparability is the product, not extraction</a:t>
            </a:r>
            <a:endParaRPr lang="en-US" sz="4800" dirty="0"/>
          </a:p>
        </p:txBody>
      </p:sp>
      <p:sp>
        <p:nvSpPr>
          <p:cNvPr id="4" name="Shape 2"/>
          <p:cNvSpPr/>
          <p:nvPr/>
        </p:nvSpPr>
        <p:spPr>
          <a:xfrm>
            <a:off x="1142970" y="3886273"/>
            <a:ext cx="7423329" cy="1981938"/>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750642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11D1D">
                    <a:alpha val="55000"/>
                  </a:srgbClr>
                </a:solidFill>
                <a:latin typeface="Arial" pitchFamily="34" charset="0"/>
                <a:ea typeface="Arial" pitchFamily="34" charset="-122"/>
                <a:cs typeface="Arial" pitchFamily="34" charset="-120"/>
              </a:rPr>
              <a:t>SAAS COMPANY</a:t>
            </a:r>
            <a:endParaRPr lang="en-US" sz="1800" dirty="0"/>
          </a:p>
        </p:txBody>
      </p:sp>
      <p:sp>
        <p:nvSpPr>
          <p:cNvPr id="6" name="Text 4"/>
          <p:cNvSpPr/>
          <p:nvPr/>
        </p:nvSpPr>
        <p:spPr>
          <a:xfrm>
            <a:off x="1442625" y="4635247"/>
            <a:ext cx="7506421" cy="590565"/>
          </a:xfrm>
          <a:prstGeom prst="rect">
            <a:avLst/>
          </a:prstGeom>
          <a:noFill/>
          <a:ln/>
        </p:spPr>
        <p:txBody>
          <a:bodyPr wrap="square" lIns="25400" tIns="25400" rIns="25400" bIns="25400" rtlCol="0" anchor="t">
            <a:normAutofit/>
          </a:bodyPr>
          <a:lstStyle/>
          <a:p>
            <a:pPr algn="l" indent="0" marL="0">
              <a:lnSpc>
                <a:spcPct val="86326"/>
              </a:lnSpc>
              <a:buNone/>
            </a:pPr>
            <a:r>
              <a:rPr lang="en-US" sz="4350" b="1" spc="-87" kern="0" dirty="0">
                <a:solidFill>
                  <a:srgbClr val="201E1D"/>
                </a:solidFill>
                <a:latin typeface="Arial" pitchFamily="34" charset="0"/>
                <a:ea typeface="Arial" pitchFamily="34" charset="-122"/>
                <a:cs typeface="Arial" pitchFamily="34" charset="-120"/>
              </a:rPr>
              <a:t>60%</a:t>
            </a:r>
            <a:endParaRPr lang="en-US" sz="4350" dirty="0"/>
          </a:p>
        </p:txBody>
      </p:sp>
      <p:sp>
        <p:nvSpPr>
          <p:cNvPr id="7" name="Text 5"/>
          <p:cNvSpPr/>
          <p:nvPr/>
        </p:nvSpPr>
        <p:spPr>
          <a:xfrm>
            <a:off x="1442625" y="5301943"/>
            <a:ext cx="750642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“gross margin”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(illustrative) — a delivery margin</a:t>
            </a:r>
            <a:endParaRPr lang="en-US" sz="1800" dirty="0"/>
          </a:p>
        </p:txBody>
      </p:sp>
      <p:sp>
        <p:nvSpPr>
          <p:cNvPr id="8" name="Text 6"/>
          <p:cNvSpPr/>
          <p:nvPr/>
        </p:nvSpPr>
        <p:spPr>
          <a:xfrm>
            <a:off x="8813892" y="4553404"/>
            <a:ext cx="736266" cy="685776"/>
          </a:xfrm>
          <a:prstGeom prst="rect">
            <a:avLst/>
          </a:prstGeom>
          <a:noFill/>
          <a:ln/>
        </p:spPr>
        <p:txBody>
          <a:bodyPr wrap="square" lIns="25400" tIns="25400" rIns="25400" bIns="25400" rtlCol="0" anchor="t">
            <a:normAutofit/>
          </a:bodyPr>
          <a:lstStyle/>
          <a:p>
            <a:pPr algn="l" indent="0" marL="0">
              <a:lnSpc>
                <a:spcPct val="87021"/>
              </a:lnSpc>
              <a:buNone/>
            </a:pPr>
            <a:r>
              <a:rPr lang="en-US" sz="5100" b="1" dirty="0">
                <a:solidFill>
                  <a:srgbClr val="EC3013"/>
                </a:solidFill>
                <a:latin typeface="Arial" pitchFamily="34" charset="0"/>
                <a:ea typeface="Arial" pitchFamily="34" charset="-122"/>
                <a:cs typeface="Arial" pitchFamily="34" charset="-120"/>
              </a:rPr>
              <a:t>=?</a:t>
            </a:r>
            <a:endParaRPr lang="en-US" sz="5100" dirty="0"/>
          </a:p>
        </p:txBody>
      </p:sp>
      <p:sp>
        <p:nvSpPr>
          <p:cNvPr id="9" name="Shape 7"/>
          <p:cNvSpPr/>
          <p:nvPr/>
        </p:nvSpPr>
        <p:spPr>
          <a:xfrm>
            <a:off x="9721551" y="3886273"/>
            <a:ext cx="7423438" cy="1981938"/>
          </a:xfrm>
          <a:prstGeom prst="rect">
            <a:avLst/>
          </a:prstGeom>
          <a:solidFill>
            <a:srgbClr val="F3F2F2"/>
          </a:solidFill>
          <a:ln w="13912">
            <a:solidFill>
              <a:srgbClr val="201E1E">
                <a:alpha val="40000"/>
              </a:srgbClr>
            </a:solidFill>
            <a:prstDash val="solid"/>
          </a:ln>
        </p:spPr>
      </p:sp>
      <p:sp>
        <p:nvSpPr>
          <p:cNvPr id="10" name="Text 8"/>
          <p:cNvSpPr/>
          <p:nvPr/>
        </p:nvSpPr>
        <p:spPr>
          <a:xfrm>
            <a:off x="10021206" y="4166799"/>
            <a:ext cx="75065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11D1D">
                    <a:alpha val="55000"/>
                  </a:srgbClr>
                </a:solidFill>
                <a:latin typeface="Arial" pitchFamily="34" charset="0"/>
                <a:ea typeface="Arial" pitchFamily="34" charset="-122"/>
                <a:cs typeface="Arial" pitchFamily="34" charset="-120"/>
              </a:rPr>
              <a:t>LENDER</a:t>
            </a:r>
            <a:endParaRPr lang="en-US" sz="1800" dirty="0"/>
          </a:p>
        </p:txBody>
      </p:sp>
      <p:sp>
        <p:nvSpPr>
          <p:cNvPr id="11" name="Text 9"/>
          <p:cNvSpPr/>
          <p:nvPr/>
        </p:nvSpPr>
        <p:spPr>
          <a:xfrm>
            <a:off x="10021206" y="4635247"/>
            <a:ext cx="7506541" cy="590565"/>
          </a:xfrm>
          <a:prstGeom prst="rect">
            <a:avLst/>
          </a:prstGeom>
          <a:noFill/>
          <a:ln/>
        </p:spPr>
        <p:txBody>
          <a:bodyPr wrap="square" lIns="25400" tIns="25400" rIns="25400" bIns="25400" rtlCol="0" anchor="t">
            <a:normAutofit/>
          </a:bodyPr>
          <a:lstStyle/>
          <a:p>
            <a:pPr algn="l" indent="0" marL="0">
              <a:lnSpc>
                <a:spcPct val="86326"/>
              </a:lnSpc>
              <a:buNone/>
            </a:pPr>
            <a:r>
              <a:rPr lang="en-US" sz="4350" b="1" spc="-87" kern="0" dirty="0">
                <a:solidFill>
                  <a:srgbClr val="201E1D"/>
                </a:solidFill>
                <a:latin typeface="Arial" pitchFamily="34" charset="0"/>
                <a:ea typeface="Arial" pitchFamily="34" charset="-122"/>
                <a:cs typeface="Arial" pitchFamily="34" charset="-120"/>
              </a:rPr>
              <a:t>60%</a:t>
            </a:r>
            <a:endParaRPr lang="en-US" sz="4350" dirty="0"/>
          </a:p>
        </p:txBody>
      </p:sp>
      <p:sp>
        <p:nvSpPr>
          <p:cNvPr id="12" name="Text 10"/>
          <p:cNvSpPr/>
          <p:nvPr/>
        </p:nvSpPr>
        <p:spPr>
          <a:xfrm>
            <a:off x="10021206" y="5301943"/>
            <a:ext cx="750654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“gross margin”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(illustrative) — an interest margin</a:t>
            </a:r>
            <a:endParaRPr lang="en-US" sz="1800" dirty="0"/>
          </a:p>
        </p:txBody>
      </p:sp>
      <p:sp>
        <p:nvSpPr>
          <p:cNvPr id="13" name="Text 11"/>
          <p:cNvSpPr/>
          <p:nvPr/>
        </p:nvSpPr>
        <p:spPr>
          <a:xfrm>
            <a:off x="1142970" y="6243948"/>
            <a:ext cx="256845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01E1D"/>
                </a:solidFill>
                <a:latin typeface="Arial" pitchFamily="34" charset="0"/>
                <a:ea typeface="Arial" pitchFamily="34" charset="-122"/>
                <a:cs typeface="Arial" pitchFamily="34" charset="-120"/>
              </a:rPr>
              <a:t>THE NAIVE MERGE</a:t>
            </a:r>
            <a:endParaRPr lang="en-US" sz="1800" dirty="0"/>
          </a:p>
        </p:txBody>
      </p:sp>
      <p:sp>
        <p:nvSpPr>
          <p:cNvPr id="14" name="Text 12"/>
          <p:cNvSpPr/>
          <p:nvPr/>
        </p:nvSpPr>
        <p:spPr>
          <a:xfrm>
            <a:off x="3668352" y="6236448"/>
            <a:ext cx="4228153" cy="407207"/>
          </a:xfrm>
          <a:prstGeom prst="rect">
            <a:avLst/>
          </a:prstGeom>
          <a:noFill/>
          <a:ln/>
        </p:spPr>
        <p:txBody>
          <a:bodyPr wrap="square" lIns="25400" tIns="25400" rIns="25400" bIns="25400" rtlCol="0" anchor="t">
            <a:normAutofit/>
          </a:bodyPr>
          <a:lstStyle/>
          <a:p>
            <a:pPr algn="l" indent="0" marL="0">
              <a:lnSpc>
                <a:spcPct val="136053"/>
              </a:lnSpc>
              <a:buNone/>
            </a:pPr>
            <a:r>
              <a:rPr lang="en-US" sz="1875" b="1" strike="sngStrike" dirty="0">
                <a:solidFill>
                  <a:srgbClr val="1F1F1D">
                    <a:alpha val="45000"/>
                  </a:srgbClr>
                </a:solidFill>
                <a:latin typeface="Arial" pitchFamily="34" charset="0"/>
                <a:ea typeface="Arial" pitchFamily="34" charset="-122"/>
                <a:cs typeface="Arial" pitchFamily="34" charset="-120"/>
              </a:rPr>
              <a:t>one shared “gross margin” column</a:t>
            </a:r>
            <a:endParaRPr lang="en-US" sz="1875" dirty="0"/>
          </a:p>
        </p:txBody>
      </p:sp>
      <p:sp>
        <p:nvSpPr>
          <p:cNvPr id="15" name="Text 13"/>
          <p:cNvSpPr/>
          <p:nvPr/>
        </p:nvSpPr>
        <p:spPr>
          <a:xfrm>
            <a:off x="7702550" y="6243948"/>
            <a:ext cx="959187"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dirty="0">
                <a:solidFill>
                  <a:srgbClr val="EC3013"/>
                </a:solidFill>
                <a:latin typeface="Arial" pitchFamily="34" charset="0"/>
                <a:ea typeface="Arial" pitchFamily="34" charset="-122"/>
                <a:cs typeface="Arial" pitchFamily="34" charset="-120"/>
              </a:rPr>
              <a:t>splits →</a:t>
            </a:r>
            <a:endParaRPr lang="en-US" sz="1800" dirty="0"/>
          </a:p>
        </p:txBody>
      </p:sp>
      <p:sp>
        <p:nvSpPr>
          <p:cNvPr id="16" name="Shape 14"/>
          <p:cNvSpPr/>
          <p:nvPr/>
        </p:nvSpPr>
        <p:spPr>
          <a:xfrm>
            <a:off x="8775960" y="6096784"/>
            <a:ext cx="8369029" cy="648545"/>
          </a:xfrm>
          <a:prstGeom prst="rect">
            <a:avLst/>
          </a:prstGeom>
          <a:solidFill>
            <a:srgbClr val="F3F2F2"/>
          </a:solidFill>
          <a:ln w="13912">
            <a:solidFill>
              <a:srgbClr val="201E1E">
                <a:alpha val="40000"/>
              </a:srgbClr>
            </a:solidFill>
            <a:prstDash val="solid"/>
          </a:ln>
        </p:spPr>
      </p:sp>
      <p:sp>
        <p:nvSpPr>
          <p:cNvPr id="17" name="Text 15"/>
          <p:cNvSpPr/>
          <p:nvPr/>
        </p:nvSpPr>
        <p:spPr>
          <a:xfrm>
            <a:off x="8980294" y="6243948"/>
            <a:ext cx="336913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dirty="0">
                <a:solidFill>
                  <a:srgbClr val="EC3013"/>
                </a:solidFill>
                <a:latin typeface="Arial" pitchFamily="34" charset="0"/>
                <a:ea typeface="Arial" pitchFamily="34" charset="-122"/>
                <a:cs typeface="Arial" pitchFamily="34" charset="-120"/>
              </a:rPr>
              <a:t>SaaS lane </a:t>
            </a:r>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delivery-margin</a:t>
            </a:r>
            <a:endParaRPr lang="en-US" sz="1800" dirty="0"/>
          </a:p>
        </p:txBody>
      </p:sp>
      <p:sp>
        <p:nvSpPr>
          <p:cNvPr id="18" name="Text 16"/>
          <p:cNvSpPr/>
          <p:nvPr/>
        </p:nvSpPr>
        <p:spPr>
          <a:xfrm>
            <a:off x="12233565" y="6243948"/>
            <a:ext cx="132283"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E">
                    <a:alpha val="40000"/>
                  </a:srgbClr>
                </a:solidFill>
                <a:latin typeface="Arial" pitchFamily="34" charset="0"/>
                <a:ea typeface="Arial" pitchFamily="34" charset="-122"/>
                <a:cs typeface="Arial" pitchFamily="34" charset="-120"/>
              </a:rPr>
              <a:t>|</a:t>
            </a:r>
            <a:endParaRPr lang="en-US" sz="1800" dirty="0"/>
          </a:p>
        </p:txBody>
      </p:sp>
      <p:sp>
        <p:nvSpPr>
          <p:cNvPr id="19" name="Text 17"/>
          <p:cNvSpPr/>
          <p:nvPr/>
        </p:nvSpPr>
        <p:spPr>
          <a:xfrm>
            <a:off x="12480071" y="6243948"/>
            <a:ext cx="368452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dirty="0">
                <a:solidFill>
                  <a:srgbClr val="EC3013"/>
                </a:solidFill>
                <a:latin typeface="Arial" pitchFamily="34" charset="0"/>
                <a:ea typeface="Arial" pitchFamily="34" charset="-122"/>
                <a:cs typeface="Arial" pitchFamily="34" charset="-120"/>
              </a:rPr>
              <a:t>Lender lane </a:t>
            </a:r>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interest-margin</a:t>
            </a:r>
            <a:endParaRPr lang="en-US" sz="1800" dirty="0"/>
          </a:p>
        </p:txBody>
      </p:sp>
      <p:sp>
        <p:nvSpPr>
          <p:cNvPr id="20" name="Shape 18"/>
          <p:cNvSpPr/>
          <p:nvPr/>
        </p:nvSpPr>
        <p:spPr>
          <a:xfrm>
            <a:off x="1142970" y="6916731"/>
            <a:ext cx="16002019" cy="741148"/>
          </a:xfrm>
          <a:prstGeom prst="rect">
            <a:avLst/>
          </a:prstGeom>
          <a:solidFill>
            <a:srgbClr val="EAE9E9"/>
          </a:solidFill>
          <a:ln w="13912">
            <a:solidFill>
              <a:srgbClr val="201E1E">
                <a:alpha val="40000"/>
              </a:srgbClr>
            </a:solidFill>
            <a:prstDash val="solid"/>
          </a:ln>
        </p:spPr>
      </p:sp>
      <p:sp>
        <p:nvSpPr>
          <p:cNvPr id="21" name="Text 19"/>
          <p:cNvSpPr/>
          <p:nvPr/>
        </p:nvSpPr>
        <p:spPr>
          <a:xfrm>
            <a:off x="1347305" y="7110197"/>
            <a:ext cx="1842860"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01E1D"/>
                </a:solidFill>
                <a:latin typeface="Arial" pitchFamily="34" charset="0"/>
                <a:ea typeface="Arial" pitchFamily="34" charset="-122"/>
                <a:cs typeface="Arial" pitchFamily="34" charset="-120"/>
              </a:rPr>
              <a:t>THE INVERSE</a:t>
            </a:r>
            <a:endParaRPr lang="en-US" sz="1800" dirty="0"/>
          </a:p>
        </p:txBody>
      </p:sp>
      <p:sp>
        <p:nvSpPr>
          <p:cNvPr id="22" name="Text 20"/>
          <p:cNvSpPr/>
          <p:nvPr/>
        </p:nvSpPr>
        <p:spPr>
          <a:xfrm>
            <a:off x="3175014" y="7110197"/>
            <a:ext cx="8140913"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one metric, many names — “End-of-Period ARR” = “ARR (End of Period)”</a:t>
            </a:r>
            <a:endParaRPr lang="en-US" sz="1800" dirty="0"/>
          </a:p>
        </p:txBody>
      </p:sp>
      <p:sp>
        <p:nvSpPr>
          <p:cNvPr id="23" name="Text 21"/>
          <p:cNvSpPr/>
          <p:nvPr/>
        </p:nvSpPr>
        <p:spPr>
          <a:xfrm>
            <a:off x="10728227" y="7173019"/>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24" name="Shape 22"/>
          <p:cNvSpPr/>
          <p:nvPr/>
        </p:nvSpPr>
        <p:spPr>
          <a:xfrm>
            <a:off x="11109180" y="7073460"/>
            <a:ext cx="2027153" cy="427690"/>
          </a:xfrm>
          <a:prstGeom prst="rect">
            <a:avLst/>
          </a:prstGeom>
          <a:ln w="13912">
            <a:solidFill>
              <a:srgbClr val="EC3013"/>
            </a:solidFill>
            <a:prstDash val="solid"/>
          </a:ln>
        </p:spPr>
      </p:sp>
      <p:sp>
        <p:nvSpPr>
          <p:cNvPr id="25" name="Text 23"/>
          <p:cNvSpPr/>
          <p:nvPr/>
        </p:nvSpPr>
        <p:spPr>
          <a:xfrm>
            <a:off x="11265967" y="7173097"/>
            <a:ext cx="1789779"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AE1800"/>
                </a:solidFill>
                <a:latin typeface="Arial" pitchFamily="34" charset="0"/>
                <a:ea typeface="Arial" pitchFamily="34" charset="-122"/>
                <a:cs typeface="Arial" pitchFamily="34" charset="-120"/>
              </a:rPr>
              <a:t>one stitched line</a:t>
            </a:r>
            <a:endParaRPr lang="en-US" sz="1800" dirty="0"/>
          </a:p>
        </p:txBody>
      </p:sp>
      <p:sp>
        <p:nvSpPr>
          <p:cNvPr id="26" name="Text 24"/>
          <p:cNvSpPr/>
          <p:nvPr/>
        </p:nvSpPr>
        <p:spPr>
          <a:xfrm>
            <a:off x="1142970" y="8186867"/>
            <a:ext cx="14716078" cy="518830"/>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Illustrative numbers. Live, this fires on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LendBridge's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real interest-margin (a lender's “gross margin,” 58→62%) — shown in full, never ranked against a SaaS margin.</a:t>
            </a:r>
            <a:endParaRPr lang="en-US" sz="1800" dirty="0"/>
          </a:p>
        </p:txBody>
      </p:sp>
      <p:pic>
        <p:nvPicPr>
          <p:cNvPr id="27" name="Image 0" descr="preencoded.png">    </p:cNvPr>
          <p:cNvPicPr>
            <a:picLocks noChangeAspect="1"/>
          </p:cNvPicPr>
          <p:nvPr/>
        </p:nvPicPr>
        <p:blipFill>
          <a:blip r:embed="rId1"/>
          <a:stretch>
            <a:fillRect/>
          </a:stretch>
        </p:blipFill>
        <p:spPr>
          <a:xfrm>
            <a:off x="1142970" y="8987142"/>
            <a:ext cx="3355111" cy="1568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03 · COMPARABILITY IS THE PRODUCT</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Rules never invent a number — deterministic on purpose, not production-grade yet</a:t>
            </a:r>
            <a:endParaRPr lang="en-US" sz="4800" dirty="0"/>
          </a:p>
        </p:txBody>
      </p:sp>
      <p:sp>
        <p:nvSpPr>
          <p:cNvPr id="4" name="Shape 2"/>
          <p:cNvSpPr/>
          <p:nvPr/>
        </p:nvSpPr>
        <p:spPr>
          <a:xfrm>
            <a:off x="1142970" y="3886273"/>
            <a:ext cx="7810478" cy="2324090"/>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793228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ON PURPOSE</a:t>
            </a:r>
            <a:endParaRPr lang="en-US" sz="1800" dirty="0"/>
          </a:p>
        </p:txBody>
      </p:sp>
      <p:sp>
        <p:nvSpPr>
          <p:cNvPr id="6" name="Text 4"/>
          <p:cNvSpPr/>
          <p:nvPr/>
        </p:nvSpPr>
        <p:spPr>
          <a:xfrm>
            <a:off x="1442625" y="4635247"/>
            <a:ext cx="7932285"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A single deterministic method — fixed rules</a:t>
            </a:r>
            <a:endParaRPr lang="en-US" sz="2025" dirty="0"/>
          </a:p>
        </p:txBody>
      </p:sp>
      <p:sp>
        <p:nvSpPr>
          <p:cNvPr id="7" name="Text 5"/>
          <p:cNvSpPr/>
          <p:nvPr/>
        </p:nvSpPr>
        <p:spPr>
          <a:xfrm>
            <a:off x="1442625" y="5045112"/>
            <a:ext cx="793228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it never invents a number — a flagged blank beats a confident guess</a:t>
            </a:r>
            <a:endParaRPr lang="en-US" sz="1800" dirty="0"/>
          </a:p>
        </p:txBody>
      </p:sp>
      <p:sp>
        <p:nvSpPr>
          <p:cNvPr id="8" name="Shape 6"/>
          <p:cNvSpPr/>
          <p:nvPr/>
        </p:nvSpPr>
        <p:spPr>
          <a:xfrm>
            <a:off x="1442625" y="5502148"/>
            <a:ext cx="962656" cy="427690"/>
          </a:xfrm>
          <a:prstGeom prst="rect">
            <a:avLst/>
          </a:prstGeom>
          <a:ln w="13912">
            <a:solidFill>
              <a:srgbClr val="201E1E">
                <a:alpha val="40000"/>
              </a:srgbClr>
            </a:solidFill>
            <a:prstDash val="solid"/>
          </a:ln>
        </p:spPr>
      </p:sp>
      <p:sp>
        <p:nvSpPr>
          <p:cNvPr id="9" name="Text 7"/>
          <p:cNvSpPr/>
          <p:nvPr/>
        </p:nvSpPr>
        <p:spPr>
          <a:xfrm>
            <a:off x="1599412" y="5601785"/>
            <a:ext cx="725282"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cheap</a:t>
            </a:r>
            <a:endParaRPr lang="en-US" sz="1800" dirty="0"/>
          </a:p>
        </p:txBody>
      </p:sp>
      <p:sp>
        <p:nvSpPr>
          <p:cNvPr id="10" name="Shape 8"/>
          <p:cNvSpPr/>
          <p:nvPr/>
        </p:nvSpPr>
        <p:spPr>
          <a:xfrm>
            <a:off x="2538533" y="5502148"/>
            <a:ext cx="705064" cy="427690"/>
          </a:xfrm>
          <a:prstGeom prst="rect">
            <a:avLst/>
          </a:prstGeom>
          <a:ln w="13912">
            <a:solidFill>
              <a:srgbClr val="201E1E">
                <a:alpha val="40000"/>
              </a:srgbClr>
            </a:solidFill>
            <a:prstDash val="solid"/>
          </a:ln>
        </p:spPr>
      </p:sp>
      <p:sp>
        <p:nvSpPr>
          <p:cNvPr id="11" name="Text 9"/>
          <p:cNvSpPr/>
          <p:nvPr/>
        </p:nvSpPr>
        <p:spPr>
          <a:xfrm>
            <a:off x="2695320" y="5601785"/>
            <a:ext cx="467689"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fast</a:t>
            </a:r>
            <a:endParaRPr lang="en-US" sz="1800" dirty="0"/>
          </a:p>
        </p:txBody>
      </p:sp>
      <p:sp>
        <p:nvSpPr>
          <p:cNvPr id="12" name="Shape 10"/>
          <p:cNvSpPr/>
          <p:nvPr/>
        </p:nvSpPr>
        <p:spPr>
          <a:xfrm>
            <a:off x="3376849" y="5502148"/>
            <a:ext cx="1157209" cy="427690"/>
          </a:xfrm>
          <a:prstGeom prst="rect">
            <a:avLst/>
          </a:prstGeom>
          <a:ln w="13912">
            <a:solidFill>
              <a:srgbClr val="201E1E">
                <a:alpha val="40000"/>
              </a:srgbClr>
            </a:solidFill>
            <a:prstDash val="solid"/>
          </a:ln>
        </p:spPr>
      </p:sp>
      <p:sp>
        <p:nvSpPr>
          <p:cNvPr id="13" name="Text 11"/>
          <p:cNvSpPr/>
          <p:nvPr/>
        </p:nvSpPr>
        <p:spPr>
          <a:xfrm>
            <a:off x="3533636" y="5601785"/>
            <a:ext cx="919834"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testable</a:t>
            </a:r>
            <a:endParaRPr lang="en-US" sz="1800" dirty="0"/>
          </a:p>
        </p:txBody>
      </p:sp>
      <p:sp>
        <p:nvSpPr>
          <p:cNvPr id="14" name="Shape 12"/>
          <p:cNvSpPr/>
          <p:nvPr/>
        </p:nvSpPr>
        <p:spPr>
          <a:xfrm>
            <a:off x="4667310" y="5502148"/>
            <a:ext cx="961786" cy="427690"/>
          </a:xfrm>
          <a:prstGeom prst="rect">
            <a:avLst/>
          </a:prstGeom>
          <a:ln w="13912">
            <a:solidFill>
              <a:srgbClr val="201E1E">
                <a:alpha val="40000"/>
              </a:srgbClr>
            </a:solidFill>
            <a:prstDash val="solid"/>
          </a:ln>
        </p:spPr>
      </p:sp>
      <p:sp>
        <p:nvSpPr>
          <p:cNvPr id="15" name="Text 13"/>
          <p:cNvSpPr/>
          <p:nvPr/>
        </p:nvSpPr>
        <p:spPr>
          <a:xfrm>
            <a:off x="4824097" y="5601785"/>
            <a:ext cx="724412"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offline</a:t>
            </a:r>
            <a:endParaRPr lang="en-US" sz="1800" dirty="0"/>
          </a:p>
        </p:txBody>
      </p:sp>
      <p:sp>
        <p:nvSpPr>
          <p:cNvPr id="16" name="Shape 14"/>
          <p:cNvSpPr/>
          <p:nvPr/>
        </p:nvSpPr>
        <p:spPr>
          <a:xfrm>
            <a:off x="9334402" y="3886273"/>
            <a:ext cx="7810587" cy="2324090"/>
          </a:xfrm>
          <a:prstGeom prst="rect">
            <a:avLst/>
          </a:prstGeom>
          <a:solidFill>
            <a:srgbClr val="F3F2F2"/>
          </a:solidFill>
          <a:ln w="27824">
            <a:solidFill>
              <a:srgbClr val="EC3013"/>
            </a:solidFill>
            <a:prstDash val="solid"/>
          </a:ln>
        </p:spPr>
      </p:sp>
      <p:sp>
        <p:nvSpPr>
          <p:cNvPr id="17" name="Text 15"/>
          <p:cNvSpPr/>
          <p:nvPr/>
        </p:nvSpPr>
        <p:spPr>
          <a:xfrm>
            <a:off x="9638405" y="4171255"/>
            <a:ext cx="79228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THE HONEST CAVEAT</a:t>
            </a:r>
            <a:endParaRPr lang="en-US" sz="1800" dirty="0"/>
          </a:p>
        </p:txBody>
      </p:sp>
      <p:sp>
        <p:nvSpPr>
          <p:cNvPr id="18" name="Text 16"/>
          <p:cNvSpPr/>
          <p:nvPr/>
        </p:nvSpPr>
        <p:spPr>
          <a:xfrm>
            <a:off x="9638405" y="4639703"/>
            <a:ext cx="7922841"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One method ≠ production-grade</a:t>
            </a:r>
            <a:endParaRPr lang="en-US" sz="2025" dirty="0"/>
          </a:p>
        </p:txBody>
      </p:sp>
      <p:sp>
        <p:nvSpPr>
          <p:cNvPr id="19" name="Text 17"/>
          <p:cNvSpPr/>
          <p:nvPr/>
        </p:nvSpPr>
        <p:spPr>
          <a:xfrm>
            <a:off x="9638405" y="5049568"/>
            <a:ext cx="7418660"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 lone reader, however good, can be wrong — and you'd never know. The redundant path (§8) is what I'd build for real.</a:t>
            </a:r>
            <a:endParaRPr lang="en-US" sz="1800" dirty="0"/>
          </a:p>
        </p:txBody>
      </p:sp>
      <p:sp>
        <p:nvSpPr>
          <p:cNvPr id="20" name="Shape 18"/>
          <p:cNvSpPr/>
          <p:nvPr/>
        </p:nvSpPr>
        <p:spPr>
          <a:xfrm>
            <a:off x="1142970" y="6381765"/>
            <a:ext cx="16002019" cy="686804"/>
          </a:xfrm>
          <a:prstGeom prst="rect">
            <a:avLst/>
          </a:prstGeom>
          <a:solidFill>
            <a:srgbClr val="EAE9E9"/>
          </a:solidFill>
          <a:ln w="13912">
            <a:solidFill>
              <a:srgbClr val="201E1E">
                <a:alpha val="40000"/>
              </a:srgbClr>
            </a:solidFill>
            <a:prstDash val="solid"/>
          </a:ln>
        </p:spPr>
      </p:sp>
      <p:sp>
        <p:nvSpPr>
          <p:cNvPr id="21" name="Text 19"/>
          <p:cNvSpPr/>
          <p:nvPr/>
        </p:nvSpPr>
        <p:spPr>
          <a:xfrm>
            <a:off x="1347305" y="6548059"/>
            <a:ext cx="423317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01E1D"/>
                </a:solidFill>
                <a:latin typeface="Arial" pitchFamily="34" charset="0"/>
                <a:ea typeface="Arial" pitchFamily="34" charset="-122"/>
                <a:cs typeface="Arial" pitchFamily="34" charset="-120"/>
              </a:rPr>
              <a:t>FIRECRAWL → DETERMINISTIC</a:t>
            </a:r>
            <a:endParaRPr lang="en-US" sz="1800" dirty="0"/>
          </a:p>
        </p:txBody>
      </p:sp>
      <p:sp>
        <p:nvSpPr>
          <p:cNvPr id="22" name="Text 20"/>
          <p:cNvSpPr/>
          <p:nvPr/>
        </p:nvSpPr>
        <p:spPr>
          <a:xfrm>
            <a:off x="5348027" y="6548059"/>
            <a:ext cx="1269761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first build used Firecrawl (paid extraction) → hit errors + ran out of credit → switched. The right move for a </a:t>
            </a:r>
            <a:pPr algn="l" indent="0" marL="0">
              <a:lnSpc>
                <a:spcPct val="134048"/>
              </a:lnSpc>
              <a:buNone/>
            </a:pPr>
            <a:r>
              <a:rPr lang="en-US" sz="1800" b="1" dirty="0">
                <a:solidFill>
                  <a:srgbClr val="201E1D"/>
                </a:solidFill>
                <a:latin typeface="Arial" pitchFamily="34" charset="0"/>
                <a:ea typeface="Arial" pitchFamily="34" charset="-122"/>
                <a:cs typeface="Arial" pitchFamily="34" charset="-120"/>
              </a:rPr>
              <a:t>trust </a:t>
            </a:r>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tool.</a:t>
            </a:r>
            <a:endParaRPr lang="en-US" sz="1800" dirty="0"/>
          </a:p>
        </p:txBody>
      </p:sp>
      <p:sp>
        <p:nvSpPr>
          <p:cNvPr id="23" name="Text 21"/>
          <p:cNvSpPr/>
          <p:nvPr/>
        </p:nvSpPr>
        <p:spPr>
          <a:xfrm>
            <a:off x="1142970" y="7597557"/>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Any vendor accuracy % = the vendor's own claim, not our measured result.</a:t>
            </a:r>
            <a:endParaRPr lang="en-US" sz="1800" dirty="0"/>
          </a:p>
        </p:txBody>
      </p:sp>
      <p:pic>
        <p:nvPicPr>
          <p:cNvPr id="24"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03 · COMPARABILITY IS THE PRODUCT</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What I'd build for real: redundant readers — the disagreement is the alarm</a:t>
            </a:r>
            <a:endParaRPr lang="en-US" sz="4800" dirty="0"/>
          </a:p>
        </p:txBody>
      </p:sp>
      <p:sp>
        <p:nvSpPr>
          <p:cNvPr id="4" name="Shape 2"/>
          <p:cNvSpPr/>
          <p:nvPr/>
        </p:nvSpPr>
        <p:spPr>
          <a:xfrm>
            <a:off x="1142970" y="3924423"/>
            <a:ext cx="4808062" cy="595397"/>
          </a:xfrm>
          <a:prstGeom prst="rect">
            <a:avLst/>
          </a:prstGeom>
          <a:solidFill>
            <a:srgbClr val="F3F2F2"/>
          </a:solidFill>
          <a:ln w="13912">
            <a:solidFill>
              <a:srgbClr val="201E1E">
                <a:alpha val="40000"/>
              </a:srgbClr>
            </a:solidFill>
            <a:prstDash val="solid"/>
          </a:ln>
        </p:spPr>
      </p:sp>
      <p:sp>
        <p:nvSpPr>
          <p:cNvPr id="5" name="Text 3"/>
          <p:cNvSpPr/>
          <p:nvPr/>
        </p:nvSpPr>
        <p:spPr>
          <a:xfrm>
            <a:off x="1328284" y="4090716"/>
            <a:ext cx="4881177"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Firecrawl</a:t>
            </a:r>
            <a:endParaRPr lang="en-US" sz="1800" dirty="0"/>
          </a:p>
        </p:txBody>
      </p:sp>
      <p:sp>
        <p:nvSpPr>
          <p:cNvPr id="6" name="Shape 4"/>
          <p:cNvSpPr/>
          <p:nvPr/>
        </p:nvSpPr>
        <p:spPr>
          <a:xfrm>
            <a:off x="1142970" y="4615031"/>
            <a:ext cx="4808062" cy="595397"/>
          </a:xfrm>
          <a:prstGeom prst="rect">
            <a:avLst/>
          </a:prstGeom>
          <a:solidFill>
            <a:srgbClr val="F3F2F2"/>
          </a:solidFill>
          <a:ln w="13912">
            <a:solidFill>
              <a:srgbClr val="201E1E">
                <a:alpha val="40000"/>
              </a:srgbClr>
            </a:solidFill>
            <a:prstDash val="solid"/>
          </a:ln>
        </p:spPr>
      </p:sp>
      <p:sp>
        <p:nvSpPr>
          <p:cNvPr id="7" name="Text 5"/>
          <p:cNvSpPr/>
          <p:nvPr/>
        </p:nvSpPr>
        <p:spPr>
          <a:xfrm>
            <a:off x="1328284" y="4781324"/>
            <a:ext cx="4881177"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Local doc-AI (Docling)</a:t>
            </a:r>
            <a:endParaRPr lang="en-US" sz="1800" dirty="0"/>
          </a:p>
        </p:txBody>
      </p:sp>
      <p:sp>
        <p:nvSpPr>
          <p:cNvPr id="8" name="Shape 6"/>
          <p:cNvSpPr/>
          <p:nvPr/>
        </p:nvSpPr>
        <p:spPr>
          <a:xfrm>
            <a:off x="1142970" y="5305638"/>
            <a:ext cx="4808062" cy="595397"/>
          </a:xfrm>
          <a:prstGeom prst="rect">
            <a:avLst/>
          </a:prstGeom>
          <a:solidFill>
            <a:srgbClr val="F3F2F2"/>
          </a:solidFill>
          <a:ln w="13912">
            <a:solidFill>
              <a:srgbClr val="201E1E">
                <a:alpha val="40000"/>
              </a:srgbClr>
            </a:solidFill>
            <a:prstDash val="solid"/>
          </a:ln>
        </p:spPr>
      </p:sp>
      <p:sp>
        <p:nvSpPr>
          <p:cNvPr id="9" name="Text 7"/>
          <p:cNvSpPr/>
          <p:nvPr/>
        </p:nvSpPr>
        <p:spPr>
          <a:xfrm>
            <a:off x="1328284" y="5471932"/>
            <a:ext cx="4881177"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Vision-LLM</a:t>
            </a:r>
            <a:endParaRPr lang="en-US" sz="1800" dirty="0"/>
          </a:p>
        </p:txBody>
      </p:sp>
      <p:sp>
        <p:nvSpPr>
          <p:cNvPr id="10" name="Text 8"/>
          <p:cNvSpPr/>
          <p:nvPr/>
        </p:nvSpPr>
        <p:spPr>
          <a:xfrm>
            <a:off x="1142970" y="6015267"/>
            <a:ext cx="4952304" cy="746533"/>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11D1D">
                    <a:alpha val="55000"/>
                  </a:srgbClr>
                </a:solidFill>
                <a:latin typeface="Arial" pitchFamily="34" charset="0"/>
                <a:ea typeface="Arial" pitchFamily="34" charset="-122"/>
                <a:cs typeface="Arial" pitchFamily="34" charset="-120"/>
              </a:rPr>
              <a:t>2–4 READERS THAT FAIL DIFFERENTLY</a:t>
            </a:r>
            <a:endParaRPr lang="en-US" sz="1800" dirty="0"/>
          </a:p>
        </p:txBody>
      </p:sp>
      <p:sp>
        <p:nvSpPr>
          <p:cNvPr id="11" name="Text 9"/>
          <p:cNvSpPr/>
          <p:nvPr/>
        </p:nvSpPr>
        <p:spPr>
          <a:xfrm>
            <a:off x="6103414" y="5171626"/>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6560450" y="4523515"/>
            <a:ext cx="4926641" cy="1600984"/>
          </a:xfrm>
          <a:prstGeom prst="rect">
            <a:avLst/>
          </a:prstGeom>
          <a:solidFill>
            <a:srgbClr val="EAE9E9"/>
          </a:solidFill>
          <a:ln w="13912">
            <a:solidFill>
              <a:srgbClr val="201E1E">
                <a:alpha val="40000"/>
              </a:srgbClr>
            </a:solidFill>
            <a:prstDash val="solid"/>
          </a:ln>
        </p:spPr>
      </p:sp>
      <p:sp>
        <p:nvSpPr>
          <p:cNvPr id="13" name="Text 11"/>
          <p:cNvSpPr/>
          <p:nvPr/>
        </p:nvSpPr>
        <p:spPr>
          <a:xfrm>
            <a:off x="6860105" y="4804040"/>
            <a:ext cx="476006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ORCHESTRATOR</a:t>
            </a:r>
            <a:endParaRPr lang="en-US" sz="1800" dirty="0"/>
          </a:p>
        </p:txBody>
      </p:sp>
      <p:sp>
        <p:nvSpPr>
          <p:cNvPr id="14" name="Text 12"/>
          <p:cNvSpPr/>
          <p:nvPr/>
        </p:nvSpPr>
        <p:spPr>
          <a:xfrm>
            <a:off x="6860105" y="5272489"/>
            <a:ext cx="4457151"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collects answers, checks agreement — tiered consensus</a:t>
            </a:r>
            <a:endParaRPr lang="en-US" sz="1800" dirty="0"/>
          </a:p>
        </p:txBody>
      </p:sp>
      <p:sp>
        <p:nvSpPr>
          <p:cNvPr id="15" name="Text 13"/>
          <p:cNvSpPr/>
          <p:nvPr/>
        </p:nvSpPr>
        <p:spPr>
          <a:xfrm>
            <a:off x="11639472" y="5171626"/>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12096508" y="3886273"/>
            <a:ext cx="5048481" cy="1223835"/>
          </a:xfrm>
          <a:prstGeom prst="rect">
            <a:avLst/>
          </a:prstGeom>
          <a:solidFill>
            <a:srgbClr val="F3F2F2"/>
          </a:solidFill>
          <a:ln w="13912">
            <a:solidFill>
              <a:srgbClr val="201E1E">
                <a:alpha val="40000"/>
              </a:srgbClr>
            </a:solidFill>
            <a:prstDash val="solid"/>
          </a:ln>
        </p:spPr>
      </p:sp>
      <p:sp>
        <p:nvSpPr>
          <p:cNvPr id="17" name="Text 15"/>
          <p:cNvSpPr/>
          <p:nvPr/>
        </p:nvSpPr>
        <p:spPr>
          <a:xfrm>
            <a:off x="12396163" y="4166799"/>
            <a:ext cx="4894089"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 Agree</a:t>
            </a:r>
            <a:endParaRPr lang="en-US" sz="1800" dirty="0"/>
          </a:p>
        </p:txBody>
      </p:sp>
      <p:sp>
        <p:nvSpPr>
          <p:cNvPr id="18" name="Text 16"/>
          <p:cNvSpPr/>
          <p:nvPr/>
        </p:nvSpPr>
        <p:spPr>
          <a:xfrm>
            <a:off x="12396163" y="4543840"/>
            <a:ext cx="4894089"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higher confidence (tiered)</a:t>
            </a:r>
            <a:endParaRPr lang="en-US" sz="1800" dirty="0"/>
          </a:p>
        </p:txBody>
      </p:sp>
      <p:sp>
        <p:nvSpPr>
          <p:cNvPr id="19" name="Shape 17"/>
          <p:cNvSpPr/>
          <p:nvPr/>
        </p:nvSpPr>
        <p:spPr>
          <a:xfrm>
            <a:off x="12096508" y="5243360"/>
            <a:ext cx="5048481" cy="1518490"/>
          </a:xfrm>
          <a:prstGeom prst="rect">
            <a:avLst/>
          </a:prstGeom>
          <a:solidFill>
            <a:srgbClr val="F3F2F2"/>
          </a:solidFill>
          <a:ln w="27824">
            <a:solidFill>
              <a:srgbClr val="EC3013"/>
            </a:solidFill>
            <a:prstDash val="solid"/>
          </a:ln>
        </p:spPr>
      </p:sp>
      <p:sp>
        <p:nvSpPr>
          <p:cNvPr id="20" name="Text 18"/>
          <p:cNvSpPr/>
          <p:nvPr/>
        </p:nvSpPr>
        <p:spPr>
          <a:xfrm>
            <a:off x="12400511" y="5528342"/>
            <a:ext cx="4884524"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AE1800"/>
                </a:solidFill>
                <a:latin typeface="Arial" pitchFamily="34" charset="0"/>
                <a:ea typeface="Arial" pitchFamily="34" charset="-122"/>
                <a:cs typeface="Arial" pitchFamily="34" charset="-120"/>
              </a:rPr>
              <a:t>⚠ Disagree</a:t>
            </a:r>
            <a:endParaRPr lang="en-US" sz="1800" dirty="0"/>
          </a:p>
        </p:txBody>
      </p:sp>
      <p:sp>
        <p:nvSpPr>
          <p:cNvPr id="21" name="Text 19"/>
          <p:cNvSpPr/>
          <p:nvPr/>
        </p:nvSpPr>
        <p:spPr>
          <a:xfrm>
            <a:off x="12400511" y="5905383"/>
            <a:ext cx="4573691"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flag + human review, answers side by side</a:t>
            </a:r>
            <a:endParaRPr lang="en-US" sz="1800" dirty="0"/>
          </a:p>
        </p:txBody>
      </p:sp>
      <p:sp>
        <p:nvSpPr>
          <p:cNvPr id="22" name="Text 20"/>
          <p:cNvSpPr/>
          <p:nvPr/>
        </p:nvSpPr>
        <p:spPr>
          <a:xfrm>
            <a:off x="1142970" y="7290838"/>
            <a:ext cx="14716078" cy="518830"/>
          </a:xfrm>
          <a:prstGeom prst="rect">
            <a:avLst/>
          </a:prstGeom>
          <a:noFill/>
          <a:ln/>
        </p:spPr>
        <p:txBody>
          <a:bodyPr wrap="square" lIns="25400" tIns="25400" rIns="25400" bIns="25400" rtlCol="0" anchor="t">
            <a:normAutofit/>
          </a:bodyPr>
          <a:lstStyle/>
          <a:p>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Designed, not built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today's demo runs the single deterministic method. “Independent” is never total: agreement is strong evidence, not proof.</a:t>
            </a:r>
            <a:endParaRPr lang="en-US" sz="1800" dirty="0"/>
          </a:p>
        </p:txBody>
      </p:sp>
      <p:pic>
        <p:nvPicPr>
          <p:cNvPr id="23"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04 · AI SUGGESTS, HUMANS DECIDE</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Be AI-first, but human-decision-driven — AI never decides</a:t>
            </a:r>
            <a:endParaRPr lang="en-US" sz="4800" dirty="0"/>
          </a:p>
        </p:txBody>
      </p:sp>
      <p:sp>
        <p:nvSpPr>
          <p:cNvPr id="4" name="Shape 2"/>
          <p:cNvSpPr/>
          <p:nvPr/>
        </p:nvSpPr>
        <p:spPr>
          <a:xfrm>
            <a:off x="1142970" y="3886273"/>
            <a:ext cx="8042528" cy="3029371"/>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81875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AI / RULES · DOES THE HEAVY WORK</a:t>
            </a:r>
            <a:endParaRPr lang="en-US" sz="1800" dirty="0"/>
          </a:p>
        </p:txBody>
      </p:sp>
      <p:sp>
        <p:nvSpPr>
          <p:cNvPr id="6" name="Text 4"/>
          <p:cNvSpPr/>
          <p:nvPr/>
        </p:nvSpPr>
        <p:spPr>
          <a:xfrm>
            <a:off x="1690275" y="4673288"/>
            <a:ext cx="79398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read 20+ packs, pull the numbers</a:t>
            </a:r>
            <a:endParaRPr lang="en-US" sz="1800" dirty="0"/>
          </a:p>
        </p:txBody>
      </p:sp>
      <p:sp>
        <p:nvSpPr>
          <p:cNvPr id="7" name="Text 5"/>
          <p:cNvSpPr/>
          <p:nvPr/>
        </p:nvSpPr>
        <p:spPr>
          <a:xfrm>
            <a:off x="1690275" y="5073262"/>
            <a:ext cx="79398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stitch renamed labels into one series</a:t>
            </a:r>
            <a:endParaRPr lang="en-US" sz="1800" dirty="0"/>
          </a:p>
        </p:txBody>
      </p:sp>
      <p:sp>
        <p:nvSpPr>
          <p:cNvPr id="8" name="Text 6"/>
          <p:cNvSpPr/>
          <p:nvPr/>
        </p:nvSpPr>
        <p:spPr>
          <a:xfrm>
            <a:off x="1690275" y="5473236"/>
            <a:ext cx="79398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flag disagreement &amp; low confidence</a:t>
            </a:r>
            <a:endParaRPr lang="en-US" sz="1800" dirty="0"/>
          </a:p>
        </p:txBody>
      </p:sp>
      <p:sp>
        <p:nvSpPr>
          <p:cNvPr id="9" name="Text 7"/>
          <p:cNvSpPr/>
          <p:nvPr/>
        </p:nvSpPr>
        <p:spPr>
          <a:xfrm>
            <a:off x="1690275" y="5873211"/>
            <a:ext cx="79398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suggest —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with reasons</a:t>
            </a:r>
            <a:endParaRPr lang="en-US" sz="1800" dirty="0"/>
          </a:p>
        </p:txBody>
      </p:sp>
      <p:sp>
        <p:nvSpPr>
          <p:cNvPr id="10" name="Text 8"/>
          <p:cNvSpPr/>
          <p:nvPr/>
        </p:nvSpPr>
        <p:spPr>
          <a:xfrm>
            <a:off x="1442625" y="6349376"/>
            <a:ext cx="818754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probabilistic — a likely answer, not a certain one</a:t>
            </a:r>
            <a:endParaRPr lang="en-US" sz="1800" dirty="0"/>
          </a:p>
        </p:txBody>
      </p:sp>
      <p:sp>
        <p:nvSpPr>
          <p:cNvPr id="11" name="Text 9"/>
          <p:cNvSpPr/>
          <p:nvPr/>
        </p:nvSpPr>
        <p:spPr>
          <a:xfrm>
            <a:off x="9817524" y="5004788"/>
            <a:ext cx="457154" cy="419054"/>
          </a:xfrm>
          <a:prstGeom prst="rect">
            <a:avLst/>
          </a:prstGeom>
          <a:noFill/>
          <a:ln/>
        </p:spPr>
        <p:txBody>
          <a:bodyPr wrap="square" lIns="25400" tIns="25400" rIns="25400" bIns="25400" rtlCol="0" anchor="t">
            <a:normAutofit/>
          </a:bodyPr>
          <a:lstStyle/>
          <a:p>
            <a:pPr algn="l" indent="0" marL="0">
              <a:lnSpc>
                <a:spcPct val="85582"/>
              </a:lnSpc>
              <a:buNone/>
            </a:pPr>
            <a:r>
              <a:rPr lang="en-US" sz="3000" b="1" dirty="0">
                <a:solidFill>
                  <a:srgbClr val="BAB6B6"/>
                </a:solidFill>
                <a:latin typeface="Arial" pitchFamily="34" charset="0"/>
                <a:ea typeface="Arial" pitchFamily="34" charset="-122"/>
                <a:cs typeface="Arial" pitchFamily="34" charset="-120"/>
              </a:rPr>
              <a:t>→</a:t>
            </a:r>
            <a:endParaRPr lang="en-US" sz="3000" dirty="0"/>
          </a:p>
        </p:txBody>
      </p:sp>
      <p:sp>
        <p:nvSpPr>
          <p:cNvPr id="12" name="Text 10"/>
          <p:cNvSpPr/>
          <p:nvPr/>
        </p:nvSpPr>
        <p:spPr>
          <a:xfrm>
            <a:off x="9356901" y="5442804"/>
            <a:ext cx="1432419"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AE1800"/>
                </a:solidFill>
                <a:latin typeface="Arial" pitchFamily="34" charset="0"/>
                <a:ea typeface="Arial" pitchFamily="34" charset="-122"/>
                <a:cs typeface="Arial" pitchFamily="34" charset="-120"/>
              </a:rPr>
              <a:t>SUGGESTS</a:t>
            </a:r>
            <a:endParaRPr lang="en-US" sz="1800" dirty="0"/>
          </a:p>
        </p:txBody>
      </p:sp>
      <p:sp>
        <p:nvSpPr>
          <p:cNvPr id="13" name="Shape 11"/>
          <p:cNvSpPr/>
          <p:nvPr/>
        </p:nvSpPr>
        <p:spPr>
          <a:xfrm>
            <a:off x="10830502" y="3886273"/>
            <a:ext cx="6314487" cy="3029371"/>
          </a:xfrm>
          <a:prstGeom prst="rect">
            <a:avLst/>
          </a:prstGeom>
          <a:solidFill>
            <a:srgbClr val="F3F2F2"/>
          </a:solidFill>
          <a:ln w="27824">
            <a:solidFill>
              <a:srgbClr val="EC3013"/>
            </a:solidFill>
            <a:prstDash val="solid"/>
          </a:ln>
        </p:spPr>
      </p:sp>
      <p:sp>
        <p:nvSpPr>
          <p:cNvPr id="14" name="Text 12"/>
          <p:cNvSpPr/>
          <p:nvPr/>
        </p:nvSpPr>
        <p:spPr>
          <a:xfrm>
            <a:off x="11134504" y="4171255"/>
            <a:ext cx="627713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THE HUMAN DECISION GATE · DECIDES</a:t>
            </a:r>
            <a:endParaRPr lang="en-US" sz="1800" dirty="0"/>
          </a:p>
        </p:txBody>
      </p:sp>
      <p:sp>
        <p:nvSpPr>
          <p:cNvPr id="15" name="Text 13"/>
          <p:cNvSpPr/>
          <p:nvPr/>
        </p:nvSpPr>
        <p:spPr>
          <a:xfrm>
            <a:off x="10974484" y="4677744"/>
            <a:ext cx="5942702" cy="1123792"/>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“is this right enough for a report?”</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sign-off</a:t>
            </a:r>
            <a:endParaRPr lang="en-US" sz="1800" dirty="0"/>
          </a:p>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the mark / the IC call</a:t>
            </a:r>
            <a:endParaRPr lang="en-US" sz="1800" dirty="0"/>
          </a:p>
        </p:txBody>
      </p:sp>
      <p:sp>
        <p:nvSpPr>
          <p:cNvPr id="16" name="Text 14"/>
          <p:cNvSpPr/>
          <p:nvPr/>
        </p:nvSpPr>
        <p:spPr>
          <a:xfrm>
            <a:off x="11134504" y="5953858"/>
            <a:ext cx="627713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center of every decision that reaches a report</a:t>
            </a:r>
            <a:endParaRPr lang="en-US" sz="1800" dirty="0"/>
          </a:p>
        </p:txBody>
      </p:sp>
      <p:pic>
        <p:nvPicPr>
          <p:cNvPr id="17"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05 · CAUGHT BEFORE THE IC BEATS HOURS</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The win isn't the hours — it's a wrong number caught before the IC</a:t>
            </a:r>
            <a:endParaRPr lang="en-US" sz="4800" dirty="0"/>
          </a:p>
        </p:txBody>
      </p:sp>
      <p:sp>
        <p:nvSpPr>
          <p:cNvPr id="4" name="Shape 2"/>
          <p:cNvSpPr/>
          <p:nvPr/>
        </p:nvSpPr>
        <p:spPr>
          <a:xfrm>
            <a:off x="1142970" y="3886273"/>
            <a:ext cx="7810478" cy="1762170"/>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793228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TODAY</a:t>
            </a:r>
            <a:endParaRPr lang="en-US" sz="18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42625" y="4635247"/>
            <a:ext cx="323784" cy="323784"/>
          </a:xfrm>
          <a:prstGeom prst="rect">
            <a:avLst/>
          </a:prstGeom>
        </p:spPr>
      </p:pic>
      <p:sp>
        <p:nvSpPr>
          <p:cNvPr id="7" name="Text 4"/>
          <p:cNvSpPr/>
          <p:nvPr/>
        </p:nvSpPr>
        <p:spPr>
          <a:xfrm>
            <a:off x="1880640" y="4658397"/>
            <a:ext cx="1477612" cy="315474"/>
          </a:xfrm>
          <a:prstGeom prst="rect">
            <a:avLst/>
          </a:prstGeom>
          <a:noFill/>
          <a:ln/>
        </p:spPr>
        <p:txBody>
          <a:bodyPr wrap="square" lIns="25400" tIns="25400" rIns="25400" bIns="25400" rtlCol="0" anchor="t">
            <a:normAutofit/>
          </a:bodyPr>
          <a:lstStyle/>
          <a:p>
            <a:pPr algn="l" indent="0" marL="0">
              <a:lnSpc>
                <a:spcPct val="97254"/>
              </a:lnSpc>
              <a:buNone/>
            </a:pPr>
            <a:r>
              <a:rPr lang="en-US" sz="1950" b="1" spc="-19" kern="0" dirty="0">
                <a:solidFill>
                  <a:srgbClr val="201E1D"/>
                </a:solidFill>
                <a:latin typeface="Arial" pitchFamily="34" charset="0"/>
                <a:ea typeface="Arial" pitchFamily="34" charset="-122"/>
                <a:cs typeface="Arial" pitchFamily="34" charset="-120"/>
              </a:rPr>
              <a:t>Hours–days</a:t>
            </a:r>
            <a:endParaRPr lang="en-US" sz="1950" dirty="0"/>
          </a:p>
        </p:txBody>
      </p:sp>
      <p:sp>
        <p:nvSpPr>
          <p:cNvPr id="8" name="Text 5"/>
          <p:cNvSpPr/>
          <p:nvPr/>
        </p:nvSpPr>
        <p:spPr>
          <a:xfrm>
            <a:off x="1442625" y="5073262"/>
            <a:ext cx="793228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re-typing 20+ packs by hand before anyone can even see the portfolio</a:t>
            </a:r>
            <a:endParaRPr lang="en-US" sz="1800" dirty="0"/>
          </a:p>
        </p:txBody>
      </p:sp>
      <p:sp>
        <p:nvSpPr>
          <p:cNvPr id="9" name="Shape 6"/>
          <p:cNvSpPr/>
          <p:nvPr/>
        </p:nvSpPr>
        <p:spPr>
          <a:xfrm>
            <a:off x="9334402" y="3886273"/>
            <a:ext cx="7810587" cy="1762170"/>
          </a:xfrm>
          <a:prstGeom prst="rect">
            <a:avLst/>
          </a:prstGeom>
          <a:solidFill>
            <a:srgbClr val="F3F2F2"/>
          </a:solidFill>
          <a:ln w="27824">
            <a:solidFill>
              <a:srgbClr val="EC3013"/>
            </a:solidFill>
            <a:prstDash val="solid"/>
          </a:ln>
        </p:spPr>
      </p:sp>
      <p:sp>
        <p:nvSpPr>
          <p:cNvPr id="10" name="Text 7"/>
          <p:cNvSpPr/>
          <p:nvPr/>
        </p:nvSpPr>
        <p:spPr>
          <a:xfrm>
            <a:off x="9638405" y="4171255"/>
            <a:ext cx="79228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WITH CONCORD</a:t>
            </a:r>
            <a:endParaRPr lang="en-US" sz="18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38405" y="4639703"/>
            <a:ext cx="323784" cy="323784"/>
          </a:xfrm>
          <a:prstGeom prst="rect">
            <a:avLst/>
          </a:prstGeom>
        </p:spPr>
      </p:pic>
      <p:sp>
        <p:nvSpPr>
          <p:cNvPr id="12" name="Text 8"/>
          <p:cNvSpPr/>
          <p:nvPr/>
        </p:nvSpPr>
        <p:spPr>
          <a:xfrm>
            <a:off x="10076420" y="4662854"/>
            <a:ext cx="1140154" cy="315474"/>
          </a:xfrm>
          <a:prstGeom prst="rect">
            <a:avLst/>
          </a:prstGeom>
          <a:noFill/>
          <a:ln/>
        </p:spPr>
        <p:txBody>
          <a:bodyPr wrap="square" lIns="25400" tIns="25400" rIns="25400" bIns="25400" rtlCol="0" anchor="t">
            <a:normAutofit/>
          </a:bodyPr>
          <a:lstStyle/>
          <a:p>
            <a:pPr algn="l" indent="0" marL="0">
              <a:lnSpc>
                <a:spcPct val="97254"/>
              </a:lnSpc>
              <a:buNone/>
            </a:pPr>
            <a:r>
              <a:rPr lang="en-US" sz="1950" b="1" spc="-19" kern="0" dirty="0">
                <a:solidFill>
                  <a:srgbClr val="201E1D"/>
                </a:solidFill>
                <a:latin typeface="Arial" pitchFamily="34" charset="0"/>
                <a:ea typeface="Arial" pitchFamily="34" charset="-122"/>
                <a:cs typeface="Arial" pitchFamily="34" charset="-120"/>
              </a:rPr>
              <a:t>One click</a:t>
            </a:r>
            <a:endParaRPr lang="en-US" sz="1950" dirty="0"/>
          </a:p>
        </p:txBody>
      </p:sp>
      <p:sp>
        <p:nvSpPr>
          <p:cNvPr id="13" name="Text 9"/>
          <p:cNvSpPr/>
          <p:nvPr/>
        </p:nvSpPr>
        <p:spPr>
          <a:xfrm>
            <a:off x="9638405" y="5077719"/>
            <a:ext cx="792284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 comparable, source-traced view — time goes to judgment, not typing</a:t>
            </a:r>
            <a:endParaRPr lang="en-US" sz="1800" dirty="0"/>
          </a:p>
        </p:txBody>
      </p:sp>
      <p:sp>
        <p:nvSpPr>
          <p:cNvPr id="14" name="Shape 10"/>
          <p:cNvSpPr/>
          <p:nvPr/>
        </p:nvSpPr>
        <p:spPr>
          <a:xfrm>
            <a:off x="1142970" y="5896035"/>
            <a:ext cx="16002019" cy="727345"/>
          </a:xfrm>
          <a:prstGeom prst="rect">
            <a:avLst/>
          </a:prstGeom>
          <a:ln w="13912">
            <a:solidFill>
              <a:srgbClr val="201E1D"/>
            </a:solidFill>
            <a:prstDash val="solid"/>
          </a:ln>
        </p:spPr>
      </p:sp>
      <p:sp>
        <p:nvSpPr>
          <p:cNvPr id="15" name="Shape 11"/>
          <p:cNvSpPr/>
          <p:nvPr/>
        </p:nvSpPr>
        <p:spPr>
          <a:xfrm>
            <a:off x="1156882" y="5909947"/>
            <a:ext cx="3894424" cy="699520"/>
          </a:xfrm>
          <a:prstGeom prst="rect">
            <a:avLst/>
          </a:prstGeom>
          <a:solidFill>
            <a:srgbClr val="EAE9E9"/>
          </a:solidFill>
          <a:ln/>
        </p:spPr>
      </p:sp>
      <p:sp>
        <p:nvSpPr>
          <p:cNvPr id="16" name="Shape 12"/>
          <p:cNvSpPr/>
          <p:nvPr/>
        </p:nvSpPr>
        <p:spPr>
          <a:xfrm>
            <a:off x="1156882" y="6602512"/>
            <a:ext cx="3894424" cy="9525"/>
          </a:xfrm>
          <a:prstGeom prst="rect">
            <a:avLst/>
          </a:prstGeom>
          <a:solidFill>
            <a:srgbClr val="201E1E">
              <a:alpha val="40000"/>
            </a:srgbClr>
          </a:solidFill>
          <a:ln/>
        </p:spPr>
      </p:sp>
      <p:sp>
        <p:nvSpPr>
          <p:cNvPr id="17" name="Shape 13"/>
          <p:cNvSpPr/>
          <p:nvPr/>
        </p:nvSpPr>
        <p:spPr>
          <a:xfrm>
            <a:off x="1156882" y="5909947"/>
            <a:ext cx="3894424" cy="9525"/>
          </a:xfrm>
          <a:prstGeom prst="rect">
            <a:avLst/>
          </a:prstGeom>
          <a:solidFill>
            <a:srgbClr val="201E1E">
              <a:alpha val="40000"/>
            </a:srgbClr>
          </a:solidFill>
          <a:ln/>
        </p:spPr>
      </p:sp>
      <p:sp>
        <p:nvSpPr>
          <p:cNvPr id="18" name="Shape 14"/>
          <p:cNvSpPr/>
          <p:nvPr/>
        </p:nvSpPr>
        <p:spPr>
          <a:xfrm>
            <a:off x="1156882" y="5909947"/>
            <a:ext cx="9525" cy="699520"/>
          </a:xfrm>
          <a:prstGeom prst="rect">
            <a:avLst/>
          </a:prstGeom>
          <a:solidFill>
            <a:srgbClr val="201E1E">
              <a:alpha val="40000"/>
            </a:srgbClr>
          </a:solidFill>
          <a:ln/>
        </p:spPr>
      </p:sp>
      <p:sp>
        <p:nvSpPr>
          <p:cNvPr id="19" name="Shape 15"/>
          <p:cNvSpPr/>
          <p:nvPr/>
        </p:nvSpPr>
        <p:spPr>
          <a:xfrm>
            <a:off x="5037395" y="5909947"/>
            <a:ext cx="13912" cy="699520"/>
          </a:xfrm>
          <a:prstGeom prst="rect">
            <a:avLst/>
          </a:prstGeom>
          <a:solidFill>
            <a:srgbClr val="201E1D"/>
          </a:solidFill>
          <a:ln/>
        </p:spPr>
      </p:sp>
      <p:sp>
        <p:nvSpPr>
          <p:cNvPr id="20" name="Text 16"/>
          <p:cNvSpPr/>
          <p:nvPr/>
        </p:nvSpPr>
        <p:spPr>
          <a:xfrm>
            <a:off x="1392411" y="6126347"/>
            <a:ext cx="3758053"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dirty="0">
                <a:solidFill>
                  <a:srgbClr val="201E1D"/>
                </a:solidFill>
                <a:latin typeface="Arial" pitchFamily="34" charset="0"/>
                <a:ea typeface="Arial" pitchFamily="34" charset="-122"/>
                <a:cs typeface="Arial" pitchFamily="34" charset="-120"/>
              </a:rPr>
              <a:t>typing saved</a:t>
            </a:r>
            <a:endParaRPr lang="en-US" sz="1800" dirty="0"/>
          </a:p>
        </p:txBody>
      </p:sp>
      <p:sp>
        <p:nvSpPr>
          <p:cNvPr id="21" name="Shape 17"/>
          <p:cNvSpPr/>
          <p:nvPr/>
        </p:nvSpPr>
        <p:spPr>
          <a:xfrm>
            <a:off x="5051307" y="5909947"/>
            <a:ext cx="12079770" cy="699520"/>
          </a:xfrm>
          <a:prstGeom prst="rect">
            <a:avLst/>
          </a:prstGeom>
          <a:solidFill>
            <a:srgbClr val="EC3013"/>
          </a:solidFill>
          <a:ln/>
        </p:spPr>
      </p:sp>
      <p:sp>
        <p:nvSpPr>
          <p:cNvPr id="22" name="Shape 18"/>
          <p:cNvSpPr/>
          <p:nvPr/>
        </p:nvSpPr>
        <p:spPr>
          <a:xfrm>
            <a:off x="5051307" y="6602512"/>
            <a:ext cx="12079770" cy="9525"/>
          </a:xfrm>
          <a:prstGeom prst="rect">
            <a:avLst/>
          </a:prstGeom>
          <a:solidFill>
            <a:srgbClr val="201E1E">
              <a:alpha val="40000"/>
            </a:srgbClr>
          </a:solidFill>
          <a:ln/>
        </p:spPr>
      </p:sp>
      <p:sp>
        <p:nvSpPr>
          <p:cNvPr id="23" name="Shape 19"/>
          <p:cNvSpPr/>
          <p:nvPr/>
        </p:nvSpPr>
        <p:spPr>
          <a:xfrm>
            <a:off x="5051307" y="5909947"/>
            <a:ext cx="12079770" cy="9525"/>
          </a:xfrm>
          <a:prstGeom prst="rect">
            <a:avLst/>
          </a:prstGeom>
          <a:solidFill>
            <a:srgbClr val="201E1E">
              <a:alpha val="40000"/>
            </a:srgbClr>
          </a:solidFill>
          <a:ln/>
        </p:spPr>
      </p:sp>
      <p:sp>
        <p:nvSpPr>
          <p:cNvPr id="24" name="Shape 20"/>
          <p:cNvSpPr/>
          <p:nvPr/>
        </p:nvSpPr>
        <p:spPr>
          <a:xfrm>
            <a:off x="5051307" y="5909947"/>
            <a:ext cx="9525" cy="699520"/>
          </a:xfrm>
          <a:prstGeom prst="rect">
            <a:avLst/>
          </a:prstGeom>
          <a:solidFill>
            <a:srgbClr val="201E1E">
              <a:alpha val="40000"/>
            </a:srgbClr>
          </a:solidFill>
          <a:ln/>
        </p:spPr>
      </p:sp>
      <p:sp>
        <p:nvSpPr>
          <p:cNvPr id="25" name="Text 21"/>
          <p:cNvSpPr/>
          <p:nvPr/>
        </p:nvSpPr>
        <p:spPr>
          <a:xfrm>
            <a:off x="5286835" y="6126347"/>
            <a:ext cx="12777236"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b="1" dirty="0">
                <a:solidFill>
                  <a:srgbClr val="F3F2F2"/>
                </a:solidFill>
                <a:latin typeface="Arial" pitchFamily="34" charset="0"/>
                <a:ea typeface="Arial" pitchFamily="34" charset="-122"/>
                <a:cs typeface="Arial" pitchFamily="34" charset="-120"/>
              </a:rPr>
              <a:t>a wrong number caught before the investment committee </a:t>
            </a:r>
            <a:pPr algn="l" indent="0" marL="0">
              <a:lnSpc>
                <a:spcPct val="100896"/>
              </a:lnSpc>
              <a:buNone/>
            </a:pPr>
            <a:r>
              <a:rPr lang="en-US" sz="1800" dirty="0">
                <a:solidFill>
                  <a:srgbClr val="F3F2F2"/>
                </a:solidFill>
                <a:latin typeface="Arial" pitchFamily="34" charset="0"/>
                <a:ea typeface="Arial" pitchFamily="34" charset="-122"/>
                <a:cs typeface="Arial" pitchFamily="34" charset="-120"/>
              </a:rPr>
              <a:t>— worth far more</a:t>
            </a:r>
            <a:endParaRPr lang="en-US" sz="1800" dirty="0"/>
          </a:p>
        </p:txBody>
      </p:sp>
      <p:sp>
        <p:nvSpPr>
          <p:cNvPr id="26" name="Text 22"/>
          <p:cNvSpPr/>
          <p:nvPr/>
        </p:nvSpPr>
        <p:spPr>
          <a:xfrm>
            <a:off x="1142970" y="7152368"/>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Qualitative only — no invented hours, no dollar figure, no fund-return math.</a:t>
            </a:r>
            <a:endParaRPr lang="en-US" sz="1800" dirty="0"/>
          </a:p>
        </p:txBody>
      </p:sp>
      <p:pic>
        <p:nvPicPr>
          <p:cNvPr id="27" name="Image 2" descr="preencoded.png">    </p:cNvPr>
          <p:cNvPicPr>
            <a:picLocks noChangeAspect="1"/>
          </p:cNvPicPr>
          <p:nvPr/>
        </p:nvPicPr>
        <p:blipFill>
          <a:blip r:embed="rId5"/>
          <a:stretch>
            <a:fillRect/>
          </a:stretch>
        </p:blipFill>
        <p:spPr>
          <a:xfrm>
            <a:off x="1142970" y="8987142"/>
            <a:ext cx="3484994" cy="15683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3000895"/>
            <a:ext cx="17602220" cy="451443"/>
          </a:xfrm>
          <a:prstGeom prst="rect">
            <a:avLst/>
          </a:prstGeom>
          <a:noFill/>
          <a:ln/>
        </p:spPr>
        <p:txBody>
          <a:bodyPr wrap="square" lIns="25400" tIns="25400" rIns="25400" bIns="25400" rtlCol="0" anchor="t">
            <a:normAutofit/>
          </a:bodyPr>
          <a:lstStyle/>
          <a:p>
            <a:pPr algn="l" indent="0" marL="0">
              <a:lnSpc>
                <a:spcPct val="135063"/>
              </a:lnSpc>
              <a:buNone/>
            </a:pPr>
            <a:r>
              <a:rPr lang="en-US" sz="2100" b="1" spc="168" kern="0" dirty="0">
                <a:solidFill>
                  <a:srgbClr val="EC3013"/>
                </a:solidFill>
                <a:latin typeface="Arial" pitchFamily="34" charset="0"/>
                <a:ea typeface="Arial" pitchFamily="34" charset="-122"/>
                <a:cs typeface="Arial" pitchFamily="34" charset="-120"/>
              </a:rPr>
              <a:t>▶ LIVE DEMO</a:t>
            </a:r>
            <a:endParaRPr lang="en-US" sz="210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42970" y="3960942"/>
            <a:ext cx="1238182" cy="800057"/>
          </a:xfrm>
          <a:prstGeom prst="rect">
            <a:avLst/>
          </a:prstGeom>
        </p:spPr>
      </p:pic>
      <p:sp>
        <p:nvSpPr>
          <p:cNvPr id="4" name="Text 1"/>
          <p:cNvSpPr/>
          <p:nvPr/>
        </p:nvSpPr>
        <p:spPr>
          <a:xfrm>
            <a:off x="2666894" y="3795192"/>
            <a:ext cx="5241284" cy="1169658"/>
          </a:xfrm>
          <a:prstGeom prst="rect">
            <a:avLst/>
          </a:prstGeom>
          <a:noFill/>
          <a:ln/>
        </p:spPr>
        <p:txBody>
          <a:bodyPr wrap="square" lIns="25400" tIns="25400" rIns="25400" bIns="25400" rtlCol="0" anchor="t">
            <a:normAutofit/>
          </a:bodyPr>
          <a:lstStyle/>
          <a:p>
            <a:pPr algn="l" indent="0" marL="0">
              <a:lnSpc>
                <a:spcPct val="78208"/>
              </a:lnSpc>
              <a:buNone/>
            </a:pPr>
            <a:r>
              <a:rPr lang="en-US" sz="9900" b="1" spc="-198" kern="0" dirty="0">
                <a:solidFill>
                  <a:srgbClr val="201E1D"/>
                </a:solidFill>
                <a:latin typeface="Arial" pitchFamily="34" charset="0"/>
                <a:ea typeface="Arial" pitchFamily="34" charset="-122"/>
                <a:cs typeface="Arial" pitchFamily="34" charset="-120"/>
              </a:rPr>
              <a:t>Concord</a:t>
            </a:r>
            <a:endParaRPr lang="en-US" sz="9900" dirty="0"/>
          </a:p>
        </p:txBody>
      </p:sp>
      <p:sp>
        <p:nvSpPr>
          <p:cNvPr id="5" name="Text 2"/>
          <p:cNvSpPr/>
          <p:nvPr/>
        </p:nvSpPr>
        <p:spPr>
          <a:xfrm>
            <a:off x="1142970" y="5307704"/>
            <a:ext cx="8541736" cy="979127"/>
          </a:xfrm>
          <a:prstGeom prst="rect">
            <a:avLst/>
          </a:prstGeom>
          <a:noFill/>
          <a:ln/>
        </p:spPr>
        <p:txBody>
          <a:bodyPr wrap="square" lIns="25400" tIns="25400" rIns="25400" bIns="25400" rtlCol="0" anchor="t">
            <a:normAutofit/>
          </a:bodyPr>
          <a:lstStyle/>
          <a:p>
            <a:pPr algn="l" indent="0" marL="0">
              <a:lnSpc>
                <a:spcPct val="112740"/>
              </a:lnSpc>
              <a:buNone/>
            </a:pPr>
            <a:r>
              <a:rPr lang="en-US" sz="2850" dirty="0">
                <a:solidFill>
                  <a:srgbClr val="201D1D">
                    <a:alpha val="68000"/>
                  </a:srgbClr>
                </a:solidFill>
                <a:latin typeface="Arial" pitchFamily="34" charset="0"/>
                <a:ea typeface="Arial" pitchFamily="34" charset="-122"/>
                <a:cs typeface="Arial" pitchFamily="34" charset="-120"/>
              </a:rPr>
              <a:t>One comparable, source-traced view of every portfolio company — run live and offline.</a:t>
            </a:r>
            <a:endParaRPr lang="en-US" sz="2850" dirty="0"/>
          </a:p>
        </p:txBody>
      </p:sp>
      <p:sp>
        <p:nvSpPr>
          <p:cNvPr id="6" name="Shape 3"/>
          <p:cNvSpPr/>
          <p:nvPr/>
        </p:nvSpPr>
        <p:spPr>
          <a:xfrm>
            <a:off x="1142970" y="6629684"/>
            <a:ext cx="961786" cy="427690"/>
          </a:xfrm>
          <a:prstGeom prst="rect">
            <a:avLst/>
          </a:prstGeom>
          <a:ln w="13912">
            <a:solidFill>
              <a:srgbClr val="201E1E">
                <a:alpha val="40000"/>
              </a:srgbClr>
            </a:solidFill>
            <a:prstDash val="solid"/>
          </a:ln>
        </p:spPr>
      </p:sp>
      <p:sp>
        <p:nvSpPr>
          <p:cNvPr id="7" name="Text 4"/>
          <p:cNvSpPr/>
          <p:nvPr/>
        </p:nvSpPr>
        <p:spPr>
          <a:xfrm>
            <a:off x="1299757" y="6729321"/>
            <a:ext cx="724412"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offline</a:t>
            </a:r>
            <a:endParaRPr lang="en-US" sz="1800" dirty="0"/>
          </a:p>
        </p:txBody>
      </p:sp>
      <p:sp>
        <p:nvSpPr>
          <p:cNvPr id="8" name="Shape 5"/>
          <p:cNvSpPr/>
          <p:nvPr/>
        </p:nvSpPr>
        <p:spPr>
          <a:xfrm>
            <a:off x="2257138" y="6629684"/>
            <a:ext cx="1683371" cy="427690"/>
          </a:xfrm>
          <a:prstGeom prst="rect">
            <a:avLst/>
          </a:prstGeom>
          <a:ln w="13912">
            <a:solidFill>
              <a:srgbClr val="201E1E">
                <a:alpha val="40000"/>
              </a:srgbClr>
            </a:solidFill>
            <a:prstDash val="solid"/>
          </a:ln>
        </p:spPr>
      </p:sp>
      <p:sp>
        <p:nvSpPr>
          <p:cNvPr id="9" name="Text 6"/>
          <p:cNvSpPr/>
          <p:nvPr/>
        </p:nvSpPr>
        <p:spPr>
          <a:xfrm>
            <a:off x="2413925" y="6729321"/>
            <a:ext cx="1445996"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deterministic</a:t>
            </a:r>
            <a:endParaRPr lang="en-US" sz="1800" dirty="0"/>
          </a:p>
        </p:txBody>
      </p:sp>
      <p:sp>
        <p:nvSpPr>
          <p:cNvPr id="10" name="Shape 7"/>
          <p:cNvSpPr/>
          <p:nvPr/>
        </p:nvSpPr>
        <p:spPr>
          <a:xfrm>
            <a:off x="4092890" y="6629684"/>
            <a:ext cx="2371153" cy="427690"/>
          </a:xfrm>
          <a:prstGeom prst="rect">
            <a:avLst/>
          </a:prstGeom>
          <a:ln w="13912">
            <a:solidFill>
              <a:srgbClr val="201E1E">
                <a:alpha val="40000"/>
              </a:srgbClr>
            </a:solidFill>
            <a:prstDash val="solid"/>
          </a:ln>
        </p:spPr>
      </p:sp>
      <p:sp>
        <p:nvSpPr>
          <p:cNvPr id="11" name="Text 8"/>
          <p:cNvSpPr/>
          <p:nvPr/>
        </p:nvSpPr>
        <p:spPr>
          <a:xfrm>
            <a:off x="4249677" y="6729321"/>
            <a:ext cx="2133778"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provenance-tagged</a:t>
            </a:r>
            <a:endParaRPr lang="en-US" sz="1800" dirty="0"/>
          </a:p>
        </p:txBody>
      </p:sp>
      <p:sp>
        <p:nvSpPr>
          <p:cNvPr id="12" name="Text 9"/>
          <p:cNvSpPr/>
          <p:nvPr/>
        </p:nvSpPr>
        <p:spPr>
          <a:xfrm>
            <a:off x="1142970" y="8987142"/>
            <a:ext cx="2336992"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Run live from the app</a:t>
            </a:r>
            <a:endParaRPr lang="en-US" sz="1800" dirty="0"/>
          </a:p>
        </p:txBody>
      </p:sp>
      <p:sp>
        <p:nvSpPr>
          <p:cNvPr id="13" name="Text 10"/>
          <p:cNvSpPr/>
          <p:nvPr/>
        </p:nvSpPr>
        <p:spPr>
          <a:xfrm>
            <a:off x="3438910" y="8987142"/>
            <a:ext cx="15239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14" name="Text 11"/>
          <p:cNvSpPr/>
          <p:nvPr/>
        </p:nvSpPr>
        <p:spPr>
          <a:xfrm>
            <a:off x="3686503" y="8987142"/>
            <a:ext cx="6381863"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the three beats and every caveat are spoken, not on slides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Reliability isn't more AI — it's more agreement, more human judgment, and a record of both</a:t>
            </a:r>
            <a:endParaRPr lang="en-US" sz="4800" dirty="0"/>
          </a:p>
        </p:txBody>
      </p:sp>
      <p:sp>
        <p:nvSpPr>
          <p:cNvPr id="4" name="Shape 2"/>
          <p:cNvSpPr/>
          <p:nvPr/>
        </p:nvSpPr>
        <p:spPr>
          <a:xfrm>
            <a:off x="1142970" y="3886273"/>
            <a:ext cx="5130758" cy="2285397"/>
          </a:xfrm>
          <a:prstGeom prst="rect">
            <a:avLst/>
          </a:prstGeom>
          <a:solidFill>
            <a:srgbClr val="F3F2F2"/>
          </a:solidFill>
          <a:ln w="13912">
            <a:solidFill>
              <a:srgbClr val="201E1E">
                <a:alpha val="40000"/>
              </a:srgbClr>
            </a:solidFill>
            <a:prstDash val="solid"/>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61646" y="4223969"/>
            <a:ext cx="438124" cy="438124"/>
          </a:xfrm>
          <a:prstGeom prst="rect">
            <a:avLst/>
          </a:prstGeom>
        </p:spPr>
      </p:pic>
      <p:sp>
        <p:nvSpPr>
          <p:cNvPr id="6" name="Text 3"/>
          <p:cNvSpPr/>
          <p:nvPr/>
        </p:nvSpPr>
        <p:spPr>
          <a:xfrm>
            <a:off x="1461646" y="4814474"/>
            <a:ext cx="4942749"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More agreement</a:t>
            </a:r>
            <a:endParaRPr lang="en-US" sz="2025" dirty="0"/>
          </a:p>
        </p:txBody>
      </p:sp>
      <p:sp>
        <p:nvSpPr>
          <p:cNvPr id="7" name="Text 4"/>
          <p:cNvSpPr/>
          <p:nvPr/>
        </p:nvSpPr>
        <p:spPr>
          <a:xfrm>
            <a:off x="1461646" y="5262489"/>
            <a:ext cx="4628210"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independent readers that fail differently — the ensemble raises warnings</a:t>
            </a:r>
            <a:endParaRPr lang="en-US" sz="1800" dirty="0"/>
          </a:p>
        </p:txBody>
      </p:sp>
      <p:sp>
        <p:nvSpPr>
          <p:cNvPr id="8" name="Shape 5"/>
          <p:cNvSpPr/>
          <p:nvPr/>
        </p:nvSpPr>
        <p:spPr>
          <a:xfrm>
            <a:off x="6578492" y="3886273"/>
            <a:ext cx="5130867" cy="2285397"/>
          </a:xfrm>
          <a:prstGeom prst="rect">
            <a:avLst/>
          </a:prstGeom>
          <a:solidFill>
            <a:srgbClr val="F3F2F2"/>
          </a:solidFill>
          <a:ln w="13912">
            <a:solidFill>
              <a:srgbClr val="201E1E">
                <a:alpha val="40000"/>
              </a:srgbClr>
            </a:solidFill>
            <a:prstDash val="solid"/>
          </a:ln>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7167" y="4223969"/>
            <a:ext cx="438124" cy="438124"/>
          </a:xfrm>
          <a:prstGeom prst="rect">
            <a:avLst/>
          </a:prstGeom>
        </p:spPr>
      </p:pic>
      <p:sp>
        <p:nvSpPr>
          <p:cNvPr id="10" name="Text 6"/>
          <p:cNvSpPr/>
          <p:nvPr/>
        </p:nvSpPr>
        <p:spPr>
          <a:xfrm>
            <a:off x="6897167" y="4814474"/>
            <a:ext cx="494286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More human judgment</a:t>
            </a:r>
            <a:endParaRPr lang="en-US" sz="2025" dirty="0"/>
          </a:p>
        </p:txBody>
      </p:sp>
      <p:sp>
        <p:nvSpPr>
          <p:cNvPr id="11" name="Text 7"/>
          <p:cNvSpPr/>
          <p:nvPr/>
        </p:nvSpPr>
        <p:spPr>
          <a:xfrm>
            <a:off x="6897167" y="5262489"/>
            <a:ext cx="462832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the machine flags; a human decides every call that reaches a report</a:t>
            </a:r>
            <a:endParaRPr lang="en-US" sz="1800" dirty="0"/>
          </a:p>
        </p:txBody>
      </p:sp>
      <p:sp>
        <p:nvSpPr>
          <p:cNvPr id="12" name="Shape 8"/>
          <p:cNvSpPr/>
          <p:nvPr/>
        </p:nvSpPr>
        <p:spPr>
          <a:xfrm>
            <a:off x="12014122" y="3886273"/>
            <a:ext cx="5130867" cy="2285397"/>
          </a:xfrm>
          <a:prstGeom prst="rect">
            <a:avLst/>
          </a:prstGeom>
          <a:solidFill>
            <a:srgbClr val="F3F2F2"/>
          </a:solidFill>
          <a:ln w="13912">
            <a:solidFill>
              <a:srgbClr val="201E1E">
                <a:alpha val="40000"/>
              </a:srgbClr>
            </a:solidFill>
            <a:prstDash val="solid"/>
          </a:ln>
        </p:spPr>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332797" y="4223969"/>
            <a:ext cx="438124" cy="438124"/>
          </a:xfrm>
          <a:prstGeom prst="rect">
            <a:avLst/>
          </a:prstGeom>
        </p:spPr>
      </p:pic>
      <p:sp>
        <p:nvSpPr>
          <p:cNvPr id="14" name="Text 9"/>
          <p:cNvSpPr/>
          <p:nvPr/>
        </p:nvSpPr>
        <p:spPr>
          <a:xfrm>
            <a:off x="12332797" y="4814474"/>
            <a:ext cx="494286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A record of both</a:t>
            </a:r>
            <a:endParaRPr lang="en-US" sz="2025" dirty="0"/>
          </a:p>
        </p:txBody>
      </p:sp>
      <p:sp>
        <p:nvSpPr>
          <p:cNvPr id="15" name="Text 10"/>
          <p:cNvSpPr/>
          <p:nvPr/>
        </p:nvSpPr>
        <p:spPr>
          <a:xfrm>
            <a:off x="12332797" y="5262489"/>
            <a:ext cx="462832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 permanent, exportable trail — who decided what, and why</a:t>
            </a:r>
            <a:endParaRPr lang="en-US" sz="1800" dirty="0"/>
          </a:p>
        </p:txBody>
      </p:sp>
      <p:sp>
        <p:nvSpPr>
          <p:cNvPr id="16" name="Text 11"/>
          <p:cNvSpPr/>
          <p:nvPr/>
        </p:nvSpPr>
        <p:spPr>
          <a:xfrm>
            <a:off x="1142970" y="6700658"/>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Everything in this section is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designed, not built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four I'll walk through, all roadmap.</a:t>
            </a:r>
            <a:endParaRPr lang="en-US" sz="1800" dirty="0"/>
          </a:p>
        </p:txBody>
      </p:sp>
      <p:pic>
        <p:nvPicPr>
          <p:cNvPr id="17" name="Image 3" descr="preencoded.png">    </p:cNvPr>
          <p:cNvPicPr>
            <a:picLocks noChangeAspect="1"/>
          </p:cNvPicPr>
          <p:nvPr/>
        </p:nvPicPr>
        <p:blipFill>
          <a:blip r:embed="rId7"/>
          <a:stretch>
            <a:fillRect/>
          </a:stretch>
        </p:blipFill>
        <p:spPr>
          <a:xfrm>
            <a:off x="1142970" y="8987142"/>
            <a:ext cx="3484994" cy="15683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 · GROUP A</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Correlated readers can outvote the one that's right — so independence, not count, decides</a:t>
            </a:r>
            <a:endParaRPr lang="en-US" sz="4800" dirty="0"/>
          </a:p>
        </p:txBody>
      </p:sp>
      <p:sp>
        <p:nvSpPr>
          <p:cNvPr id="4" name="Shape 2"/>
          <p:cNvSpPr/>
          <p:nvPr/>
        </p:nvSpPr>
        <p:spPr>
          <a:xfrm>
            <a:off x="1142970" y="3986593"/>
            <a:ext cx="5178255" cy="557138"/>
          </a:xfrm>
          <a:prstGeom prst="rect">
            <a:avLst/>
          </a:prstGeom>
          <a:solidFill>
            <a:srgbClr val="F3F2F2"/>
          </a:solidFill>
          <a:ln w="13912">
            <a:solidFill>
              <a:srgbClr val="201E1E">
                <a:alpha val="40000"/>
              </a:srgbClr>
            </a:solidFill>
            <a:prstDash val="solid"/>
          </a:ln>
        </p:spPr>
      </p:sp>
      <p:sp>
        <p:nvSpPr>
          <p:cNvPr id="5" name="Text 3"/>
          <p:cNvSpPr/>
          <p:nvPr/>
        </p:nvSpPr>
        <p:spPr>
          <a:xfrm>
            <a:off x="1328284" y="4133757"/>
            <a:ext cx="5288390"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Firecrawl </a:t>
            </a:r>
            <a:pPr algn="l" indent="0" marL="0">
              <a:lnSpc>
                <a:spcPct val="99455"/>
              </a:lnSpc>
              <a:buNone/>
            </a:pPr>
            <a:r>
              <a:rPr lang="en-US" sz="1800" spc="-18" kern="0" dirty="0">
                <a:solidFill>
                  <a:srgbClr val="211D1D">
                    <a:alpha val="55000"/>
                  </a:srgbClr>
                </a:solidFill>
                <a:latin typeface="Arial" pitchFamily="34" charset="0"/>
                <a:ea typeface="Arial" pitchFamily="34" charset="-122"/>
                <a:cs typeface="Arial" pitchFamily="34" charset="-120"/>
              </a:rPr>
              <a:t>— flattens odd tables</a:t>
            </a:r>
            <a:endParaRPr lang="en-US" sz="1800" dirty="0"/>
          </a:p>
        </p:txBody>
      </p:sp>
      <p:sp>
        <p:nvSpPr>
          <p:cNvPr id="6" name="Shape 4"/>
          <p:cNvSpPr/>
          <p:nvPr/>
        </p:nvSpPr>
        <p:spPr>
          <a:xfrm>
            <a:off x="1142970" y="4629378"/>
            <a:ext cx="5178255" cy="557138"/>
          </a:xfrm>
          <a:prstGeom prst="rect">
            <a:avLst/>
          </a:prstGeom>
          <a:solidFill>
            <a:srgbClr val="F3F2F2"/>
          </a:solidFill>
          <a:ln w="13912">
            <a:solidFill>
              <a:srgbClr val="201E1E">
                <a:alpha val="40000"/>
              </a:srgbClr>
            </a:solidFill>
            <a:prstDash val="solid"/>
          </a:ln>
        </p:spPr>
      </p:sp>
      <p:sp>
        <p:nvSpPr>
          <p:cNvPr id="7" name="Text 5"/>
          <p:cNvSpPr/>
          <p:nvPr/>
        </p:nvSpPr>
        <p:spPr>
          <a:xfrm>
            <a:off x="1328284" y="4776542"/>
            <a:ext cx="5288390"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Doc-AI / OCR </a:t>
            </a:r>
            <a:pPr algn="l" indent="0" marL="0">
              <a:lnSpc>
                <a:spcPct val="99455"/>
              </a:lnSpc>
              <a:buNone/>
            </a:pPr>
            <a:r>
              <a:rPr lang="en-US" sz="1800" spc="-18" kern="0" dirty="0">
                <a:solidFill>
                  <a:srgbClr val="211D1D">
                    <a:alpha val="55000"/>
                  </a:srgbClr>
                </a:solidFill>
                <a:latin typeface="Arial" pitchFamily="34" charset="0"/>
                <a:ea typeface="Arial" pitchFamily="34" charset="-122"/>
                <a:cs typeface="Arial" pitchFamily="34" charset="-120"/>
              </a:rPr>
              <a:t>— fails quietly</a:t>
            </a:r>
            <a:endParaRPr lang="en-US" sz="1800" dirty="0"/>
          </a:p>
        </p:txBody>
      </p:sp>
      <p:sp>
        <p:nvSpPr>
          <p:cNvPr id="8" name="Shape 6"/>
          <p:cNvSpPr/>
          <p:nvPr/>
        </p:nvSpPr>
        <p:spPr>
          <a:xfrm>
            <a:off x="1142970" y="5272162"/>
            <a:ext cx="5178255" cy="557138"/>
          </a:xfrm>
          <a:prstGeom prst="rect">
            <a:avLst/>
          </a:prstGeom>
          <a:solidFill>
            <a:srgbClr val="F3F2F2"/>
          </a:solidFill>
          <a:ln w="13912">
            <a:solidFill>
              <a:srgbClr val="201E1E">
                <a:alpha val="40000"/>
              </a:srgbClr>
            </a:solidFill>
            <a:prstDash val="solid"/>
          </a:ln>
        </p:spPr>
      </p:sp>
      <p:sp>
        <p:nvSpPr>
          <p:cNvPr id="9" name="Text 7"/>
          <p:cNvSpPr/>
          <p:nvPr/>
        </p:nvSpPr>
        <p:spPr>
          <a:xfrm>
            <a:off x="1328284" y="5419327"/>
            <a:ext cx="5288390"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Vision-LLM </a:t>
            </a:r>
            <a:pPr algn="l" indent="0" marL="0">
              <a:lnSpc>
                <a:spcPct val="99455"/>
              </a:lnSpc>
              <a:buNone/>
            </a:pPr>
            <a:r>
              <a:rPr lang="en-US" sz="1800" spc="-18" kern="0" dirty="0">
                <a:solidFill>
                  <a:srgbClr val="211D1D">
                    <a:alpha val="55000"/>
                  </a:srgbClr>
                </a:solidFill>
                <a:latin typeface="Arial" pitchFamily="34" charset="0"/>
                <a:ea typeface="Arial" pitchFamily="34" charset="-122"/>
                <a:cs typeface="Arial" pitchFamily="34" charset="-120"/>
              </a:rPr>
              <a:t>— fails silently</a:t>
            </a:r>
            <a:endParaRPr lang="en-US" sz="1800" dirty="0"/>
          </a:p>
        </p:txBody>
      </p:sp>
      <p:sp>
        <p:nvSpPr>
          <p:cNvPr id="10" name="Text 8"/>
          <p:cNvSpPr/>
          <p:nvPr/>
        </p:nvSpPr>
        <p:spPr>
          <a:xfrm>
            <a:off x="1142970" y="5933968"/>
            <a:ext cx="5333603" cy="746533"/>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211D1D">
                    <a:alpha val="55000"/>
                  </a:srgbClr>
                </a:solidFill>
                <a:latin typeface="Arial" pitchFamily="34" charset="0"/>
                <a:ea typeface="Arial" pitchFamily="34" charset="-122"/>
                <a:cs typeface="Arial" pitchFamily="34" charset="-120"/>
              </a:rPr>
              <a:t>DIFFERENT MECHANISMS → ERRORS DECORRELATE</a:t>
            </a:r>
            <a:endParaRPr lang="en-US" sz="1800" dirty="0"/>
          </a:p>
        </p:txBody>
      </p:sp>
      <p:sp>
        <p:nvSpPr>
          <p:cNvPr id="11" name="Text 9"/>
          <p:cNvSpPr/>
          <p:nvPr/>
        </p:nvSpPr>
        <p:spPr>
          <a:xfrm>
            <a:off x="6473607" y="5162169"/>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2" name="Shape 10"/>
          <p:cNvSpPr/>
          <p:nvPr/>
        </p:nvSpPr>
        <p:spPr>
          <a:xfrm>
            <a:off x="6930643" y="4371133"/>
            <a:ext cx="4876970" cy="1886727"/>
          </a:xfrm>
          <a:prstGeom prst="rect">
            <a:avLst/>
          </a:prstGeom>
          <a:solidFill>
            <a:srgbClr val="EAE9E9"/>
          </a:solidFill>
          <a:ln w="13912">
            <a:solidFill>
              <a:srgbClr val="201E1E">
                <a:alpha val="40000"/>
              </a:srgbClr>
            </a:solidFill>
            <a:prstDash val="solid"/>
          </a:ln>
        </p:spPr>
      </p:sp>
      <p:sp>
        <p:nvSpPr>
          <p:cNvPr id="13" name="Text 11"/>
          <p:cNvSpPr/>
          <p:nvPr/>
        </p:nvSpPr>
        <p:spPr>
          <a:xfrm>
            <a:off x="7230298" y="4651659"/>
            <a:ext cx="4705427"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ORCHESTRATOR</a:t>
            </a:r>
            <a:endParaRPr lang="en-US" sz="1800" dirty="0"/>
          </a:p>
        </p:txBody>
      </p:sp>
      <p:sp>
        <p:nvSpPr>
          <p:cNvPr id="14" name="Text 12"/>
          <p:cNvSpPr/>
          <p:nvPr/>
        </p:nvSpPr>
        <p:spPr>
          <a:xfrm>
            <a:off x="7230298" y="5120107"/>
            <a:ext cx="4405991" cy="895328"/>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compares normalized tuples · weights independence, not just the vote · tiered consensus</a:t>
            </a:r>
            <a:endParaRPr lang="en-US" sz="1800" dirty="0"/>
          </a:p>
        </p:txBody>
      </p:sp>
      <p:sp>
        <p:nvSpPr>
          <p:cNvPr id="15" name="Text 13"/>
          <p:cNvSpPr/>
          <p:nvPr/>
        </p:nvSpPr>
        <p:spPr>
          <a:xfrm>
            <a:off x="11959996" y="5162169"/>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12417032" y="3886273"/>
            <a:ext cx="4727958" cy="1223835"/>
          </a:xfrm>
          <a:prstGeom prst="rect">
            <a:avLst/>
          </a:prstGeom>
          <a:solidFill>
            <a:srgbClr val="F3F2F2"/>
          </a:solidFill>
          <a:ln w="13912">
            <a:solidFill>
              <a:srgbClr val="201E1E">
                <a:alpha val="40000"/>
              </a:srgbClr>
            </a:solidFill>
            <a:prstDash val="solid"/>
          </a:ln>
        </p:spPr>
      </p:sp>
      <p:sp>
        <p:nvSpPr>
          <p:cNvPr id="17" name="Text 15"/>
          <p:cNvSpPr/>
          <p:nvPr/>
        </p:nvSpPr>
        <p:spPr>
          <a:xfrm>
            <a:off x="12716685" y="4166799"/>
            <a:ext cx="4541513"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 Validated</a:t>
            </a:r>
            <a:endParaRPr lang="en-US" sz="1800" dirty="0"/>
          </a:p>
        </p:txBody>
      </p:sp>
      <p:sp>
        <p:nvSpPr>
          <p:cNvPr id="18" name="Text 16"/>
          <p:cNvSpPr/>
          <p:nvPr/>
        </p:nvSpPr>
        <p:spPr>
          <a:xfrm>
            <a:off x="12716685" y="4543840"/>
            <a:ext cx="4541513"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all agree within tolerance → auto-trust</a:t>
            </a:r>
            <a:endParaRPr lang="en-US" sz="1800" dirty="0"/>
          </a:p>
        </p:txBody>
      </p:sp>
      <p:sp>
        <p:nvSpPr>
          <p:cNvPr id="19" name="Shape 17"/>
          <p:cNvSpPr/>
          <p:nvPr/>
        </p:nvSpPr>
        <p:spPr>
          <a:xfrm>
            <a:off x="12417032" y="5224339"/>
            <a:ext cx="4727958" cy="1518490"/>
          </a:xfrm>
          <a:prstGeom prst="rect">
            <a:avLst/>
          </a:prstGeom>
          <a:solidFill>
            <a:srgbClr val="F3F2F2"/>
          </a:solidFill>
          <a:ln w="27824">
            <a:solidFill>
              <a:srgbClr val="EC3013"/>
            </a:solidFill>
            <a:prstDash val="solid"/>
          </a:ln>
        </p:spPr>
      </p:sp>
      <p:sp>
        <p:nvSpPr>
          <p:cNvPr id="20" name="Text 18"/>
          <p:cNvSpPr/>
          <p:nvPr/>
        </p:nvSpPr>
        <p:spPr>
          <a:xfrm>
            <a:off x="12721033" y="5509321"/>
            <a:ext cx="4531949"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AE1800"/>
                </a:solidFill>
                <a:latin typeface="Arial" pitchFamily="34" charset="0"/>
                <a:ea typeface="Arial" pitchFamily="34" charset="-122"/>
                <a:cs typeface="Arial" pitchFamily="34" charset="-120"/>
              </a:rPr>
              <a:t>⚠ Disagree</a:t>
            </a:r>
            <a:endParaRPr lang="en-US" sz="1800" dirty="0"/>
          </a:p>
        </p:txBody>
      </p:sp>
      <p:sp>
        <p:nvSpPr>
          <p:cNvPr id="21" name="Text 19"/>
          <p:cNvSpPr/>
          <p:nvPr/>
        </p:nvSpPr>
        <p:spPr>
          <a:xfrm>
            <a:off x="12721033" y="5886362"/>
            <a:ext cx="424355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no quorum, or the most-trusted dissents → human queue</a:t>
            </a:r>
            <a:endParaRPr lang="en-US" sz="1800" dirty="0"/>
          </a:p>
        </p:txBody>
      </p:sp>
      <p:sp>
        <p:nvSpPr>
          <p:cNvPr id="22" name="Text 20"/>
          <p:cNvSpPr/>
          <p:nvPr/>
        </p:nvSpPr>
        <p:spPr>
          <a:xfrm>
            <a:off x="1142970" y="6971401"/>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3 copies of one model share blind spots —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confidently wrong the same way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(correlated failure). Independence, not count, decides.</a:t>
            </a:r>
            <a:endParaRPr lang="en-US" sz="1800" dirty="0"/>
          </a:p>
        </p:txBody>
      </p:sp>
      <p:sp>
        <p:nvSpPr>
          <p:cNvPr id="23" name="Text 21"/>
          <p:cNvSpPr/>
          <p:nvPr/>
        </p:nvSpPr>
        <p:spPr>
          <a:xfrm>
            <a:off x="1142970" y="7657227"/>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Designed, not built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no auto-accept rate until it runs on real packs. Reducto ~99% and any vendor figure is the vendor's own claim.</a:t>
            </a:r>
            <a:endParaRPr lang="en-US" sz="1800" dirty="0"/>
          </a:p>
        </p:txBody>
      </p:sp>
      <p:pic>
        <p:nvPicPr>
          <p:cNvPr id="24"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 · GROUP A</a:t>
            </a:r>
            <a:endParaRPr lang="en-US" sz="1800" dirty="0"/>
          </a:p>
        </p:txBody>
      </p:sp>
      <p:sp>
        <p:nvSpPr>
          <p:cNvPr id="3" name="Text 1"/>
          <p:cNvSpPr/>
          <p:nvPr/>
        </p:nvSpPr>
        <p:spPr>
          <a:xfrm>
            <a:off x="1107646" y="1863576"/>
            <a:ext cx="17641078" cy="460573"/>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The architecture in one picture</a:t>
            </a:r>
            <a:endParaRPr lang="en-US" sz="4800" dirty="0"/>
          </a:p>
        </p:txBody>
      </p:sp>
      <p:sp>
        <p:nvSpPr>
          <p:cNvPr id="4" name="Shape 2"/>
          <p:cNvSpPr/>
          <p:nvPr/>
        </p:nvSpPr>
        <p:spPr>
          <a:xfrm>
            <a:off x="6171236" y="2446039"/>
            <a:ext cx="5945489" cy="498990"/>
          </a:xfrm>
          <a:prstGeom prst="rect">
            <a:avLst/>
          </a:prstGeom>
          <a:solidFill>
            <a:srgbClr val="F3F2F2"/>
          </a:solidFill>
          <a:ln w="13912">
            <a:solidFill>
              <a:srgbClr val="201E1E">
                <a:alpha val="40000"/>
              </a:srgbClr>
            </a:solidFill>
            <a:prstDash val="solid"/>
          </a:ln>
        </p:spPr>
      </p:sp>
      <p:sp>
        <p:nvSpPr>
          <p:cNvPr id="5" name="Text 3"/>
          <p:cNvSpPr/>
          <p:nvPr/>
        </p:nvSpPr>
        <p:spPr>
          <a:xfrm>
            <a:off x="6203581" y="2555162"/>
            <a:ext cx="5880797" cy="318843"/>
          </a:xfrm>
          <a:prstGeom prst="rect">
            <a:avLst/>
          </a:prstGeom>
          <a:noFill/>
          <a:ln/>
        </p:spPr>
        <p:txBody>
          <a:bodyPr wrap="square" lIns="25400" tIns="25400" rIns="25400" bIns="25400" rtlCol="0" anchor="t">
            <a:normAutofit/>
          </a:bodyPr>
          <a:lstStyle/>
          <a:p>
            <a:pPr algn="ctr"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One quarterly PDF pack </a:t>
            </a:r>
            <a:pPr algn="ctr" indent="0" marL="0">
              <a:lnSpc>
                <a:spcPct val="100942"/>
              </a:lnSpc>
              <a:buNone/>
            </a:pPr>
            <a:r>
              <a:rPr lang="en-US" sz="1875" spc="-19" kern="0" dirty="0">
                <a:solidFill>
                  <a:srgbClr val="211D1D">
                    <a:alpha val="55000"/>
                  </a:srgbClr>
                </a:solidFill>
                <a:latin typeface="Arial" pitchFamily="34" charset="0"/>
                <a:ea typeface="Arial" pitchFamily="34" charset="-122"/>
                <a:cs typeface="Arial" pitchFamily="34" charset="-120"/>
              </a:rPr>
              <a:t>— e.g. ClearPay, Q2 2025</a:t>
            </a:r>
            <a:endParaRPr lang="en-US" sz="1875" dirty="0"/>
          </a:p>
        </p:txBody>
      </p:sp>
      <p:sp>
        <p:nvSpPr>
          <p:cNvPr id="6" name="Text 4"/>
          <p:cNvSpPr/>
          <p:nvPr/>
        </p:nvSpPr>
        <p:spPr>
          <a:xfrm>
            <a:off x="9086809" y="2973505"/>
            <a:ext cx="190541"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1142970" y="3230554"/>
            <a:ext cx="5207058" cy="494968"/>
          </a:xfrm>
          <a:prstGeom prst="rect">
            <a:avLst/>
          </a:prstGeom>
          <a:solidFill>
            <a:srgbClr val="F3F2F2"/>
          </a:solidFill>
          <a:ln w="13912">
            <a:solidFill>
              <a:srgbClr val="201E1E">
                <a:alpha val="40000"/>
              </a:srgbClr>
            </a:solidFill>
            <a:prstDash val="solid"/>
          </a:ln>
        </p:spPr>
      </p:sp>
      <p:sp>
        <p:nvSpPr>
          <p:cNvPr id="8" name="Text 6"/>
          <p:cNvSpPr/>
          <p:nvPr/>
        </p:nvSpPr>
        <p:spPr>
          <a:xfrm>
            <a:off x="2594682" y="3339678"/>
            <a:ext cx="2303635" cy="314821"/>
          </a:xfrm>
          <a:prstGeom prst="rect">
            <a:avLst/>
          </a:prstGeom>
          <a:noFill/>
          <a:ln/>
        </p:spPr>
        <p:txBody>
          <a:bodyPr wrap="square" lIns="25400" tIns="25400" rIns="25400" bIns="25400" rtlCol="0" anchor="t">
            <a:normAutofit/>
          </a:bodyPr>
          <a:lstStyle/>
          <a:p>
            <a:pPr algn="ctr"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Firecrawl </a:t>
            </a:r>
            <a:pPr algn="ctr" indent="0" marL="0">
              <a:lnSpc>
                <a:spcPct val="100942"/>
              </a:lnSpc>
              <a:buNone/>
            </a:pPr>
            <a:r>
              <a:rPr lang="en-US" sz="1800" spc="-19" kern="0" dirty="0">
                <a:solidFill>
                  <a:srgbClr val="211D1D">
                    <a:alpha val="55000"/>
                  </a:srgbClr>
                </a:solidFill>
                <a:latin typeface="Arial" pitchFamily="34" charset="0"/>
                <a:ea typeface="Arial" pitchFamily="34" charset="-122"/>
                <a:cs typeface="Arial" pitchFamily="34" charset="-120"/>
              </a:rPr>
              <a:t>· AI parser</a:t>
            </a:r>
            <a:endParaRPr lang="en-US" sz="1875" dirty="0"/>
          </a:p>
        </p:txBody>
      </p:sp>
      <p:sp>
        <p:nvSpPr>
          <p:cNvPr id="9" name="Shape 7"/>
          <p:cNvSpPr/>
          <p:nvPr/>
        </p:nvSpPr>
        <p:spPr>
          <a:xfrm>
            <a:off x="6540451" y="3230554"/>
            <a:ext cx="5207058" cy="494968"/>
          </a:xfrm>
          <a:prstGeom prst="rect">
            <a:avLst/>
          </a:prstGeom>
          <a:solidFill>
            <a:srgbClr val="F3F2F2"/>
          </a:solidFill>
          <a:ln w="13912">
            <a:solidFill>
              <a:srgbClr val="201E1E">
                <a:alpha val="40000"/>
              </a:srgbClr>
            </a:solidFill>
            <a:prstDash val="solid"/>
          </a:ln>
        </p:spPr>
      </p:sp>
      <p:sp>
        <p:nvSpPr>
          <p:cNvPr id="10" name="Text 8"/>
          <p:cNvSpPr/>
          <p:nvPr/>
        </p:nvSpPr>
        <p:spPr>
          <a:xfrm>
            <a:off x="7549679" y="3339678"/>
            <a:ext cx="3188600" cy="314821"/>
          </a:xfrm>
          <a:prstGeom prst="rect">
            <a:avLst/>
          </a:prstGeom>
          <a:noFill/>
          <a:ln/>
        </p:spPr>
        <p:txBody>
          <a:bodyPr wrap="square" lIns="25400" tIns="25400" rIns="25400" bIns="25400" rtlCol="0" anchor="t">
            <a:normAutofit/>
          </a:bodyPr>
          <a:lstStyle/>
          <a:p>
            <a:pPr algn="ctr"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Vision-LLM </a:t>
            </a:r>
            <a:pPr algn="ctr" indent="0" marL="0">
              <a:lnSpc>
                <a:spcPct val="100942"/>
              </a:lnSpc>
              <a:buNone/>
            </a:pPr>
            <a:r>
              <a:rPr lang="en-US" sz="1800" spc="-19" kern="0" dirty="0">
                <a:solidFill>
                  <a:srgbClr val="211D1D">
                    <a:alpha val="55000"/>
                  </a:srgbClr>
                </a:solidFill>
                <a:latin typeface="Arial" pitchFamily="34" charset="0"/>
                <a:ea typeface="Arial" pitchFamily="34" charset="-122"/>
                <a:cs typeface="Arial" pitchFamily="34" charset="-120"/>
              </a:rPr>
              <a:t>· reads meaning</a:t>
            </a:r>
            <a:endParaRPr lang="en-US" sz="1875" dirty="0"/>
          </a:p>
        </p:txBody>
      </p:sp>
      <p:sp>
        <p:nvSpPr>
          <p:cNvPr id="11" name="Shape 9"/>
          <p:cNvSpPr/>
          <p:nvPr/>
        </p:nvSpPr>
        <p:spPr>
          <a:xfrm>
            <a:off x="11937932" y="3230554"/>
            <a:ext cx="5207058" cy="494968"/>
          </a:xfrm>
          <a:prstGeom prst="rect">
            <a:avLst/>
          </a:prstGeom>
          <a:solidFill>
            <a:srgbClr val="F3F2F2"/>
          </a:solidFill>
          <a:ln w="13912">
            <a:solidFill>
              <a:srgbClr val="201E1E">
                <a:alpha val="40000"/>
              </a:srgbClr>
            </a:solidFill>
            <a:prstDash val="solid"/>
          </a:ln>
        </p:spPr>
      </p:sp>
      <p:sp>
        <p:nvSpPr>
          <p:cNvPr id="12" name="Text 10"/>
          <p:cNvSpPr/>
          <p:nvPr/>
        </p:nvSpPr>
        <p:spPr>
          <a:xfrm>
            <a:off x="12976332" y="3339678"/>
            <a:ext cx="3130256" cy="314821"/>
          </a:xfrm>
          <a:prstGeom prst="rect">
            <a:avLst/>
          </a:prstGeom>
          <a:noFill/>
          <a:ln/>
        </p:spPr>
        <p:txBody>
          <a:bodyPr wrap="square" lIns="25400" tIns="25400" rIns="25400" bIns="25400" rtlCol="0" anchor="t">
            <a:normAutofit/>
          </a:bodyPr>
          <a:lstStyle/>
          <a:p>
            <a:pPr algn="ctr"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OCR / Doc-AI </a:t>
            </a:r>
            <a:pPr algn="ctr" indent="0" marL="0">
              <a:lnSpc>
                <a:spcPct val="100942"/>
              </a:lnSpc>
              <a:buNone/>
            </a:pPr>
            <a:r>
              <a:rPr lang="en-US" sz="1800" spc="-19" kern="0" dirty="0">
                <a:solidFill>
                  <a:srgbClr val="211D1D">
                    <a:alpha val="55000"/>
                  </a:srgbClr>
                </a:solidFill>
                <a:latin typeface="Arial" pitchFamily="34" charset="0"/>
                <a:ea typeface="Arial" pitchFamily="34" charset="-122"/>
                <a:cs typeface="Arial" pitchFamily="34" charset="-120"/>
              </a:rPr>
              <a:t>· reads letters</a:t>
            </a:r>
            <a:endParaRPr lang="en-US" sz="1875" dirty="0"/>
          </a:p>
        </p:txBody>
      </p:sp>
      <p:sp>
        <p:nvSpPr>
          <p:cNvPr id="13" name="Text 11"/>
          <p:cNvSpPr/>
          <p:nvPr/>
        </p:nvSpPr>
        <p:spPr>
          <a:xfrm>
            <a:off x="9086701" y="3744543"/>
            <a:ext cx="190541"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4" name="Text 12"/>
          <p:cNvSpPr/>
          <p:nvPr/>
        </p:nvSpPr>
        <p:spPr>
          <a:xfrm>
            <a:off x="7372789" y="3982571"/>
            <a:ext cx="389650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i="1" dirty="0">
                <a:solidFill>
                  <a:srgbClr val="211F1D">
                    <a:alpha val="52000"/>
                  </a:srgbClr>
                </a:solidFill>
                <a:latin typeface="Arial" pitchFamily="34" charset="0"/>
                <a:ea typeface="Arial" pitchFamily="34" charset="-122"/>
                <a:cs typeface="Arial" pitchFamily="34" charset="-120"/>
              </a:rPr>
              <a:t>three answers for the same number</a:t>
            </a:r>
            <a:endParaRPr lang="en-US" sz="1800" dirty="0"/>
          </a:p>
        </p:txBody>
      </p:sp>
      <p:sp>
        <p:nvSpPr>
          <p:cNvPr id="15" name="Shape 13"/>
          <p:cNvSpPr/>
          <p:nvPr/>
        </p:nvSpPr>
        <p:spPr>
          <a:xfrm>
            <a:off x="1142970" y="4355808"/>
            <a:ext cx="16002019" cy="896247"/>
          </a:xfrm>
          <a:prstGeom prst="rect">
            <a:avLst/>
          </a:prstGeom>
          <a:solidFill>
            <a:srgbClr val="EAE9E9"/>
          </a:solidFill>
          <a:ln w="13912">
            <a:solidFill>
              <a:srgbClr val="201E1E">
                <a:alpha val="40000"/>
              </a:srgbClr>
            </a:solidFill>
            <a:prstDash val="solid"/>
          </a:ln>
        </p:spPr>
      </p:sp>
      <p:sp>
        <p:nvSpPr>
          <p:cNvPr id="16" name="Text 14"/>
          <p:cNvSpPr/>
          <p:nvPr/>
        </p:nvSpPr>
        <p:spPr>
          <a:xfrm>
            <a:off x="7031881" y="4464932"/>
            <a:ext cx="4224088" cy="392316"/>
          </a:xfrm>
          <a:prstGeom prst="rect">
            <a:avLst/>
          </a:prstGeom>
          <a:noFill/>
          <a:ln/>
        </p:spPr>
        <p:txBody>
          <a:bodyPr wrap="square" lIns="25400" tIns="25400" rIns="25400" bIns="25400" rtlCol="0" anchor="t">
            <a:normAutofit/>
          </a:bodyPr>
          <a:lstStyle/>
          <a:p>
            <a:pPr algn="ctr"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ORCHESTRATOR · THE REFEREE</a:t>
            </a:r>
            <a:endParaRPr lang="en-US" sz="1800" dirty="0"/>
          </a:p>
        </p:txBody>
      </p:sp>
      <p:sp>
        <p:nvSpPr>
          <p:cNvPr id="17" name="Text 15"/>
          <p:cNvSpPr/>
          <p:nvPr/>
        </p:nvSpPr>
        <p:spPr>
          <a:xfrm>
            <a:off x="1481780" y="4857189"/>
            <a:ext cx="15324290" cy="323843"/>
          </a:xfrm>
          <a:prstGeom prst="rect">
            <a:avLst/>
          </a:prstGeom>
          <a:noFill/>
          <a:ln/>
        </p:spPr>
        <p:txBody>
          <a:bodyPr wrap="square" lIns="25400" tIns="25400" rIns="25400" bIns="25400" rtlCol="0" anchor="t">
            <a:normAutofit/>
          </a:bodyPr>
          <a:lstStyle/>
          <a:p>
            <a:pPr algn="ctr"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match the </a:t>
            </a:r>
            <a:pPr algn="ctr" indent="0" marL="0">
              <a:lnSpc>
                <a:spcPct val="108103"/>
              </a:lnSpc>
              <a:buNone/>
            </a:pPr>
            <a:r>
              <a:rPr lang="en-US" sz="1800" b="1" dirty="0">
                <a:solidFill>
                  <a:srgbClr val="201E1D"/>
                </a:solidFill>
                <a:latin typeface="Arial" pitchFamily="34" charset="0"/>
                <a:ea typeface="Arial" pitchFamily="34" charset="-122"/>
                <a:cs typeface="Arial" pitchFamily="34" charset="-120"/>
              </a:rPr>
              <a:t>same fact </a:t>
            </a:r>
            <a:pPr algn="ctr"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company · metric · period · unit · basis — then ask: are the numbers </a:t>
            </a:r>
            <a:pPr algn="ctr" indent="0" marL="0">
              <a:lnSpc>
                <a:spcPct val="108103"/>
              </a:lnSpc>
              <a:buNone/>
            </a:pPr>
            <a:r>
              <a:rPr lang="en-US" sz="1800" b="1" dirty="0">
                <a:solidFill>
                  <a:srgbClr val="201E1D"/>
                </a:solidFill>
                <a:latin typeface="Arial" pitchFamily="34" charset="0"/>
                <a:ea typeface="Arial" pitchFamily="34" charset="-122"/>
                <a:cs typeface="Arial" pitchFamily="34" charset="-120"/>
              </a:rPr>
              <a:t>close enough? </a:t>
            </a:r>
            <a:pPr algn="ctr"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rounding, ok · a 10× gap, never</a:t>
            </a:r>
            <a:endParaRPr lang="en-US" sz="1800" dirty="0"/>
          </a:p>
        </p:txBody>
      </p:sp>
      <p:sp>
        <p:nvSpPr>
          <p:cNvPr id="18" name="Text 16"/>
          <p:cNvSpPr/>
          <p:nvPr/>
        </p:nvSpPr>
        <p:spPr>
          <a:xfrm>
            <a:off x="9086809" y="5271075"/>
            <a:ext cx="190541"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1142970" y="5518668"/>
            <a:ext cx="7886669" cy="1205575"/>
          </a:xfrm>
          <a:prstGeom prst="rect">
            <a:avLst/>
          </a:prstGeom>
          <a:solidFill>
            <a:srgbClr val="F3F2F2"/>
          </a:solidFill>
          <a:ln w="13912">
            <a:solidFill>
              <a:srgbClr val="201E1E">
                <a:alpha val="40000"/>
              </a:srgbClr>
            </a:solidFill>
            <a:prstDash val="solid"/>
          </a:ln>
        </p:spPr>
      </p:sp>
      <p:sp>
        <p:nvSpPr>
          <p:cNvPr id="20" name="Text 18"/>
          <p:cNvSpPr/>
          <p:nvPr/>
        </p:nvSpPr>
        <p:spPr>
          <a:xfrm>
            <a:off x="1347305" y="5637248"/>
            <a:ext cx="8225799" cy="311887"/>
          </a:xfrm>
          <a:prstGeom prst="rect">
            <a:avLst/>
          </a:prstGeom>
          <a:noFill/>
          <a:ln/>
        </p:spPr>
        <p:txBody>
          <a:bodyPr wrap="square" lIns="25400" tIns="25400" rIns="25400" bIns="25400" rtlCol="0" anchor="t">
            <a:normAutofit/>
          </a:bodyPr>
          <a:lstStyle/>
          <a:p>
            <a:pPr algn="l"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 They agree</a:t>
            </a:r>
            <a:endParaRPr lang="en-US" sz="1875" dirty="0"/>
          </a:p>
        </p:txBody>
      </p:sp>
      <p:sp>
        <p:nvSpPr>
          <p:cNvPr id="21" name="Text 19"/>
          <p:cNvSpPr/>
          <p:nvPr/>
        </p:nvSpPr>
        <p:spPr>
          <a:xfrm>
            <a:off x="1347305" y="6025267"/>
            <a:ext cx="8225799"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numbers match →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auto-accept</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highest trust</a:t>
            </a:r>
            <a:endParaRPr lang="en-US" sz="1800" dirty="0"/>
          </a:p>
        </p:txBody>
      </p:sp>
      <p:sp>
        <p:nvSpPr>
          <p:cNvPr id="22" name="Shape 20"/>
          <p:cNvSpPr/>
          <p:nvPr/>
        </p:nvSpPr>
        <p:spPr>
          <a:xfrm>
            <a:off x="9258212" y="5518668"/>
            <a:ext cx="7886778" cy="1205575"/>
          </a:xfrm>
          <a:prstGeom prst="rect">
            <a:avLst/>
          </a:prstGeom>
          <a:solidFill>
            <a:srgbClr val="F3F2F2"/>
          </a:solidFill>
          <a:ln w="27824">
            <a:solidFill>
              <a:srgbClr val="EC3013"/>
            </a:solidFill>
            <a:prstDash val="solid"/>
          </a:ln>
        </p:spPr>
      </p:sp>
      <p:sp>
        <p:nvSpPr>
          <p:cNvPr id="23" name="Text 21"/>
          <p:cNvSpPr/>
          <p:nvPr/>
        </p:nvSpPr>
        <p:spPr>
          <a:xfrm>
            <a:off x="9467002" y="5641704"/>
            <a:ext cx="8216115" cy="311887"/>
          </a:xfrm>
          <a:prstGeom prst="rect">
            <a:avLst/>
          </a:prstGeom>
          <a:noFill/>
          <a:ln/>
        </p:spPr>
        <p:txBody>
          <a:bodyPr wrap="square" lIns="25400" tIns="25400" rIns="25400" bIns="25400" rtlCol="0" anchor="t">
            <a:normAutofit/>
          </a:bodyPr>
          <a:lstStyle/>
          <a:p>
            <a:pPr algn="l" indent="0" marL="0">
              <a:lnSpc>
                <a:spcPct val="100942"/>
              </a:lnSpc>
              <a:buNone/>
            </a:pPr>
            <a:r>
              <a:rPr lang="en-US" sz="1875" b="1" spc="-19" kern="0" dirty="0">
                <a:solidFill>
                  <a:srgbClr val="AE1800"/>
                </a:solidFill>
                <a:latin typeface="Arial" pitchFamily="34" charset="0"/>
                <a:ea typeface="Arial" pitchFamily="34" charset="-122"/>
                <a:cs typeface="Arial" pitchFamily="34" charset="-120"/>
              </a:rPr>
              <a:t>⚠ They disagree → a person decides</a:t>
            </a:r>
            <a:endParaRPr lang="en-US" sz="1875" dirty="0"/>
          </a:p>
        </p:txBody>
      </p:sp>
      <p:sp>
        <p:nvSpPr>
          <p:cNvPr id="24" name="Text 22"/>
          <p:cNvSpPr/>
          <p:nvPr/>
        </p:nvSpPr>
        <p:spPr>
          <a:xfrm>
            <a:off x="9467002" y="6029723"/>
            <a:ext cx="769327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all readers side by side +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a screenshot of the real PDF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validate or correct · a different person approves (four-eyes) · full audit trail</a:t>
            </a:r>
            <a:endParaRPr lang="en-US" sz="1800" dirty="0"/>
          </a:p>
        </p:txBody>
      </p:sp>
      <p:sp>
        <p:nvSpPr>
          <p:cNvPr id="25" name="Text 23"/>
          <p:cNvSpPr/>
          <p:nvPr/>
        </p:nvSpPr>
        <p:spPr>
          <a:xfrm>
            <a:off x="9086809" y="6743264"/>
            <a:ext cx="190541"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26" name="Shape 24"/>
          <p:cNvSpPr/>
          <p:nvPr/>
        </p:nvSpPr>
        <p:spPr>
          <a:xfrm>
            <a:off x="5563231" y="6990857"/>
            <a:ext cx="7161498" cy="526814"/>
          </a:xfrm>
          <a:prstGeom prst="rect">
            <a:avLst/>
          </a:prstGeom>
          <a:solidFill>
            <a:srgbClr val="F3F2F2"/>
          </a:solidFill>
          <a:ln w="27824">
            <a:solidFill>
              <a:srgbClr val="EC3013"/>
            </a:solidFill>
            <a:prstDash val="solid"/>
          </a:ln>
        </p:spPr>
      </p:sp>
      <p:sp>
        <p:nvSpPr>
          <p:cNvPr id="27" name="Text 25"/>
          <p:cNvSpPr/>
          <p:nvPr/>
        </p:nvSpPr>
        <p:spPr>
          <a:xfrm>
            <a:off x="5550079" y="7113893"/>
            <a:ext cx="7187801" cy="318843"/>
          </a:xfrm>
          <a:prstGeom prst="rect">
            <a:avLst/>
          </a:prstGeom>
          <a:noFill/>
          <a:ln/>
        </p:spPr>
        <p:txBody>
          <a:bodyPr wrap="square" lIns="25400" tIns="25400" rIns="25400" bIns="25400" rtlCol="0" anchor="t">
            <a:normAutofit/>
          </a:bodyPr>
          <a:lstStyle/>
          <a:p>
            <a:pPr algn="ctr" indent="0" marL="0">
              <a:lnSpc>
                <a:spcPct val="100942"/>
              </a:lnSpc>
              <a:buNone/>
            </a:pPr>
            <a:r>
              <a:rPr lang="en-US" sz="1875" b="1" spc="-19" kern="0" dirty="0">
                <a:solidFill>
                  <a:srgbClr val="201E1D"/>
                </a:solidFill>
                <a:latin typeface="Arial" pitchFamily="34" charset="0"/>
                <a:ea typeface="Arial" pitchFamily="34" charset="-122"/>
                <a:cs typeface="Arial" pitchFamily="34" charset="-120"/>
              </a:rPr>
              <a:t>One trusted number → the cockpit </a:t>
            </a:r>
            <a:pPr algn="ctr" indent="0" marL="0">
              <a:lnSpc>
                <a:spcPct val="100942"/>
              </a:lnSpc>
              <a:buNone/>
            </a:pPr>
            <a:r>
              <a:rPr lang="en-US" sz="1875" spc="-19" kern="0" dirty="0">
                <a:solidFill>
                  <a:srgbClr val="211D1D">
                    <a:alpha val="58000"/>
                  </a:srgbClr>
                </a:solidFill>
                <a:latin typeface="Arial" pitchFamily="34" charset="0"/>
                <a:ea typeface="Arial" pitchFamily="34" charset="-122"/>
                <a:cs typeface="Arial" pitchFamily="34" charset="-120"/>
              </a:rPr>
              <a:t>— still traceable to source</a:t>
            </a:r>
            <a:endParaRPr lang="en-US" sz="1875" dirty="0"/>
          </a:p>
        </p:txBody>
      </p:sp>
      <p:sp>
        <p:nvSpPr>
          <p:cNvPr id="28" name="Text 26"/>
          <p:cNvSpPr/>
          <p:nvPr/>
        </p:nvSpPr>
        <p:spPr>
          <a:xfrm>
            <a:off x="1142970" y="7837650"/>
            <a:ext cx="14716078" cy="518830"/>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All three readers are AI — agreement is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strong evidence, not proof</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so the disagree path ends at a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person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Every fix is logged and teaches the readers.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Future expansion — designed, not built.</a:t>
            </a:r>
            <a:endParaRPr lang="en-US" sz="1800" dirty="0"/>
          </a:p>
        </p:txBody>
      </p:sp>
      <p:pic>
        <p:nvPicPr>
          <p:cNvPr id="29"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 · GROUP C</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AI writes the interpretation, never the number — and a human can always refute it</a:t>
            </a:r>
            <a:endParaRPr lang="en-US" sz="4800" dirty="0"/>
          </a:p>
        </p:txBody>
      </p:sp>
      <p:sp>
        <p:nvSpPr>
          <p:cNvPr id="4" name="Shape 2"/>
          <p:cNvSpPr/>
          <p:nvPr/>
        </p:nvSpPr>
        <p:spPr>
          <a:xfrm>
            <a:off x="1142970" y="3886273"/>
            <a:ext cx="4531666" cy="2094866"/>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432559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1 · CLEAN GRID</a:t>
            </a:r>
            <a:endParaRPr lang="en-US" sz="1800" dirty="0"/>
          </a:p>
        </p:txBody>
      </p:sp>
      <p:sp>
        <p:nvSpPr>
          <p:cNvPr id="6" name="Text 4"/>
          <p:cNvSpPr/>
          <p:nvPr/>
        </p:nvSpPr>
        <p:spPr>
          <a:xfrm>
            <a:off x="1442625" y="4635247"/>
            <a:ext cx="4050327"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already-normalized, provenance-tagged numbers</a:t>
            </a:r>
            <a:endParaRPr lang="en-US" sz="1800" dirty="0"/>
          </a:p>
        </p:txBody>
      </p:sp>
      <p:sp>
        <p:nvSpPr>
          <p:cNvPr id="7" name="Text 5"/>
          <p:cNvSpPr/>
          <p:nvPr/>
        </p:nvSpPr>
        <p:spPr>
          <a:xfrm>
            <a:off x="5827018" y="4781324"/>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8" name="Shape 6"/>
          <p:cNvSpPr/>
          <p:nvPr/>
        </p:nvSpPr>
        <p:spPr>
          <a:xfrm>
            <a:off x="6284054" y="3886273"/>
            <a:ext cx="5719960" cy="2094866"/>
          </a:xfrm>
          <a:prstGeom prst="rect">
            <a:avLst/>
          </a:prstGeom>
          <a:solidFill>
            <a:srgbClr val="F3F2F2"/>
          </a:solidFill>
          <a:ln w="27824">
            <a:solidFill>
              <a:srgbClr val="EC3013"/>
            </a:solidFill>
            <a:prstDash val="solid"/>
          </a:ln>
        </p:spPr>
      </p:sp>
      <p:sp>
        <p:nvSpPr>
          <p:cNvPr id="9" name="Shape 7"/>
          <p:cNvSpPr/>
          <p:nvPr/>
        </p:nvSpPr>
        <p:spPr>
          <a:xfrm>
            <a:off x="6588057" y="4171255"/>
            <a:ext cx="3604117" cy="477252"/>
          </a:xfrm>
          <a:prstGeom prst="rect">
            <a:avLst/>
          </a:prstGeom>
          <a:ln w="13912">
            <a:solidFill>
              <a:srgbClr val="EC3013"/>
            </a:solidFill>
            <a:prstDash val="solid"/>
          </a:ln>
        </p:spPr>
      </p:sp>
      <p:sp>
        <p:nvSpPr>
          <p:cNvPr id="10" name="Text 8"/>
          <p:cNvSpPr/>
          <p:nvPr/>
        </p:nvSpPr>
        <p:spPr>
          <a:xfrm>
            <a:off x="6706744" y="4232792"/>
            <a:ext cx="3474866" cy="392278"/>
          </a:xfrm>
          <a:prstGeom prst="rect">
            <a:avLst/>
          </a:prstGeom>
          <a:noFill/>
          <a:ln/>
        </p:spPr>
        <p:txBody>
          <a:bodyPr wrap="square" lIns="25400" tIns="25400" rIns="25400" bIns="25400" rtlCol="0" anchor="t">
            <a:normAutofit/>
          </a:bodyPr>
          <a:lstStyle/>
          <a:p>
            <a:pPr algn="l" indent="0" marL="0">
              <a:lnSpc>
                <a:spcPct val="134048"/>
              </a:lnSpc>
              <a:buNone/>
            </a:pPr>
            <a:r>
              <a:rPr lang="en-US" sz="1800" b="1" spc="144" kern="0" dirty="0">
                <a:solidFill>
                  <a:srgbClr val="AE1800"/>
                </a:solidFill>
                <a:latin typeface="Arial" pitchFamily="34" charset="0"/>
                <a:ea typeface="Arial" pitchFamily="34" charset="-122"/>
                <a:cs typeface="Arial" pitchFamily="34" charset="-120"/>
              </a:rPr>
              <a:t>AI SUGGESTION — REVIEW</a:t>
            </a:r>
            <a:endParaRPr lang="en-US" sz="1800" dirty="0"/>
          </a:p>
        </p:txBody>
      </p:sp>
      <p:sp>
        <p:nvSpPr>
          <p:cNvPr id="11" name="Text 9"/>
          <p:cNvSpPr/>
          <p:nvPr/>
        </p:nvSpPr>
        <p:spPr>
          <a:xfrm>
            <a:off x="6588057" y="4838929"/>
            <a:ext cx="5265314" cy="895328"/>
          </a:xfrm>
          <a:prstGeom prst="rect">
            <a:avLst/>
          </a:prstGeom>
          <a:noFill/>
          <a:ln/>
        </p:spPr>
        <p:txBody>
          <a:bodyPr wrap="square" lIns="25400" tIns="25400" rIns="25400" bIns="25400" rtlCol="0" anchor="t">
            <a:normAutofit/>
          </a:bodyPr>
          <a:lstStyle/>
          <a:p>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NovaCloud: </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compounding +42% ARR, but cash falling $29.5M → $19.6M — confirm the funding plan.</a:t>
            </a:r>
            <a:endParaRPr lang="en-US" sz="1800" dirty="0"/>
          </a:p>
        </p:txBody>
      </p:sp>
      <p:sp>
        <p:nvSpPr>
          <p:cNvPr id="12" name="Text 10"/>
          <p:cNvSpPr/>
          <p:nvPr/>
        </p:nvSpPr>
        <p:spPr>
          <a:xfrm>
            <a:off x="12156395" y="4781324"/>
            <a:ext cx="380854" cy="342863"/>
          </a:xfrm>
          <a:prstGeom prst="rect">
            <a:avLst/>
          </a:prstGeom>
          <a:noFill/>
          <a:ln/>
        </p:spPr>
        <p:txBody>
          <a:bodyPr wrap="square" lIns="25400" tIns="25400" rIns="25400" bIns="25400" rtlCol="0" anchor="t">
            <a:normAutofit/>
          </a:bodyPr>
          <a:lstStyle/>
          <a:p>
            <a:pPr algn="l" indent="0" marL="0">
              <a:lnSpc>
                <a:spcPct val="87636"/>
              </a:lnSpc>
              <a:buNone/>
            </a:pPr>
            <a:r>
              <a:rPr lang="en-US" sz="2400" b="1" dirty="0">
                <a:solidFill>
                  <a:srgbClr val="BAB6B6"/>
                </a:solidFill>
                <a:latin typeface="Arial" pitchFamily="34" charset="0"/>
                <a:ea typeface="Arial" pitchFamily="34" charset="-122"/>
                <a:cs typeface="Arial" pitchFamily="34" charset="-120"/>
              </a:rPr>
              <a:t>→</a:t>
            </a:r>
            <a:endParaRPr lang="en-US" sz="2400" dirty="0"/>
          </a:p>
        </p:txBody>
      </p:sp>
      <p:sp>
        <p:nvSpPr>
          <p:cNvPr id="13" name="Shape 11"/>
          <p:cNvSpPr/>
          <p:nvPr/>
        </p:nvSpPr>
        <p:spPr>
          <a:xfrm>
            <a:off x="12613431" y="3886273"/>
            <a:ext cx="4531558" cy="2094866"/>
          </a:xfrm>
          <a:prstGeom prst="rect">
            <a:avLst/>
          </a:prstGeom>
          <a:solidFill>
            <a:srgbClr val="F3F2F2"/>
          </a:solidFill>
          <a:ln w="13912">
            <a:solidFill>
              <a:srgbClr val="201E1E">
                <a:alpha val="40000"/>
              </a:srgbClr>
            </a:solidFill>
            <a:prstDash val="solid"/>
          </a:ln>
        </p:spPr>
      </p:sp>
      <p:sp>
        <p:nvSpPr>
          <p:cNvPr id="14" name="Text 12"/>
          <p:cNvSpPr/>
          <p:nvPr/>
        </p:nvSpPr>
        <p:spPr>
          <a:xfrm>
            <a:off x="12913086" y="4166799"/>
            <a:ext cx="4325473"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3 · HUMAN</a:t>
            </a:r>
            <a:endParaRPr lang="en-US" sz="1800" dirty="0"/>
          </a:p>
        </p:txBody>
      </p:sp>
      <p:sp>
        <p:nvSpPr>
          <p:cNvPr id="15" name="Text 13"/>
          <p:cNvSpPr/>
          <p:nvPr/>
        </p:nvSpPr>
        <p:spPr>
          <a:xfrm>
            <a:off x="12913086" y="4635247"/>
            <a:ext cx="4325473"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accept ✎ correct 💬 comment</a:t>
            </a:r>
            <a:endParaRPr lang="en-US" sz="1800" dirty="0"/>
          </a:p>
        </p:txBody>
      </p:sp>
      <p:sp>
        <p:nvSpPr>
          <p:cNvPr id="16" name="Text 14"/>
          <p:cNvSpPr/>
          <p:nvPr/>
        </p:nvSpPr>
        <p:spPr>
          <a:xfrm>
            <a:off x="1142970" y="6209711"/>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 Loop: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next quarter the AI reads last quarter's comments first — it learns the house view.</a:t>
            </a:r>
            <a:endParaRPr lang="en-US" sz="1800" dirty="0"/>
          </a:p>
        </p:txBody>
      </p:sp>
      <p:sp>
        <p:nvSpPr>
          <p:cNvPr id="17" name="Text 15"/>
          <p:cNvSpPr/>
          <p:nvPr/>
        </p:nvSpPr>
        <p:spPr>
          <a:xfrm>
            <a:off x="1142970" y="6895537"/>
            <a:ext cx="14716078" cy="518830"/>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Roadmap feature — the AI note is not built; it can only get an interpretation wrong (the human refutes it), never inject a wrong number. Cites every number · no dollar-ROI claims.</a:t>
            </a:r>
            <a:endParaRPr lang="en-US" sz="1800" dirty="0"/>
          </a:p>
        </p:txBody>
      </p:sp>
      <p:pic>
        <p:nvPicPr>
          <p:cNvPr id="18"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 · GROUP E</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Concord refuses to mix pounds and dollars — it flags, it never converts</a:t>
            </a:r>
            <a:endParaRPr lang="en-US" sz="4800" dirty="0"/>
          </a:p>
        </p:txBody>
      </p:sp>
      <p:sp>
        <p:nvSpPr>
          <p:cNvPr id="4" name="Shape 2"/>
          <p:cNvSpPr/>
          <p:nvPr/>
        </p:nvSpPr>
        <p:spPr>
          <a:xfrm>
            <a:off x="1142970" y="3886273"/>
            <a:ext cx="7810478" cy="2572009"/>
          </a:xfrm>
          <a:prstGeom prst="rect">
            <a:avLst/>
          </a:prstGeom>
          <a:solidFill>
            <a:srgbClr val="F3F2F2"/>
          </a:solidFill>
          <a:ln w="13912">
            <a:solidFill>
              <a:srgbClr val="201E1E">
                <a:alpha val="40000"/>
              </a:srgbClr>
            </a:solidFill>
            <a:prstDash val="solid"/>
          </a:ln>
        </p:spPr>
      </p:sp>
      <p:sp>
        <p:nvSpPr>
          <p:cNvPr id="5" name="Text 3"/>
          <p:cNvSpPr/>
          <p:nvPr/>
        </p:nvSpPr>
        <p:spPr>
          <a:xfrm>
            <a:off x="1442625" y="4166799"/>
            <a:ext cx="793228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TODAY</a:t>
            </a:r>
            <a:endParaRPr lang="en-US" sz="1800" dirty="0"/>
          </a:p>
        </p:txBody>
      </p:sp>
      <p:sp>
        <p:nvSpPr>
          <p:cNvPr id="6" name="Text 4"/>
          <p:cNvSpPr/>
          <p:nvPr/>
        </p:nvSpPr>
        <p:spPr>
          <a:xfrm>
            <a:off x="1442625" y="4635247"/>
            <a:ext cx="7932285"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A front-end rule flags GBP</a:t>
            </a:r>
            <a:endParaRPr lang="en-US" sz="2025" dirty="0"/>
          </a:p>
        </p:txBody>
      </p:sp>
      <p:sp>
        <p:nvSpPr>
          <p:cNvPr id="7" name="Text 5"/>
          <p:cNvSpPr/>
          <p:nvPr/>
        </p:nvSpPr>
        <p:spPr>
          <a:xfrm>
            <a:off x="1442625" y="5045112"/>
            <a:ext cx="7427504"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PeopleFlow: “· not comparable (GBP)” — kept off the dollar axis. The parser sees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currency = null</a:t>
            </a:r>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 a human-owned rule catches the £.</a:t>
            </a:r>
            <a:endParaRPr lang="en-US" sz="1800" dirty="0"/>
          </a:p>
        </p:txBody>
      </p:sp>
      <p:sp>
        <p:nvSpPr>
          <p:cNvPr id="8" name="Shape 6"/>
          <p:cNvSpPr/>
          <p:nvPr/>
        </p:nvSpPr>
        <p:spPr>
          <a:xfrm>
            <a:off x="9334402" y="3886273"/>
            <a:ext cx="7810587" cy="2572009"/>
          </a:xfrm>
          <a:prstGeom prst="rect">
            <a:avLst/>
          </a:prstGeom>
          <a:solidFill>
            <a:srgbClr val="F3F2F2"/>
          </a:solidFill>
          <a:ln w="27824">
            <a:solidFill>
              <a:srgbClr val="EC3013"/>
            </a:solidFill>
            <a:prstDash val="solid"/>
          </a:ln>
        </p:spPr>
      </p:sp>
      <p:sp>
        <p:nvSpPr>
          <p:cNvPr id="9" name="Text 7"/>
          <p:cNvSpPr/>
          <p:nvPr/>
        </p:nvSpPr>
        <p:spPr>
          <a:xfrm>
            <a:off x="9638405" y="4171255"/>
            <a:ext cx="792284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ROADMAP</a:t>
            </a:r>
            <a:endParaRPr lang="en-US" sz="1800" dirty="0"/>
          </a:p>
        </p:txBody>
      </p:sp>
      <p:sp>
        <p:nvSpPr>
          <p:cNvPr id="10" name="Text 8"/>
          <p:cNvSpPr/>
          <p:nvPr/>
        </p:nvSpPr>
        <p:spPr>
          <a:xfrm>
            <a:off x="9638405" y="4639703"/>
            <a:ext cx="7922841"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A currency-reader captures the £</a:t>
            </a:r>
            <a:endParaRPr lang="en-US" sz="2025" dirty="0"/>
          </a:p>
        </p:txBody>
      </p:sp>
      <p:sp>
        <p:nvSpPr>
          <p:cNvPr id="11" name="Text 9"/>
          <p:cNvSpPr/>
          <p:nvPr/>
        </p:nvSpPr>
        <p:spPr>
          <a:xfrm>
            <a:off x="9886055" y="5087609"/>
            <a:ext cx="76751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convert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levels only </a:t>
            </a:r>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 dated rate (fx_rate · fx_source · fx_date)</a:t>
            </a:r>
            <a:endParaRPr lang="en-US" sz="1800" dirty="0"/>
          </a:p>
        </p:txBody>
      </p:sp>
      <p:sp>
        <p:nvSpPr>
          <p:cNvPr id="12" name="Text 10"/>
          <p:cNvSpPr/>
          <p:nvPr/>
        </p:nvSpPr>
        <p:spPr>
          <a:xfrm>
            <a:off x="9886055" y="5487584"/>
            <a:ext cx="76751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refuse to convert ratios / % — a GBP % stays a %</a:t>
            </a:r>
            <a:endParaRPr lang="en-US" sz="1800" dirty="0"/>
          </a:p>
        </p:txBody>
      </p:sp>
      <p:sp>
        <p:nvSpPr>
          <p:cNvPr id="13" name="Text 11"/>
          <p:cNvSpPr/>
          <p:nvPr/>
        </p:nvSpPr>
        <p:spPr>
          <a:xfrm>
            <a:off x="9886055" y="5887558"/>
            <a:ext cx="7675191"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refuse over convert where the basis is unknown</a:t>
            </a:r>
            <a:endParaRPr lang="en-US" sz="1800" dirty="0"/>
          </a:p>
        </p:txBody>
      </p:sp>
      <p:sp>
        <p:nvSpPr>
          <p:cNvPr id="14" name="Text 12"/>
          <p:cNvSpPr/>
          <p:nvPr/>
        </p:nvSpPr>
        <p:spPr>
          <a:xfrm>
            <a:off x="1142970" y="6987270"/>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The GBP flag is a front-end rulebook rule,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not parsed data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(parser sees currency = null). No FX conversion exists yet.</a:t>
            </a:r>
            <a:endParaRPr lang="en-US" sz="1800" dirty="0"/>
          </a:p>
        </p:txBody>
      </p:sp>
      <p:pic>
        <p:nvPicPr>
          <p:cNvPr id="15"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07 · THE PATH TO PRODUCTION TRUST · GROUP G</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No silent overwrites, maker-checker on every fix, an audit trail that stands up to an LP challenge</a:t>
            </a:r>
            <a:endParaRPr lang="en-US" sz="4800" dirty="0"/>
          </a:p>
        </p:txBody>
      </p:sp>
      <p:sp>
        <p:nvSpPr>
          <p:cNvPr id="4" name="Shape 2"/>
          <p:cNvSpPr/>
          <p:nvPr/>
        </p:nvSpPr>
        <p:spPr>
          <a:xfrm>
            <a:off x="1142970" y="3886273"/>
            <a:ext cx="2844492" cy="1712499"/>
          </a:xfrm>
          <a:prstGeom prst="rect">
            <a:avLst/>
          </a:prstGeom>
          <a:solidFill>
            <a:srgbClr val="F3F2F2"/>
          </a:solidFill>
          <a:ln w="13912">
            <a:solidFill>
              <a:srgbClr val="201E1E">
                <a:alpha val="40000"/>
              </a:srgbClr>
            </a:solidFill>
            <a:prstDash val="solid"/>
          </a:ln>
        </p:spPr>
      </p:sp>
      <p:sp>
        <p:nvSpPr>
          <p:cNvPr id="5" name="Text 3"/>
          <p:cNvSpPr/>
          <p:nvPr/>
        </p:nvSpPr>
        <p:spPr>
          <a:xfrm>
            <a:off x="1309264" y="4071587"/>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STATE</a:t>
            </a:r>
            <a:endParaRPr lang="en-US" sz="1800" dirty="0"/>
          </a:p>
        </p:txBody>
      </p:sp>
      <p:sp>
        <p:nvSpPr>
          <p:cNvPr id="6" name="Text 4"/>
          <p:cNvSpPr/>
          <p:nvPr/>
        </p:nvSpPr>
        <p:spPr>
          <a:xfrm>
            <a:off x="1309264" y="4492430"/>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Extracted</a:t>
            </a:r>
            <a:endParaRPr lang="en-US" sz="1800" dirty="0"/>
          </a:p>
        </p:txBody>
      </p:sp>
      <p:sp>
        <p:nvSpPr>
          <p:cNvPr id="7" name="Text 5"/>
          <p:cNvSpPr/>
          <p:nvPr/>
        </p:nvSpPr>
        <p:spPr>
          <a:xfrm>
            <a:off x="4092129" y="462818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4425369" y="3886273"/>
            <a:ext cx="2844600" cy="1712499"/>
          </a:xfrm>
          <a:prstGeom prst="rect">
            <a:avLst/>
          </a:prstGeom>
          <a:solidFill>
            <a:srgbClr val="F3F2F2"/>
          </a:solidFill>
          <a:ln w="13912">
            <a:solidFill>
              <a:srgbClr val="201E1E">
                <a:alpha val="40000"/>
              </a:srgbClr>
            </a:solidFill>
            <a:prstDash val="solid"/>
          </a:ln>
        </p:spPr>
      </p:sp>
      <p:sp>
        <p:nvSpPr>
          <p:cNvPr id="9" name="Text 7"/>
          <p:cNvSpPr/>
          <p:nvPr/>
        </p:nvSpPr>
        <p:spPr>
          <a:xfrm>
            <a:off x="4591662" y="4071587"/>
            <a:ext cx="276321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ENSEMBLE</a:t>
            </a:r>
            <a:endParaRPr lang="en-US" sz="1800" dirty="0"/>
          </a:p>
        </p:txBody>
      </p:sp>
      <p:sp>
        <p:nvSpPr>
          <p:cNvPr id="10" name="Text 8"/>
          <p:cNvSpPr/>
          <p:nvPr/>
        </p:nvSpPr>
        <p:spPr>
          <a:xfrm>
            <a:off x="4591662" y="4492430"/>
            <a:ext cx="2763214"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Verified / Flagged</a:t>
            </a:r>
            <a:endParaRPr lang="en-US" sz="1800" dirty="0"/>
          </a:p>
        </p:txBody>
      </p:sp>
      <p:sp>
        <p:nvSpPr>
          <p:cNvPr id="11" name="Text 9"/>
          <p:cNvSpPr/>
          <p:nvPr/>
        </p:nvSpPr>
        <p:spPr>
          <a:xfrm>
            <a:off x="7374636" y="462818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7707876" y="3886273"/>
            <a:ext cx="2844492" cy="1712499"/>
          </a:xfrm>
          <a:prstGeom prst="rect">
            <a:avLst/>
          </a:prstGeom>
          <a:solidFill>
            <a:srgbClr val="F3F2F2"/>
          </a:solidFill>
          <a:ln w="13912">
            <a:solidFill>
              <a:srgbClr val="201E1E">
                <a:alpha val="40000"/>
              </a:srgbClr>
            </a:solidFill>
            <a:prstDash val="solid"/>
          </a:ln>
        </p:spPr>
      </p:sp>
      <p:sp>
        <p:nvSpPr>
          <p:cNvPr id="13" name="Text 11"/>
          <p:cNvSpPr/>
          <p:nvPr/>
        </p:nvSpPr>
        <p:spPr>
          <a:xfrm>
            <a:off x="7874170" y="4071587"/>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USER A</a:t>
            </a:r>
            <a:endParaRPr lang="en-US" sz="1800" dirty="0"/>
          </a:p>
        </p:txBody>
      </p:sp>
      <p:sp>
        <p:nvSpPr>
          <p:cNvPr id="14" name="Text 12"/>
          <p:cNvSpPr/>
          <p:nvPr/>
        </p:nvSpPr>
        <p:spPr>
          <a:xfrm>
            <a:off x="7874170" y="4492430"/>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Suggest</a:t>
            </a:r>
            <a:endParaRPr lang="en-US" sz="1800" dirty="0"/>
          </a:p>
        </p:txBody>
      </p:sp>
      <p:sp>
        <p:nvSpPr>
          <p:cNvPr id="15" name="Text 13"/>
          <p:cNvSpPr/>
          <p:nvPr/>
        </p:nvSpPr>
        <p:spPr>
          <a:xfrm>
            <a:off x="7874170" y="4821865"/>
            <a:ext cx="2588105" cy="457204"/>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66000"/>
                  </a:srgbClr>
                </a:solidFill>
                <a:latin typeface="Arial" pitchFamily="34" charset="0"/>
                <a:ea typeface="Arial" pitchFamily="34" charset="-122"/>
                <a:cs typeface="Arial" pitchFamily="34" charset="-120"/>
              </a:rPr>
              <a:t>value unchanged — badge only</a:t>
            </a:r>
            <a:endParaRPr lang="en-US" sz="1800" dirty="0"/>
          </a:p>
        </p:txBody>
      </p:sp>
      <p:sp>
        <p:nvSpPr>
          <p:cNvPr id="16" name="Text 14"/>
          <p:cNvSpPr/>
          <p:nvPr/>
        </p:nvSpPr>
        <p:spPr>
          <a:xfrm>
            <a:off x="10657036" y="462818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10990275" y="3886273"/>
            <a:ext cx="2872316" cy="1712499"/>
          </a:xfrm>
          <a:prstGeom prst="rect">
            <a:avLst/>
          </a:prstGeom>
          <a:solidFill>
            <a:srgbClr val="F3F2F2"/>
          </a:solidFill>
          <a:ln w="27824">
            <a:solidFill>
              <a:srgbClr val="EC3013"/>
            </a:solidFill>
            <a:prstDash val="solid"/>
          </a:ln>
        </p:spPr>
      </p:sp>
      <p:sp>
        <p:nvSpPr>
          <p:cNvPr id="18" name="Text 16"/>
          <p:cNvSpPr/>
          <p:nvPr/>
        </p:nvSpPr>
        <p:spPr>
          <a:xfrm>
            <a:off x="11170481" y="4085499"/>
            <a:ext cx="2588105" cy="746533"/>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USER B · MAKER-CHECKER</a:t>
            </a:r>
            <a:endParaRPr lang="en-US" sz="1800" dirty="0"/>
          </a:p>
        </p:txBody>
      </p:sp>
      <p:sp>
        <p:nvSpPr>
          <p:cNvPr id="19" name="Text 17"/>
          <p:cNvSpPr/>
          <p:nvPr/>
        </p:nvSpPr>
        <p:spPr>
          <a:xfrm>
            <a:off x="11170481" y="4860558"/>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Approve / Reject</a:t>
            </a:r>
            <a:endParaRPr lang="en-US" sz="1800" dirty="0"/>
          </a:p>
        </p:txBody>
      </p:sp>
      <p:sp>
        <p:nvSpPr>
          <p:cNvPr id="20" name="Text 18"/>
          <p:cNvSpPr/>
          <p:nvPr/>
        </p:nvSpPr>
        <p:spPr>
          <a:xfrm>
            <a:off x="11170481" y="5189994"/>
            <a:ext cx="2763095" cy="247652"/>
          </a:xfrm>
          <a:prstGeom prst="rect">
            <a:avLst/>
          </a:prstGeom>
          <a:noFill/>
          <a:ln/>
        </p:spPr>
        <p:txBody>
          <a:bodyPr wrap="square" lIns="25400" tIns="25400" rIns="25400" bIns="25400" rtlCol="0" anchor="t">
            <a:normAutofit/>
          </a:bodyPr>
          <a:lstStyle/>
          <a:p>
            <a:pPr algn="l" indent="0" marL="0">
              <a:lnSpc>
                <a:spcPct val="79276"/>
              </a:lnSpc>
              <a:buNone/>
            </a:pPr>
            <a:r>
              <a:rPr lang="en-US" sz="1800" dirty="0">
                <a:solidFill>
                  <a:srgbClr val="201E1D">
                    <a:alpha val="80000"/>
                  </a:srgbClr>
                </a:solidFill>
                <a:latin typeface="Arial" pitchFamily="34" charset="0"/>
                <a:ea typeface="Arial" pitchFamily="34" charset="-122"/>
                <a:cs typeface="Arial" pitchFamily="34" charset="-120"/>
              </a:rPr>
              <a:t>suggester ≠ approver</a:t>
            </a:r>
            <a:endParaRPr lang="en-US" sz="1800" dirty="0"/>
          </a:p>
        </p:txBody>
      </p:sp>
      <p:sp>
        <p:nvSpPr>
          <p:cNvPr id="21" name="Text 19"/>
          <p:cNvSpPr/>
          <p:nvPr/>
        </p:nvSpPr>
        <p:spPr>
          <a:xfrm>
            <a:off x="13967258" y="4628182"/>
            <a:ext cx="304772" cy="266672"/>
          </a:xfrm>
          <a:prstGeom prst="rect">
            <a:avLst/>
          </a:prstGeom>
          <a:noFill/>
          <a:ln/>
        </p:spPr>
        <p:txBody>
          <a:bodyPr wrap="square" lIns="25400" tIns="25400" rIns="25400" bIns="25400" rtlCol="0" anchor="t">
            <a:normAutofit/>
          </a:bodyPr>
          <a:lstStyle/>
          <a:p>
            <a:pPr algn="l" indent="0" marL="0">
              <a:lnSpc>
                <a:spcPct val="86483"/>
              </a:lnSpc>
              <a:buNone/>
            </a:pPr>
            <a:r>
              <a:rPr lang="en-US" sz="1800" b="1" dirty="0">
                <a:solidFill>
                  <a:srgbClr val="BAB6B6"/>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14300497" y="3886273"/>
            <a:ext cx="2844492" cy="1712499"/>
          </a:xfrm>
          <a:prstGeom prst="rect">
            <a:avLst/>
          </a:prstGeom>
          <a:solidFill>
            <a:srgbClr val="F3F2F2"/>
          </a:solidFill>
          <a:ln w="13912">
            <a:solidFill>
              <a:srgbClr val="201E1E">
                <a:alpha val="40000"/>
              </a:srgbClr>
            </a:solidFill>
            <a:prstDash val="solid"/>
          </a:ln>
        </p:spPr>
      </p:sp>
      <p:sp>
        <p:nvSpPr>
          <p:cNvPr id="23" name="Text 21"/>
          <p:cNvSpPr/>
          <p:nvPr/>
        </p:nvSpPr>
        <p:spPr>
          <a:xfrm>
            <a:off x="14466791" y="4071587"/>
            <a:ext cx="276309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EC3013"/>
                </a:solidFill>
                <a:latin typeface="Arial" pitchFamily="34" charset="0"/>
                <a:ea typeface="Arial" pitchFamily="34" charset="-122"/>
                <a:cs typeface="Arial" pitchFamily="34" charset="-120"/>
              </a:rPr>
              <a:t>RESULT</a:t>
            </a:r>
            <a:endParaRPr lang="en-US" sz="1800" dirty="0"/>
          </a:p>
        </p:txBody>
      </p:sp>
      <p:sp>
        <p:nvSpPr>
          <p:cNvPr id="24" name="Text 22"/>
          <p:cNvSpPr/>
          <p:nvPr/>
        </p:nvSpPr>
        <p:spPr>
          <a:xfrm>
            <a:off x="14466791" y="4492430"/>
            <a:ext cx="2763095" cy="300909"/>
          </a:xfrm>
          <a:prstGeom prst="rect">
            <a:avLst/>
          </a:prstGeom>
          <a:noFill/>
          <a:ln/>
        </p:spPr>
        <p:txBody>
          <a:bodyPr wrap="square" lIns="25400" tIns="25400" rIns="25400" bIns="25400" rtlCol="0" anchor="t">
            <a:normAutofit/>
          </a:bodyPr>
          <a:lstStyle/>
          <a:p>
            <a:pPr algn="l" indent="0" marL="0">
              <a:lnSpc>
                <a:spcPct val="99455"/>
              </a:lnSpc>
              <a:buNone/>
            </a:pPr>
            <a:r>
              <a:rPr lang="en-US" sz="1800" b="1" spc="-18" kern="0" dirty="0">
                <a:solidFill>
                  <a:srgbClr val="201E1D"/>
                </a:solidFill>
                <a:latin typeface="Arial" pitchFamily="34" charset="0"/>
                <a:ea typeface="Arial" pitchFamily="34" charset="-122"/>
                <a:cs typeface="Arial" pitchFamily="34" charset="-120"/>
              </a:rPr>
              <a:t>Corrected</a:t>
            </a:r>
            <a:endParaRPr lang="en-US" sz="1800" dirty="0"/>
          </a:p>
        </p:txBody>
      </p:sp>
      <p:sp>
        <p:nvSpPr>
          <p:cNvPr id="25" name="Shape 23"/>
          <p:cNvSpPr/>
          <p:nvPr/>
        </p:nvSpPr>
        <p:spPr>
          <a:xfrm>
            <a:off x="1142970" y="5808215"/>
            <a:ext cx="16002019" cy="1238399"/>
          </a:xfrm>
          <a:prstGeom prst="rect">
            <a:avLst/>
          </a:prstGeom>
          <a:ln w="13912">
            <a:solidFill>
              <a:srgbClr val="201E1E">
                <a:alpha val="40000"/>
              </a:srgbClr>
            </a:solidFill>
            <a:prstDash val="solid"/>
          </a:ln>
        </p:spPr>
      </p:sp>
      <p:sp>
        <p:nvSpPr>
          <p:cNvPr id="26" name="Shape 24"/>
          <p:cNvSpPr/>
          <p:nvPr/>
        </p:nvSpPr>
        <p:spPr>
          <a:xfrm>
            <a:off x="1156882" y="5822127"/>
            <a:ext cx="15974195" cy="608765"/>
          </a:xfrm>
          <a:prstGeom prst="rect">
            <a:avLst/>
          </a:prstGeom>
          <a:solidFill>
            <a:srgbClr val="EAE9E9"/>
          </a:solidFill>
          <a:ln/>
        </p:spPr>
      </p:sp>
      <p:sp>
        <p:nvSpPr>
          <p:cNvPr id="27" name="Shape 25"/>
          <p:cNvSpPr/>
          <p:nvPr/>
        </p:nvSpPr>
        <p:spPr>
          <a:xfrm>
            <a:off x="1156882" y="6423936"/>
            <a:ext cx="15974195" cy="9525"/>
          </a:xfrm>
          <a:prstGeom prst="rect">
            <a:avLst/>
          </a:prstGeom>
          <a:solidFill>
            <a:srgbClr val="201E1E">
              <a:alpha val="40000"/>
            </a:srgbClr>
          </a:solidFill>
          <a:ln/>
        </p:spPr>
      </p:sp>
      <p:sp>
        <p:nvSpPr>
          <p:cNvPr id="28" name="Text 26"/>
          <p:cNvSpPr/>
          <p:nvPr/>
        </p:nvSpPr>
        <p:spPr>
          <a:xfrm>
            <a:off x="1328284" y="5945924"/>
            <a:ext cx="272603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201E1C">
                    <a:alpha val="60000"/>
                  </a:srgbClr>
                </a:solidFill>
                <a:latin typeface="Arial" pitchFamily="34" charset="0"/>
                <a:ea typeface="Arial" pitchFamily="34" charset="-122"/>
                <a:cs typeface="Arial" pitchFamily="34" charset="-120"/>
              </a:rPr>
              <a:t>OLD</a:t>
            </a:r>
            <a:endParaRPr lang="en-US" sz="1800" dirty="0"/>
          </a:p>
        </p:txBody>
      </p:sp>
      <p:sp>
        <p:nvSpPr>
          <p:cNvPr id="29" name="Text 27"/>
          <p:cNvSpPr/>
          <p:nvPr/>
        </p:nvSpPr>
        <p:spPr>
          <a:xfrm>
            <a:off x="3996918" y="5945924"/>
            <a:ext cx="272615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201E1C">
                    <a:alpha val="60000"/>
                  </a:srgbClr>
                </a:solidFill>
                <a:latin typeface="Arial" pitchFamily="34" charset="0"/>
                <a:ea typeface="Arial" pitchFamily="34" charset="-122"/>
                <a:cs typeface="Arial" pitchFamily="34" charset="-120"/>
              </a:rPr>
              <a:t>NEW</a:t>
            </a:r>
            <a:endParaRPr lang="en-US" sz="1800" dirty="0"/>
          </a:p>
        </p:txBody>
      </p:sp>
      <p:sp>
        <p:nvSpPr>
          <p:cNvPr id="30" name="Text 28"/>
          <p:cNvSpPr/>
          <p:nvPr/>
        </p:nvSpPr>
        <p:spPr>
          <a:xfrm>
            <a:off x="6665660" y="5945924"/>
            <a:ext cx="327133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201E1C">
                    <a:alpha val="60000"/>
                  </a:srgbClr>
                </a:solidFill>
                <a:latin typeface="Arial" pitchFamily="34" charset="0"/>
                <a:ea typeface="Arial" pitchFamily="34" charset="-122"/>
                <a:cs typeface="Arial" pitchFamily="34" charset="-120"/>
              </a:rPr>
              <a:t>WHO</a:t>
            </a:r>
            <a:endParaRPr lang="en-US" sz="1800" dirty="0"/>
          </a:p>
        </p:txBody>
      </p:sp>
      <p:sp>
        <p:nvSpPr>
          <p:cNvPr id="31" name="Text 29"/>
          <p:cNvSpPr/>
          <p:nvPr/>
        </p:nvSpPr>
        <p:spPr>
          <a:xfrm>
            <a:off x="9830023" y="5945924"/>
            <a:ext cx="272603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201E1C">
                    <a:alpha val="60000"/>
                  </a:srgbClr>
                </a:solidFill>
                <a:latin typeface="Arial" pitchFamily="34" charset="0"/>
                <a:ea typeface="Arial" pitchFamily="34" charset="-122"/>
                <a:cs typeface="Arial" pitchFamily="34" charset="-120"/>
              </a:rPr>
              <a:t>WHEN</a:t>
            </a:r>
            <a:endParaRPr lang="en-US" sz="1800" dirty="0"/>
          </a:p>
        </p:txBody>
      </p:sp>
      <p:sp>
        <p:nvSpPr>
          <p:cNvPr id="32" name="Text 30"/>
          <p:cNvSpPr/>
          <p:nvPr/>
        </p:nvSpPr>
        <p:spPr>
          <a:xfrm>
            <a:off x="12498656" y="5945924"/>
            <a:ext cx="490700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72" kern="0" dirty="0">
                <a:solidFill>
                  <a:srgbClr val="201E1C">
                    <a:alpha val="60000"/>
                  </a:srgbClr>
                </a:solidFill>
                <a:latin typeface="Arial" pitchFamily="34" charset="0"/>
                <a:ea typeface="Arial" pitchFamily="34" charset="-122"/>
                <a:cs typeface="Arial" pitchFamily="34" charset="-120"/>
              </a:rPr>
              <a:t>WHY</a:t>
            </a:r>
            <a:endParaRPr lang="en-US" sz="1800" dirty="0"/>
          </a:p>
        </p:txBody>
      </p:sp>
      <p:sp>
        <p:nvSpPr>
          <p:cNvPr id="33" name="Text 31"/>
          <p:cNvSpPr/>
          <p:nvPr/>
        </p:nvSpPr>
        <p:spPr>
          <a:xfrm>
            <a:off x="1328284" y="6554689"/>
            <a:ext cx="272603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$38.4M</a:t>
            </a:r>
            <a:endParaRPr lang="en-US" sz="1800" dirty="0"/>
          </a:p>
        </p:txBody>
      </p:sp>
      <p:sp>
        <p:nvSpPr>
          <p:cNvPr id="34" name="Text 32"/>
          <p:cNvSpPr/>
          <p:nvPr/>
        </p:nvSpPr>
        <p:spPr>
          <a:xfrm>
            <a:off x="3996918" y="6554689"/>
            <a:ext cx="272615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$32.2M</a:t>
            </a:r>
            <a:endParaRPr lang="en-US" sz="1800" dirty="0"/>
          </a:p>
        </p:txBody>
      </p:sp>
      <p:sp>
        <p:nvSpPr>
          <p:cNvPr id="35" name="Text 33"/>
          <p:cNvSpPr/>
          <p:nvPr/>
        </p:nvSpPr>
        <p:spPr>
          <a:xfrm>
            <a:off x="6665660" y="6554689"/>
            <a:ext cx="3271334"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j.lee · approver</a:t>
            </a:r>
            <a:endParaRPr lang="en-US" sz="1800" dirty="0"/>
          </a:p>
        </p:txBody>
      </p:sp>
      <p:sp>
        <p:nvSpPr>
          <p:cNvPr id="36" name="Text 34"/>
          <p:cNvSpPr/>
          <p:nvPr/>
        </p:nvSpPr>
        <p:spPr>
          <a:xfrm>
            <a:off x="9830023" y="6554689"/>
            <a:ext cx="2726032"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Q2 close</a:t>
            </a:r>
            <a:endParaRPr lang="en-US" sz="1800" dirty="0"/>
          </a:p>
        </p:txBody>
      </p:sp>
      <p:sp>
        <p:nvSpPr>
          <p:cNvPr id="37" name="Text 35"/>
          <p:cNvSpPr/>
          <p:nvPr/>
        </p:nvSpPr>
        <p:spPr>
          <a:xfrm>
            <a:off x="12498656" y="6554689"/>
            <a:ext cx="4907001"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stripped restricted client float</a:t>
            </a:r>
            <a:endParaRPr lang="en-US" sz="1800" dirty="0"/>
          </a:p>
        </p:txBody>
      </p:sp>
      <p:sp>
        <p:nvSpPr>
          <p:cNvPr id="38" name="Shape 36"/>
          <p:cNvSpPr/>
          <p:nvPr/>
        </p:nvSpPr>
        <p:spPr>
          <a:xfrm>
            <a:off x="1142970" y="7237037"/>
            <a:ext cx="1930420" cy="427690"/>
          </a:xfrm>
          <a:prstGeom prst="rect">
            <a:avLst/>
          </a:prstGeom>
          <a:ln w="13912">
            <a:solidFill>
              <a:srgbClr val="201E1E">
                <a:alpha val="40000"/>
              </a:srgbClr>
            </a:solidFill>
            <a:prstDash val="solid"/>
          </a:ln>
        </p:spPr>
      </p:sp>
      <p:sp>
        <p:nvSpPr>
          <p:cNvPr id="39" name="Text 37"/>
          <p:cNvSpPr/>
          <p:nvPr/>
        </p:nvSpPr>
        <p:spPr>
          <a:xfrm>
            <a:off x="1299757" y="7336674"/>
            <a:ext cx="1693046"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never overwrite</a:t>
            </a:r>
            <a:endParaRPr lang="en-US" sz="1800" dirty="0"/>
          </a:p>
        </p:txBody>
      </p:sp>
      <p:sp>
        <p:nvSpPr>
          <p:cNvPr id="40" name="Shape 38"/>
          <p:cNvSpPr/>
          <p:nvPr/>
        </p:nvSpPr>
        <p:spPr>
          <a:xfrm>
            <a:off x="3206643" y="7237037"/>
            <a:ext cx="1879445" cy="427690"/>
          </a:xfrm>
          <a:prstGeom prst="rect">
            <a:avLst/>
          </a:prstGeom>
          <a:ln w="13912">
            <a:solidFill>
              <a:srgbClr val="201E1E">
                <a:alpha val="40000"/>
              </a:srgbClr>
            </a:solidFill>
            <a:prstDash val="solid"/>
          </a:ln>
        </p:spPr>
      </p:sp>
      <p:sp>
        <p:nvSpPr>
          <p:cNvPr id="41" name="Text 39"/>
          <p:cNvSpPr/>
          <p:nvPr/>
        </p:nvSpPr>
        <p:spPr>
          <a:xfrm>
            <a:off x="3363430" y="7336674"/>
            <a:ext cx="1642071"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maker-checker</a:t>
            </a:r>
            <a:endParaRPr lang="en-US" sz="1800" dirty="0"/>
          </a:p>
        </p:txBody>
      </p:sp>
      <p:sp>
        <p:nvSpPr>
          <p:cNvPr id="42" name="Shape 40"/>
          <p:cNvSpPr/>
          <p:nvPr/>
        </p:nvSpPr>
        <p:spPr>
          <a:xfrm>
            <a:off x="5219340" y="7237037"/>
            <a:ext cx="1770865" cy="427690"/>
          </a:xfrm>
          <a:prstGeom prst="rect">
            <a:avLst/>
          </a:prstGeom>
          <a:ln w="13912">
            <a:solidFill>
              <a:srgbClr val="201E1E">
                <a:alpha val="40000"/>
              </a:srgbClr>
            </a:solidFill>
            <a:prstDash val="solid"/>
          </a:ln>
        </p:spPr>
      </p:sp>
      <p:sp>
        <p:nvSpPr>
          <p:cNvPr id="43" name="Text 41"/>
          <p:cNvSpPr/>
          <p:nvPr/>
        </p:nvSpPr>
        <p:spPr>
          <a:xfrm>
            <a:off x="5376127" y="7336674"/>
            <a:ext cx="1533491"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201E1D"/>
                </a:solidFill>
                <a:latin typeface="Arial" pitchFamily="34" charset="0"/>
                <a:ea typeface="Arial" pitchFamily="34" charset="-122"/>
                <a:cs typeface="Arial" pitchFamily="34" charset="-120"/>
              </a:rPr>
              <a:t>least privilege</a:t>
            </a:r>
            <a:endParaRPr lang="en-US" sz="1800" dirty="0"/>
          </a:p>
        </p:txBody>
      </p:sp>
      <p:sp>
        <p:nvSpPr>
          <p:cNvPr id="44" name="Shape 42"/>
          <p:cNvSpPr/>
          <p:nvPr/>
        </p:nvSpPr>
        <p:spPr>
          <a:xfrm>
            <a:off x="7123457" y="7237037"/>
            <a:ext cx="2927204" cy="427690"/>
          </a:xfrm>
          <a:prstGeom prst="rect">
            <a:avLst/>
          </a:prstGeom>
          <a:ln w="13912">
            <a:solidFill>
              <a:srgbClr val="EC3013"/>
            </a:solidFill>
            <a:prstDash val="solid"/>
          </a:ln>
        </p:spPr>
      </p:sp>
      <p:sp>
        <p:nvSpPr>
          <p:cNvPr id="45" name="Text 43"/>
          <p:cNvSpPr/>
          <p:nvPr/>
        </p:nvSpPr>
        <p:spPr>
          <a:xfrm>
            <a:off x="7280244" y="7336674"/>
            <a:ext cx="2701446"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AE1800"/>
                </a:solidFill>
                <a:latin typeface="Arial" pitchFamily="34" charset="0"/>
                <a:ea typeface="Arial" pitchFamily="34" charset="-122"/>
                <a:cs typeface="Arial" pitchFamily="34" charset="-120"/>
              </a:rPr>
              <a:t>append-only · exportable</a:t>
            </a:r>
            <a:endParaRPr lang="en-US" sz="1800" dirty="0"/>
          </a:p>
        </p:txBody>
      </p:sp>
      <p:sp>
        <p:nvSpPr>
          <p:cNvPr id="46" name="Text 44"/>
          <p:cNvSpPr/>
          <p:nvPr/>
        </p:nvSpPr>
        <p:spPr>
          <a:xfrm>
            <a:off x="1142970" y="8193714"/>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None of this exists yet — the next layer on top of provenance + refuse-to-compare, which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do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exist.</a:t>
            </a:r>
            <a:endParaRPr lang="en-US" sz="1800" dirty="0"/>
          </a:p>
        </p:txBody>
      </p:sp>
      <p:pic>
        <p:nvPicPr>
          <p:cNvPr id="47"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08 · PROTOTYPE → PRODUCTION</a:t>
            </a:r>
            <a:endParaRPr lang="en-US" sz="1800" dirty="0"/>
          </a:p>
        </p:txBody>
      </p:sp>
      <p:sp>
        <p:nvSpPr>
          <p:cNvPr id="3" name="Text 1"/>
          <p:cNvSpPr/>
          <p:nvPr/>
        </p:nvSpPr>
        <p:spPr>
          <a:xfrm>
            <a:off x="1107646" y="1863576"/>
            <a:ext cx="17641078" cy="460573"/>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Concord today is a prototype, not a production system</a:t>
            </a:r>
            <a:endParaRPr lang="en-US" sz="4800" dirty="0"/>
          </a:p>
        </p:txBody>
      </p:sp>
      <p:sp>
        <p:nvSpPr>
          <p:cNvPr id="4" name="Shape 2"/>
          <p:cNvSpPr/>
          <p:nvPr/>
        </p:nvSpPr>
        <p:spPr>
          <a:xfrm>
            <a:off x="1142970" y="3200447"/>
            <a:ext cx="7810478" cy="2553206"/>
          </a:xfrm>
          <a:prstGeom prst="rect">
            <a:avLst/>
          </a:prstGeom>
          <a:solidFill>
            <a:srgbClr val="F3F2F2"/>
          </a:solidFill>
          <a:ln w="13912">
            <a:solidFill>
              <a:srgbClr val="201E1E">
                <a:alpha val="40000"/>
              </a:srgbClr>
            </a:solidFill>
            <a:prstDash val="solid"/>
          </a:ln>
        </p:spPr>
      </p:sp>
      <p:sp>
        <p:nvSpPr>
          <p:cNvPr id="5" name="Text 3"/>
          <p:cNvSpPr/>
          <p:nvPr/>
        </p:nvSpPr>
        <p:spPr>
          <a:xfrm>
            <a:off x="1442625" y="3480973"/>
            <a:ext cx="793228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EC3013"/>
                </a:solidFill>
                <a:latin typeface="Arial" pitchFamily="34" charset="0"/>
                <a:ea typeface="Arial" pitchFamily="34" charset="-122"/>
                <a:cs typeface="Arial" pitchFamily="34" charset="-120"/>
              </a:rPr>
              <a:t>WHAT'S REAL</a:t>
            </a:r>
            <a:endParaRPr lang="en-US" sz="1800" dirty="0"/>
          </a:p>
        </p:txBody>
      </p:sp>
      <p:sp>
        <p:nvSpPr>
          <p:cNvPr id="6" name="Text 4"/>
          <p:cNvSpPr/>
          <p:nvPr/>
        </p:nvSpPr>
        <p:spPr>
          <a:xfrm>
            <a:off x="1690275" y="3987462"/>
            <a:ext cx="768463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the offline, deterministic engine</a:t>
            </a:r>
            <a:endParaRPr lang="en-US" sz="1800" dirty="0"/>
          </a:p>
        </p:txBody>
      </p:sp>
      <p:sp>
        <p:nvSpPr>
          <p:cNvPr id="7" name="Text 5"/>
          <p:cNvSpPr/>
          <p:nvPr/>
        </p:nvSpPr>
        <p:spPr>
          <a:xfrm>
            <a:off x="1690275" y="4387437"/>
            <a:ext cx="768463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recall </a:t>
            </a:r>
            <a:pPr algn="l" indent="0" marL="0">
              <a:lnSpc>
                <a:spcPct val="108103"/>
              </a:lnSpc>
              <a:buNone/>
            </a:pPr>
            <a:r>
              <a:rPr lang="en-US" sz="1800" b="1" dirty="0">
                <a:solidFill>
                  <a:srgbClr val="201E1D"/>
                </a:solidFill>
                <a:latin typeface="Arial" pitchFamily="34" charset="0"/>
                <a:ea typeface="Arial" pitchFamily="34" charset="-122"/>
                <a:cs typeface="Arial" pitchFamily="34" charset="-120"/>
              </a:rPr>
              <a:t>76% → 90%, 0 wrong values </a:t>
            </a:r>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(24 synthetic PDFs)</a:t>
            </a:r>
            <a:endParaRPr lang="en-US" sz="1800" dirty="0"/>
          </a:p>
        </p:txBody>
      </p:sp>
      <p:sp>
        <p:nvSpPr>
          <p:cNvPr id="8" name="Text 6"/>
          <p:cNvSpPr/>
          <p:nvPr/>
        </p:nvSpPr>
        <p:spPr>
          <a:xfrm>
            <a:off x="1690275" y="4787411"/>
            <a:ext cx="768463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refuse-to-compare across asset classes</a:t>
            </a:r>
            <a:endParaRPr lang="en-US" sz="1800" dirty="0"/>
          </a:p>
        </p:txBody>
      </p:sp>
      <p:sp>
        <p:nvSpPr>
          <p:cNvPr id="9" name="Text 7"/>
          <p:cNvSpPr/>
          <p:nvPr/>
        </p:nvSpPr>
        <p:spPr>
          <a:xfrm>
            <a:off x="1690275" y="5187385"/>
            <a:ext cx="7684635"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solidFill>
                <a:latin typeface="Arial" pitchFamily="34" charset="0"/>
                <a:ea typeface="Arial" pitchFamily="34" charset="-122"/>
                <a:cs typeface="Arial" pitchFamily="34" charset="-120"/>
              </a:rPr>
              <a:t>file-level provenance</a:t>
            </a:r>
            <a:endParaRPr lang="en-US" sz="1800" dirty="0"/>
          </a:p>
        </p:txBody>
      </p:sp>
      <p:sp>
        <p:nvSpPr>
          <p:cNvPr id="10" name="Shape 8"/>
          <p:cNvSpPr/>
          <p:nvPr/>
        </p:nvSpPr>
        <p:spPr>
          <a:xfrm>
            <a:off x="9334402" y="3200447"/>
            <a:ext cx="7810587" cy="2553206"/>
          </a:xfrm>
          <a:prstGeom prst="rect">
            <a:avLst/>
          </a:prstGeom>
          <a:solidFill>
            <a:srgbClr val="F3F2F2">
              <a:alpha val="72000"/>
            </a:srgbClr>
          </a:solidFill>
          <a:ln w="13912">
            <a:solidFill>
              <a:srgbClr val="201E1E">
                <a:alpha val="29000"/>
              </a:srgbClr>
            </a:solidFill>
            <a:prstDash val="dash"/>
          </a:ln>
        </p:spPr>
      </p:sp>
      <p:sp>
        <p:nvSpPr>
          <p:cNvPr id="11" name="Text 9"/>
          <p:cNvSpPr/>
          <p:nvPr/>
        </p:nvSpPr>
        <p:spPr>
          <a:xfrm>
            <a:off x="9634057" y="3480973"/>
            <a:ext cx="7932405" cy="392316"/>
          </a:xfrm>
          <a:prstGeom prst="rect">
            <a:avLst/>
          </a:prstGeom>
          <a:noFill/>
          <a:ln/>
        </p:spPr>
        <p:txBody>
          <a:bodyPr wrap="square" lIns="25400" tIns="25400" rIns="25400" bIns="25400" rtlCol="0" anchor="t">
            <a:normAutofit/>
          </a:bodyPr>
          <a:lstStyle/>
          <a:p>
            <a:pPr algn="l" indent="0" marL="0">
              <a:lnSpc>
                <a:spcPct val="134048"/>
              </a:lnSpc>
              <a:buNone/>
            </a:pPr>
            <a:r>
              <a:rPr lang="en-US" sz="1800" b="1" spc="108" kern="0" dirty="0">
                <a:solidFill>
                  <a:srgbClr val="211D1D">
                    <a:alpha val="40000"/>
                  </a:srgbClr>
                </a:solidFill>
                <a:latin typeface="Arial" pitchFamily="34" charset="0"/>
                <a:ea typeface="Arial" pitchFamily="34" charset="-122"/>
                <a:cs typeface="Arial" pitchFamily="34" charset="-120"/>
              </a:rPr>
              <a:t>NOT YET — TO ADD</a:t>
            </a:r>
            <a:endParaRPr lang="en-US" sz="1800" dirty="0"/>
          </a:p>
        </p:txBody>
      </p:sp>
      <p:sp>
        <p:nvSpPr>
          <p:cNvPr id="12" name="Text 10"/>
          <p:cNvSpPr/>
          <p:nvPr/>
        </p:nvSpPr>
        <p:spPr>
          <a:xfrm>
            <a:off x="9474037" y="3987462"/>
            <a:ext cx="7447497" cy="1523766"/>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E1D">
                    <a:alpha val="72000"/>
                  </a:srgbClr>
                </a:solidFill>
                <a:latin typeface="Arial" pitchFamily="34" charset="0"/>
                <a:ea typeface="Arial" pitchFamily="34" charset="-122"/>
                <a:cs typeface="Arial" pitchFamily="34" charset="-120"/>
              </a:rPr>
              <a:t>a durable store</a:t>
            </a:r>
            <a:endParaRPr lang="en-US" sz="1800" dirty="0"/>
          </a:p>
          <a:p>
            <a:pPr algn="l" indent="0" marL="0">
              <a:lnSpc>
                <a:spcPct val="108103"/>
              </a:lnSpc>
              <a:buNone/>
            </a:pPr>
            <a:r>
              <a:rPr lang="en-US" sz="1800" dirty="0">
                <a:solidFill>
                  <a:srgbClr val="201E1D">
                    <a:alpha val="72000"/>
                  </a:srgbClr>
                </a:solidFill>
                <a:latin typeface="Arial" pitchFamily="34" charset="0"/>
                <a:ea typeface="Arial" pitchFamily="34" charset="-122"/>
                <a:cs typeface="Arial" pitchFamily="34" charset="-120"/>
              </a:rPr>
              <a:t>a job queue + retries</a:t>
            </a:r>
            <a:endParaRPr lang="en-US" sz="1800" dirty="0"/>
          </a:p>
          <a:p>
            <a:pPr algn="l" indent="0" marL="0">
              <a:lnSpc>
                <a:spcPct val="108103"/>
              </a:lnSpc>
              <a:buNone/>
            </a:pPr>
            <a:r>
              <a:rPr lang="en-US" sz="1800" dirty="0">
                <a:solidFill>
                  <a:srgbClr val="201E1D">
                    <a:alpha val="72000"/>
                  </a:srgbClr>
                </a:solidFill>
                <a:latin typeface="Arial" pitchFamily="34" charset="0"/>
                <a:ea typeface="Arial" pitchFamily="34" charset="-122"/>
                <a:cs typeface="Arial" pitchFamily="34" charset="-120"/>
              </a:rPr>
              <a:t>the redundant ensemble</a:t>
            </a:r>
            <a:endParaRPr lang="en-US" sz="1800" dirty="0"/>
          </a:p>
          <a:p>
            <a:pPr algn="l" indent="0" marL="0">
              <a:lnSpc>
                <a:spcPct val="108103"/>
              </a:lnSpc>
              <a:buNone/>
            </a:pPr>
            <a:r>
              <a:rPr lang="en-US" sz="1800" dirty="0">
                <a:solidFill>
                  <a:srgbClr val="201E1D">
                    <a:alpha val="72000"/>
                  </a:srgbClr>
                </a:solidFill>
                <a:latin typeface="Arial" pitchFamily="34" charset="0"/>
                <a:ea typeface="Arial" pitchFamily="34" charset="-122"/>
                <a:cs typeface="Arial" pitchFamily="34" charset="-120"/>
              </a:rPr>
              <a:t>multi-tenant cloud</a:t>
            </a:r>
            <a:endParaRPr lang="en-US" sz="1800" dirty="0"/>
          </a:p>
        </p:txBody>
      </p:sp>
      <p:sp>
        <p:nvSpPr>
          <p:cNvPr id="13" name="Shape 11"/>
          <p:cNvSpPr/>
          <p:nvPr/>
        </p:nvSpPr>
        <p:spPr>
          <a:xfrm>
            <a:off x="1142970" y="5982226"/>
            <a:ext cx="2978179" cy="427690"/>
          </a:xfrm>
          <a:prstGeom prst="rect">
            <a:avLst/>
          </a:prstGeom>
          <a:ln w="13912">
            <a:solidFill>
              <a:srgbClr val="EC3013"/>
            </a:solidFill>
            <a:prstDash val="solid"/>
          </a:ln>
        </p:spPr>
      </p:sp>
      <p:sp>
        <p:nvSpPr>
          <p:cNvPr id="14" name="Text 12"/>
          <p:cNvSpPr/>
          <p:nvPr/>
        </p:nvSpPr>
        <p:spPr>
          <a:xfrm>
            <a:off x="1299757" y="6081863"/>
            <a:ext cx="2753950" cy="266516"/>
          </a:xfrm>
          <a:prstGeom prst="rect">
            <a:avLst/>
          </a:prstGeom>
          <a:noFill/>
          <a:ln/>
        </p:spPr>
        <p:txBody>
          <a:bodyPr wrap="square" lIns="25400" tIns="25400" rIns="25400" bIns="25400" rtlCol="0" anchor="ctr">
            <a:normAutofit/>
          </a:bodyPr>
          <a:lstStyle/>
          <a:p>
            <a:pPr algn="l" indent="0" marL="0">
              <a:lnSpc>
                <a:spcPct val="86483"/>
              </a:lnSpc>
              <a:buNone/>
            </a:pPr>
            <a:r>
              <a:rPr lang="en-US" sz="1800" b="1" dirty="0">
                <a:solidFill>
                  <a:srgbClr val="AE1800"/>
                </a:solidFill>
                <a:latin typeface="Arial" pitchFamily="34" charset="0"/>
                <a:ea typeface="Arial" pitchFamily="34" charset="-122"/>
                <a:cs typeface="Arial" pitchFamily="34" charset="-120"/>
              </a:rPr>
              <a:t>prototype, not production</a:t>
            </a:r>
            <a:endParaRPr lang="en-US" sz="1800" dirty="0"/>
          </a:p>
        </p:txBody>
      </p:sp>
      <p:sp>
        <p:nvSpPr>
          <p:cNvPr id="15" name="Text 13"/>
          <p:cNvSpPr/>
          <p:nvPr/>
        </p:nvSpPr>
        <p:spPr>
          <a:xfrm>
            <a:off x="1142970" y="6938904"/>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The 24 PDFs are synthetic test fixtures, not real filings. The redundant ensemble is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designed, not built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 “to add,” never present-tense.</a:t>
            </a:r>
            <a:endParaRPr lang="en-US" sz="1800" dirty="0"/>
          </a:p>
        </p:txBody>
      </p:sp>
      <p:pic>
        <p:nvPicPr>
          <p:cNvPr id="16"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08 · PROTOTYPE → PRODUCTION</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Harden in place first — the cloud is the destination, when it's justified</a:t>
            </a:r>
            <a:endParaRPr lang="en-US" sz="4800" dirty="0"/>
          </a:p>
        </p:txBody>
      </p:sp>
      <p:sp>
        <p:nvSpPr>
          <p:cNvPr id="4" name="Shape 2"/>
          <p:cNvSpPr/>
          <p:nvPr/>
        </p:nvSpPr>
        <p:spPr>
          <a:xfrm>
            <a:off x="1142970" y="3961051"/>
            <a:ext cx="2400281" cy="13912"/>
          </a:xfrm>
          <a:prstGeom prst="rect">
            <a:avLst/>
          </a:prstGeom>
          <a:solidFill>
            <a:srgbClr val="201E1E">
              <a:alpha val="40000"/>
            </a:srgbClr>
          </a:solidFill>
          <a:ln/>
        </p:spPr>
      </p:sp>
      <p:sp>
        <p:nvSpPr>
          <p:cNvPr id="5" name="Shape 3"/>
          <p:cNvSpPr/>
          <p:nvPr/>
        </p:nvSpPr>
        <p:spPr>
          <a:xfrm>
            <a:off x="3543251" y="3961051"/>
            <a:ext cx="6800760" cy="13912"/>
          </a:xfrm>
          <a:prstGeom prst="rect">
            <a:avLst/>
          </a:prstGeom>
          <a:solidFill>
            <a:srgbClr val="201E1E">
              <a:alpha val="40000"/>
            </a:srgbClr>
          </a:solidFill>
          <a:ln/>
        </p:spPr>
      </p:sp>
      <p:sp>
        <p:nvSpPr>
          <p:cNvPr id="6" name="Text 4"/>
          <p:cNvSpPr/>
          <p:nvPr/>
        </p:nvSpPr>
        <p:spPr>
          <a:xfrm>
            <a:off x="3771851" y="3624137"/>
            <a:ext cx="6547583" cy="189421"/>
          </a:xfrm>
          <a:prstGeom prst="rect">
            <a:avLst/>
          </a:prstGeom>
          <a:noFill/>
          <a:ln/>
        </p:spPr>
        <p:txBody>
          <a:bodyPr wrap="square" lIns="25400" tIns="25400" rIns="25400" bIns="25400" rtlCol="0" anchor="ctr">
            <a:normAutofit/>
          </a:bodyPr>
          <a:lstStyle/>
          <a:p>
            <a:pPr algn="l" indent="0" marL="0">
              <a:lnSpc>
                <a:spcPct val="134048"/>
              </a:lnSpc>
              <a:buNone/>
            </a:pPr>
            <a:r>
              <a:rPr lang="en-US" sz="1800" b="1" spc="144" kern="0" dirty="0">
                <a:solidFill>
                  <a:srgbClr val="201E1C">
                    <a:alpha val="60000"/>
                  </a:srgbClr>
                </a:solidFill>
                <a:latin typeface="Arial" pitchFamily="34" charset="0"/>
                <a:ea typeface="Arial" pitchFamily="34" charset="-122"/>
                <a:cs typeface="Arial" pitchFamily="34" charset="-120"/>
              </a:rPr>
              <a:t>OPTION 1 — HARDEN IN PLACE</a:t>
            </a:r>
            <a:endParaRPr lang="en-US" sz="1800" dirty="0"/>
          </a:p>
        </p:txBody>
      </p:sp>
      <p:sp>
        <p:nvSpPr>
          <p:cNvPr id="7" name="Shape 5"/>
          <p:cNvSpPr/>
          <p:nvPr/>
        </p:nvSpPr>
        <p:spPr>
          <a:xfrm>
            <a:off x="10344012" y="3961051"/>
            <a:ext cx="6800869" cy="13912"/>
          </a:xfrm>
          <a:prstGeom prst="rect">
            <a:avLst/>
          </a:prstGeom>
          <a:solidFill>
            <a:srgbClr val="201E1E">
              <a:alpha val="40000"/>
            </a:srgbClr>
          </a:solidFill>
          <a:ln/>
        </p:spPr>
      </p:sp>
      <p:sp>
        <p:nvSpPr>
          <p:cNvPr id="8" name="Text 6"/>
          <p:cNvSpPr/>
          <p:nvPr/>
        </p:nvSpPr>
        <p:spPr>
          <a:xfrm>
            <a:off x="10572612" y="3624137"/>
            <a:ext cx="6776295" cy="189421"/>
          </a:xfrm>
          <a:prstGeom prst="rect">
            <a:avLst/>
          </a:prstGeom>
          <a:noFill/>
          <a:ln/>
        </p:spPr>
        <p:txBody>
          <a:bodyPr wrap="square" lIns="25400" tIns="25400" rIns="25400" bIns="25400" rtlCol="0" anchor="ctr">
            <a:normAutofit/>
          </a:bodyPr>
          <a:lstStyle/>
          <a:p>
            <a:pPr algn="l" indent="0" marL="0">
              <a:lnSpc>
                <a:spcPct val="134048"/>
              </a:lnSpc>
              <a:buNone/>
            </a:pPr>
            <a:r>
              <a:rPr lang="en-US" sz="1800" b="1" spc="144" kern="0" dirty="0">
                <a:solidFill>
                  <a:srgbClr val="201E1C">
                    <a:alpha val="60000"/>
                  </a:srgbClr>
                </a:solidFill>
                <a:latin typeface="Arial" pitchFamily="34" charset="0"/>
                <a:ea typeface="Arial" pitchFamily="34" charset="-122"/>
                <a:cs typeface="Arial" pitchFamily="34" charset="-120"/>
              </a:rPr>
              <a:t>OPTION 2 — CLOUD RE-PLATFORM</a:t>
            </a:r>
            <a:endParaRPr lang="en-US" sz="1800" dirty="0"/>
          </a:p>
        </p:txBody>
      </p:sp>
      <p:sp>
        <p:nvSpPr>
          <p:cNvPr id="9" name="Shape 7"/>
          <p:cNvSpPr/>
          <p:nvPr/>
        </p:nvSpPr>
        <p:spPr>
          <a:xfrm>
            <a:off x="1142970" y="4889904"/>
            <a:ext cx="2400281" cy="9525"/>
          </a:xfrm>
          <a:prstGeom prst="rect">
            <a:avLst/>
          </a:prstGeom>
          <a:solidFill>
            <a:srgbClr val="201E1E">
              <a:alpha val="40000"/>
            </a:srgbClr>
          </a:solidFill>
          <a:ln/>
        </p:spPr>
      </p:sp>
      <p:sp>
        <p:nvSpPr>
          <p:cNvPr id="10" name="Text 8"/>
          <p:cNvSpPr/>
          <p:nvPr/>
        </p:nvSpPr>
        <p:spPr>
          <a:xfrm>
            <a:off x="1142970" y="4175262"/>
            <a:ext cx="2247881" cy="552443"/>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C">
                    <a:alpha val="60000"/>
                  </a:srgbClr>
                </a:solidFill>
                <a:latin typeface="Arial" pitchFamily="34" charset="0"/>
                <a:ea typeface="Arial" pitchFamily="34" charset="-122"/>
                <a:cs typeface="Arial" pitchFamily="34" charset="-120"/>
              </a:rPr>
              <a:t>What it is</a:t>
            </a:r>
            <a:endParaRPr lang="en-US" sz="1800" dirty="0"/>
          </a:p>
        </p:txBody>
      </p:sp>
      <p:sp>
        <p:nvSpPr>
          <p:cNvPr id="11" name="Shape 9"/>
          <p:cNvSpPr/>
          <p:nvPr/>
        </p:nvSpPr>
        <p:spPr>
          <a:xfrm>
            <a:off x="3543251" y="4889904"/>
            <a:ext cx="6800760" cy="9525"/>
          </a:xfrm>
          <a:prstGeom prst="rect">
            <a:avLst/>
          </a:prstGeom>
          <a:solidFill>
            <a:srgbClr val="201E1E">
              <a:alpha val="40000"/>
            </a:srgbClr>
          </a:solidFill>
          <a:ln/>
        </p:spPr>
      </p:sp>
      <p:sp>
        <p:nvSpPr>
          <p:cNvPr id="12" name="Text 10"/>
          <p:cNvSpPr/>
          <p:nvPr/>
        </p:nvSpPr>
        <p:spPr>
          <a:xfrm>
            <a:off x="3771851" y="4175262"/>
            <a:ext cx="6547583" cy="552443"/>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Keep the engine; add a durable store + job queue/retries + the redundant ensemble; stay offline/on-prem</a:t>
            </a:r>
            <a:endParaRPr lang="en-US" sz="1800" dirty="0"/>
          </a:p>
        </p:txBody>
      </p:sp>
      <p:sp>
        <p:nvSpPr>
          <p:cNvPr id="13" name="Shape 11"/>
          <p:cNvSpPr/>
          <p:nvPr/>
        </p:nvSpPr>
        <p:spPr>
          <a:xfrm>
            <a:off x="10344012" y="4889904"/>
            <a:ext cx="6800869" cy="9525"/>
          </a:xfrm>
          <a:prstGeom prst="rect">
            <a:avLst/>
          </a:prstGeom>
          <a:solidFill>
            <a:srgbClr val="201E1E">
              <a:alpha val="40000"/>
            </a:srgbClr>
          </a:solidFill>
          <a:ln/>
        </p:spPr>
      </p:sp>
      <p:sp>
        <p:nvSpPr>
          <p:cNvPr id="14" name="Text 12"/>
          <p:cNvSpPr/>
          <p:nvPr/>
        </p:nvSpPr>
        <p:spPr>
          <a:xfrm>
            <a:off x="10572612" y="4175262"/>
            <a:ext cx="6776295" cy="552443"/>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Object storage → file event → queue fans out → managed workers → DB → publish; auto-scales for bursts</a:t>
            </a:r>
            <a:endParaRPr lang="en-US" sz="1800" dirty="0"/>
          </a:p>
        </p:txBody>
      </p:sp>
      <p:sp>
        <p:nvSpPr>
          <p:cNvPr id="15" name="Shape 13"/>
          <p:cNvSpPr/>
          <p:nvPr/>
        </p:nvSpPr>
        <p:spPr>
          <a:xfrm>
            <a:off x="1142970" y="5454107"/>
            <a:ext cx="2400281" cy="9525"/>
          </a:xfrm>
          <a:prstGeom prst="rect">
            <a:avLst/>
          </a:prstGeom>
          <a:solidFill>
            <a:srgbClr val="201E1E">
              <a:alpha val="40000"/>
            </a:srgbClr>
          </a:solidFill>
          <a:ln/>
        </p:spPr>
      </p:sp>
      <p:sp>
        <p:nvSpPr>
          <p:cNvPr id="16" name="Text 14"/>
          <p:cNvSpPr/>
          <p:nvPr/>
        </p:nvSpPr>
        <p:spPr>
          <a:xfrm>
            <a:off x="1142970" y="5097160"/>
            <a:ext cx="2247881"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C">
                    <a:alpha val="60000"/>
                  </a:srgbClr>
                </a:solidFill>
                <a:latin typeface="Arial" pitchFamily="34" charset="0"/>
                <a:ea typeface="Arial" pitchFamily="34" charset="-122"/>
                <a:cs typeface="Arial" pitchFamily="34" charset="-120"/>
              </a:rPr>
              <a:t>Reliability</a:t>
            </a:r>
            <a:endParaRPr lang="en-US" sz="1800" dirty="0"/>
          </a:p>
        </p:txBody>
      </p:sp>
      <p:sp>
        <p:nvSpPr>
          <p:cNvPr id="17" name="Shape 15"/>
          <p:cNvSpPr/>
          <p:nvPr/>
        </p:nvSpPr>
        <p:spPr>
          <a:xfrm>
            <a:off x="3543251" y="5454107"/>
            <a:ext cx="6800760" cy="9525"/>
          </a:xfrm>
          <a:prstGeom prst="rect">
            <a:avLst/>
          </a:prstGeom>
          <a:solidFill>
            <a:srgbClr val="201E1E">
              <a:alpha val="40000"/>
            </a:srgbClr>
          </a:solidFill>
          <a:ln/>
        </p:spPr>
      </p:sp>
      <p:sp>
        <p:nvSpPr>
          <p:cNvPr id="18" name="Text 16"/>
          <p:cNvSpPr/>
          <p:nvPr/>
        </p:nvSpPr>
        <p:spPr>
          <a:xfrm>
            <a:off x="3771851" y="5097160"/>
            <a:ext cx="6547583"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High gain fast — the ensemble is the biggest single lever</a:t>
            </a:r>
            <a:endParaRPr lang="en-US" sz="1800" dirty="0"/>
          </a:p>
        </p:txBody>
      </p:sp>
      <p:sp>
        <p:nvSpPr>
          <p:cNvPr id="19" name="Shape 17"/>
          <p:cNvSpPr/>
          <p:nvPr/>
        </p:nvSpPr>
        <p:spPr>
          <a:xfrm>
            <a:off x="10344012" y="5454107"/>
            <a:ext cx="6800869" cy="9525"/>
          </a:xfrm>
          <a:prstGeom prst="rect">
            <a:avLst/>
          </a:prstGeom>
          <a:solidFill>
            <a:srgbClr val="201E1E">
              <a:alpha val="40000"/>
            </a:srgbClr>
          </a:solidFill>
          <a:ln/>
        </p:spPr>
      </p:sp>
      <p:sp>
        <p:nvSpPr>
          <p:cNvPr id="20" name="Text 18"/>
          <p:cNvSpPr/>
          <p:nvPr/>
        </p:nvSpPr>
        <p:spPr>
          <a:xfrm>
            <a:off x="10572612" y="5097160"/>
            <a:ext cx="6776295"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Highest ceiling — but only after real hardening + monitoring</a:t>
            </a:r>
            <a:endParaRPr lang="en-US" sz="1800" dirty="0"/>
          </a:p>
        </p:txBody>
      </p:sp>
      <p:sp>
        <p:nvSpPr>
          <p:cNvPr id="21" name="Shape 19"/>
          <p:cNvSpPr/>
          <p:nvPr/>
        </p:nvSpPr>
        <p:spPr>
          <a:xfrm>
            <a:off x="1142970" y="6018310"/>
            <a:ext cx="2400281" cy="9525"/>
          </a:xfrm>
          <a:prstGeom prst="rect">
            <a:avLst/>
          </a:prstGeom>
          <a:solidFill>
            <a:srgbClr val="201E1E">
              <a:alpha val="40000"/>
            </a:srgbClr>
          </a:solidFill>
          <a:ln/>
        </p:spPr>
      </p:sp>
      <p:sp>
        <p:nvSpPr>
          <p:cNvPr id="22" name="Text 20"/>
          <p:cNvSpPr/>
          <p:nvPr/>
        </p:nvSpPr>
        <p:spPr>
          <a:xfrm>
            <a:off x="1142970" y="5661362"/>
            <a:ext cx="2247881"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C">
                    <a:alpha val="60000"/>
                  </a:srgbClr>
                </a:solidFill>
                <a:latin typeface="Arial" pitchFamily="34" charset="0"/>
                <a:ea typeface="Arial" pitchFamily="34" charset="-122"/>
                <a:cs typeface="Arial" pitchFamily="34" charset="-120"/>
              </a:rPr>
              <a:t>Risk</a:t>
            </a:r>
            <a:endParaRPr lang="en-US" sz="1800" dirty="0"/>
          </a:p>
        </p:txBody>
      </p:sp>
      <p:sp>
        <p:nvSpPr>
          <p:cNvPr id="23" name="Shape 21"/>
          <p:cNvSpPr/>
          <p:nvPr/>
        </p:nvSpPr>
        <p:spPr>
          <a:xfrm>
            <a:off x="3543251" y="6018310"/>
            <a:ext cx="6800760" cy="9525"/>
          </a:xfrm>
          <a:prstGeom prst="rect">
            <a:avLst/>
          </a:prstGeom>
          <a:solidFill>
            <a:srgbClr val="201E1E">
              <a:alpha val="40000"/>
            </a:srgbClr>
          </a:solidFill>
          <a:ln/>
        </p:spPr>
      </p:sp>
      <p:sp>
        <p:nvSpPr>
          <p:cNvPr id="24" name="Text 22"/>
          <p:cNvSpPr/>
          <p:nvPr/>
        </p:nvSpPr>
        <p:spPr>
          <a:xfrm>
            <a:off x="3771851" y="5661362"/>
            <a:ext cx="6547583"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201E1D"/>
                </a:solidFill>
                <a:latin typeface="Arial" pitchFamily="34" charset="0"/>
                <a:ea typeface="Arial" pitchFamily="34" charset="-122"/>
                <a:cs typeface="Arial" pitchFamily="34" charset="-120"/>
              </a:rPr>
              <a:t>Low — additive + reversible; deterministic core stays a canary</a:t>
            </a:r>
            <a:endParaRPr lang="en-US" sz="1800" dirty="0"/>
          </a:p>
        </p:txBody>
      </p:sp>
      <p:sp>
        <p:nvSpPr>
          <p:cNvPr id="25" name="Shape 23"/>
          <p:cNvSpPr/>
          <p:nvPr/>
        </p:nvSpPr>
        <p:spPr>
          <a:xfrm>
            <a:off x="10344012" y="6018310"/>
            <a:ext cx="6800869" cy="9525"/>
          </a:xfrm>
          <a:prstGeom prst="rect">
            <a:avLst/>
          </a:prstGeom>
          <a:solidFill>
            <a:srgbClr val="201E1E">
              <a:alpha val="40000"/>
            </a:srgbClr>
          </a:solidFill>
          <a:ln/>
        </p:spPr>
      </p:sp>
      <p:sp>
        <p:nvSpPr>
          <p:cNvPr id="26" name="Text 24"/>
          <p:cNvSpPr/>
          <p:nvPr/>
        </p:nvSpPr>
        <p:spPr>
          <a:xfrm>
            <a:off x="10572612" y="5661362"/>
            <a:ext cx="6776295" cy="194748"/>
          </a:xfrm>
          <a:prstGeom prst="rect">
            <a:avLst/>
          </a:prstGeom>
          <a:noFill/>
          <a:ln/>
        </p:spPr>
        <p:txBody>
          <a:bodyPr wrap="square" lIns="25400" tIns="25400" rIns="25400" bIns="25400" rtlCol="0" anchor="ctr">
            <a:normAutofit/>
          </a:bodyPr>
          <a:lstStyle/>
          <a:p>
            <a:pPr algn="l" indent="0" marL="0">
              <a:lnSpc>
                <a:spcPct val="134048"/>
              </a:lnSpc>
              <a:buNone/>
            </a:pPr>
            <a:r>
              <a:rPr lang="en-US" sz="1800" dirty="0">
                <a:solidFill>
                  <a:srgbClr val="AE1800"/>
                </a:solidFill>
                <a:latin typeface="Arial" pitchFamily="34" charset="0"/>
                <a:ea typeface="Arial" pitchFamily="34" charset="-122"/>
                <a:cs typeface="Arial" pitchFamily="34" charset="-120"/>
              </a:rPr>
              <a:t>Med–High — data leaves on-prem (a data-residency question)</a:t>
            </a:r>
            <a:endParaRPr lang="en-US" sz="1800" dirty="0"/>
          </a:p>
        </p:txBody>
      </p:sp>
      <p:sp>
        <p:nvSpPr>
          <p:cNvPr id="27" name="Text 25"/>
          <p:cNvSpPr/>
          <p:nvPr/>
        </p:nvSpPr>
        <p:spPr>
          <a:xfrm>
            <a:off x="1142970" y="6557732"/>
            <a:ext cx="14716078" cy="518830"/>
          </a:xfrm>
          <a:prstGeom prst="rect">
            <a:avLst/>
          </a:prstGeom>
          <a:noFill/>
          <a:ln/>
        </p:spPr>
        <p:txBody>
          <a:bodyPr wrap="square" lIns="25400" tIns="25400" rIns="25400" bIns="25400" rtlCol="0" anchor="t">
            <a:normAutofit/>
          </a:bodyPr>
          <a:lstStyle/>
          <a:p>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Do Option 1 first; Option 2 is the destination.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The ensemble inside Option 1 is designed, not built — “to add.” Depth in iv-system-design-and-scaling.md.</a:t>
            </a:r>
            <a:endParaRPr lang="en-US" sz="1800" dirty="0"/>
          </a:p>
        </p:txBody>
      </p:sp>
      <p:pic>
        <p:nvPicPr>
          <p:cNvPr id="28"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09 · THE HARD PART WASN'T THE CODE</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Most of my time wasn't coding — it was understanding your world</a:t>
            </a:r>
            <a:endParaRPr lang="en-US" sz="4800" dirty="0"/>
          </a:p>
        </p:txBody>
      </p:sp>
      <p:sp>
        <p:nvSpPr>
          <p:cNvPr id="4" name="Shape 2"/>
          <p:cNvSpPr/>
          <p:nvPr/>
        </p:nvSpPr>
        <p:spPr>
          <a:xfrm>
            <a:off x="1142970" y="3886273"/>
            <a:ext cx="16002019" cy="1489470"/>
          </a:xfrm>
          <a:prstGeom prst="rect">
            <a:avLst/>
          </a:prstGeom>
          <a:ln w="13912">
            <a:solidFill>
              <a:srgbClr val="201E1D"/>
            </a:solidFill>
            <a:prstDash val="solid"/>
          </a:ln>
        </p:spPr>
      </p:sp>
      <p:sp>
        <p:nvSpPr>
          <p:cNvPr id="5" name="Shape 3"/>
          <p:cNvSpPr/>
          <p:nvPr/>
        </p:nvSpPr>
        <p:spPr>
          <a:xfrm>
            <a:off x="1156882" y="3900185"/>
            <a:ext cx="10361945" cy="1461646"/>
          </a:xfrm>
          <a:prstGeom prst="rect">
            <a:avLst/>
          </a:prstGeom>
          <a:solidFill>
            <a:srgbClr val="EC3013"/>
          </a:solidFill>
          <a:ln/>
        </p:spPr>
      </p:sp>
      <p:sp>
        <p:nvSpPr>
          <p:cNvPr id="6" name="Shape 4"/>
          <p:cNvSpPr/>
          <p:nvPr/>
        </p:nvSpPr>
        <p:spPr>
          <a:xfrm>
            <a:off x="1156882" y="5354875"/>
            <a:ext cx="10361945" cy="9525"/>
          </a:xfrm>
          <a:prstGeom prst="rect">
            <a:avLst/>
          </a:prstGeom>
          <a:solidFill>
            <a:srgbClr val="201E1E">
              <a:alpha val="40000"/>
            </a:srgbClr>
          </a:solidFill>
          <a:ln/>
        </p:spPr>
      </p:sp>
      <p:sp>
        <p:nvSpPr>
          <p:cNvPr id="7" name="Shape 5"/>
          <p:cNvSpPr/>
          <p:nvPr/>
        </p:nvSpPr>
        <p:spPr>
          <a:xfrm>
            <a:off x="1156882" y="3900185"/>
            <a:ext cx="10361945" cy="9525"/>
          </a:xfrm>
          <a:prstGeom prst="rect">
            <a:avLst/>
          </a:prstGeom>
          <a:solidFill>
            <a:srgbClr val="201E1E">
              <a:alpha val="40000"/>
            </a:srgbClr>
          </a:solidFill>
          <a:ln/>
        </p:spPr>
      </p:sp>
      <p:sp>
        <p:nvSpPr>
          <p:cNvPr id="8" name="Shape 6"/>
          <p:cNvSpPr/>
          <p:nvPr/>
        </p:nvSpPr>
        <p:spPr>
          <a:xfrm>
            <a:off x="1156882" y="3900185"/>
            <a:ext cx="9525" cy="1461646"/>
          </a:xfrm>
          <a:prstGeom prst="rect">
            <a:avLst/>
          </a:prstGeom>
          <a:solidFill>
            <a:srgbClr val="201E1E">
              <a:alpha val="40000"/>
            </a:srgbClr>
          </a:solidFill>
          <a:ln/>
        </p:spPr>
      </p:sp>
      <p:sp>
        <p:nvSpPr>
          <p:cNvPr id="9" name="Shape 7"/>
          <p:cNvSpPr/>
          <p:nvPr/>
        </p:nvSpPr>
        <p:spPr>
          <a:xfrm>
            <a:off x="11504916" y="3900185"/>
            <a:ext cx="13912" cy="1461646"/>
          </a:xfrm>
          <a:prstGeom prst="rect">
            <a:avLst/>
          </a:prstGeom>
          <a:solidFill>
            <a:srgbClr val="201E1D"/>
          </a:solidFill>
          <a:ln/>
        </p:spPr>
      </p:sp>
      <p:sp>
        <p:nvSpPr>
          <p:cNvPr id="10" name="Text 8"/>
          <p:cNvSpPr/>
          <p:nvPr/>
        </p:nvSpPr>
        <p:spPr>
          <a:xfrm>
            <a:off x="1430452" y="4154734"/>
            <a:ext cx="10788635" cy="381013"/>
          </a:xfrm>
          <a:prstGeom prst="rect">
            <a:avLst/>
          </a:prstGeom>
          <a:noFill/>
          <a:ln/>
        </p:spPr>
        <p:txBody>
          <a:bodyPr wrap="square" lIns="25400" tIns="25400" rIns="25400" bIns="25400" rtlCol="0" anchor="t">
            <a:normAutofit/>
          </a:bodyPr>
          <a:lstStyle/>
          <a:p>
            <a:pPr algn="l" indent="0" marL="0">
              <a:lnSpc>
                <a:spcPct val="86483"/>
              </a:lnSpc>
              <a:buNone/>
            </a:pPr>
            <a:r>
              <a:rPr lang="en-US" sz="2700" b="1" dirty="0">
                <a:solidFill>
                  <a:srgbClr val="F3F2F2"/>
                </a:solidFill>
                <a:latin typeface="Arial" pitchFamily="34" charset="0"/>
                <a:ea typeface="Arial" pitchFamily="34" charset="-122"/>
                <a:cs typeface="Arial" pitchFamily="34" charset="-120"/>
              </a:rPr>
              <a:t>~70%</a:t>
            </a:r>
            <a:endParaRPr lang="en-US" sz="2700" dirty="0"/>
          </a:p>
        </p:txBody>
      </p:sp>
      <p:sp>
        <p:nvSpPr>
          <p:cNvPr id="11" name="Text 9"/>
          <p:cNvSpPr/>
          <p:nvPr/>
        </p:nvSpPr>
        <p:spPr>
          <a:xfrm>
            <a:off x="1430452" y="4573838"/>
            <a:ext cx="10102086" cy="571544"/>
          </a:xfrm>
          <a:prstGeom prst="rect">
            <a:avLst/>
          </a:prstGeom>
          <a:noFill/>
          <a:ln/>
        </p:spPr>
        <p:txBody>
          <a:bodyPr wrap="square" lIns="25400" tIns="25400" rIns="25400" bIns="25400" rtlCol="0" anchor="t">
            <a:normAutofit/>
          </a:bodyPr>
          <a:lstStyle/>
          <a:p>
            <a:pPr algn="l" indent="0" marL="0">
              <a:lnSpc>
                <a:spcPct val="100896"/>
              </a:lnSpc>
              <a:buNone/>
            </a:pPr>
            <a:r>
              <a:rPr lang="en-US" sz="1800" b="1" dirty="0">
                <a:solidFill>
                  <a:srgbClr val="F3F2F2"/>
                </a:solidFill>
                <a:latin typeface="Arial" pitchFamily="34" charset="0"/>
                <a:ea typeface="Arial" pitchFamily="34" charset="-122"/>
                <a:cs typeface="Arial" pitchFamily="34" charset="-120"/>
              </a:rPr>
              <a:t>Understand your world </a:t>
            </a:r>
            <a:pPr algn="l" indent="0" marL="0">
              <a:lnSpc>
                <a:spcPct val="100896"/>
              </a:lnSpc>
              <a:buNone/>
            </a:pPr>
            <a:r>
              <a:rPr lang="en-US" sz="1800" dirty="0">
                <a:solidFill>
                  <a:srgbClr val="F3F2F2"/>
                </a:solidFill>
                <a:latin typeface="Arial" pitchFamily="34" charset="0"/>
                <a:ea typeface="Arial" pitchFamily="34" charset="-122"/>
                <a:cs typeface="Arial" pitchFamily="34" charset="-120"/>
              </a:rPr>
              <a:t>— Sagard · VC/PE/private credit · the personas · how Ops monitors via the Q-reports</a:t>
            </a:r>
            <a:endParaRPr lang="en-US" sz="1800" dirty="0"/>
          </a:p>
        </p:txBody>
      </p:sp>
      <p:sp>
        <p:nvSpPr>
          <p:cNvPr id="12" name="Shape 10"/>
          <p:cNvSpPr/>
          <p:nvPr/>
        </p:nvSpPr>
        <p:spPr>
          <a:xfrm>
            <a:off x="11518827" y="3900185"/>
            <a:ext cx="1370238" cy="1461646"/>
          </a:xfrm>
          <a:prstGeom prst="rect">
            <a:avLst/>
          </a:prstGeom>
          <a:solidFill>
            <a:srgbClr val="EAE9E9"/>
          </a:solidFill>
          <a:ln/>
        </p:spPr>
      </p:sp>
      <p:sp>
        <p:nvSpPr>
          <p:cNvPr id="13" name="Shape 11"/>
          <p:cNvSpPr/>
          <p:nvPr/>
        </p:nvSpPr>
        <p:spPr>
          <a:xfrm>
            <a:off x="11518827" y="5354875"/>
            <a:ext cx="1370238" cy="9525"/>
          </a:xfrm>
          <a:prstGeom prst="rect">
            <a:avLst/>
          </a:prstGeom>
          <a:solidFill>
            <a:srgbClr val="201E1E">
              <a:alpha val="40000"/>
            </a:srgbClr>
          </a:solidFill>
          <a:ln/>
        </p:spPr>
      </p:sp>
      <p:sp>
        <p:nvSpPr>
          <p:cNvPr id="14" name="Shape 12"/>
          <p:cNvSpPr/>
          <p:nvPr/>
        </p:nvSpPr>
        <p:spPr>
          <a:xfrm>
            <a:off x="11518827" y="3900185"/>
            <a:ext cx="1370238" cy="9525"/>
          </a:xfrm>
          <a:prstGeom prst="rect">
            <a:avLst/>
          </a:prstGeom>
          <a:solidFill>
            <a:srgbClr val="201E1E">
              <a:alpha val="40000"/>
            </a:srgbClr>
          </a:solidFill>
          <a:ln/>
        </p:spPr>
      </p:sp>
      <p:sp>
        <p:nvSpPr>
          <p:cNvPr id="15" name="Shape 13"/>
          <p:cNvSpPr/>
          <p:nvPr/>
        </p:nvSpPr>
        <p:spPr>
          <a:xfrm>
            <a:off x="11518827" y="3900185"/>
            <a:ext cx="9525" cy="1461646"/>
          </a:xfrm>
          <a:prstGeom prst="rect">
            <a:avLst/>
          </a:prstGeom>
          <a:solidFill>
            <a:srgbClr val="201E1E">
              <a:alpha val="40000"/>
            </a:srgbClr>
          </a:solidFill>
          <a:ln/>
        </p:spPr>
      </p:sp>
      <p:sp>
        <p:nvSpPr>
          <p:cNvPr id="16" name="Shape 14"/>
          <p:cNvSpPr/>
          <p:nvPr/>
        </p:nvSpPr>
        <p:spPr>
          <a:xfrm>
            <a:off x="12875153" y="3900185"/>
            <a:ext cx="13912" cy="1461646"/>
          </a:xfrm>
          <a:prstGeom prst="rect">
            <a:avLst/>
          </a:prstGeom>
          <a:solidFill>
            <a:srgbClr val="201E1D"/>
          </a:solidFill>
          <a:ln/>
        </p:spPr>
      </p:sp>
      <p:sp>
        <p:nvSpPr>
          <p:cNvPr id="17" name="Text 15"/>
          <p:cNvSpPr/>
          <p:nvPr/>
        </p:nvSpPr>
        <p:spPr>
          <a:xfrm>
            <a:off x="11640015" y="4497647"/>
            <a:ext cx="1197107"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dirty="0">
                <a:solidFill>
                  <a:srgbClr val="201E1D"/>
                </a:solidFill>
                <a:latin typeface="Arial" pitchFamily="34" charset="0"/>
                <a:ea typeface="Arial" pitchFamily="34" charset="-122"/>
                <a:cs typeface="Arial" pitchFamily="34" charset="-120"/>
              </a:rPr>
              <a:t>Scope</a:t>
            </a:r>
            <a:endParaRPr lang="en-US" sz="1800" dirty="0"/>
          </a:p>
        </p:txBody>
      </p:sp>
      <p:sp>
        <p:nvSpPr>
          <p:cNvPr id="18" name="Shape 16"/>
          <p:cNvSpPr/>
          <p:nvPr/>
        </p:nvSpPr>
        <p:spPr>
          <a:xfrm>
            <a:off x="12889066" y="3900185"/>
            <a:ext cx="3203925" cy="1461646"/>
          </a:xfrm>
          <a:prstGeom prst="rect">
            <a:avLst/>
          </a:prstGeom>
          <a:solidFill>
            <a:srgbClr val="201E1D"/>
          </a:solidFill>
          <a:ln/>
        </p:spPr>
      </p:sp>
      <p:sp>
        <p:nvSpPr>
          <p:cNvPr id="19" name="Shape 17"/>
          <p:cNvSpPr/>
          <p:nvPr/>
        </p:nvSpPr>
        <p:spPr>
          <a:xfrm>
            <a:off x="12889066" y="5354875"/>
            <a:ext cx="3203925" cy="9525"/>
          </a:xfrm>
          <a:prstGeom prst="rect">
            <a:avLst/>
          </a:prstGeom>
          <a:solidFill>
            <a:srgbClr val="201E1E">
              <a:alpha val="40000"/>
            </a:srgbClr>
          </a:solidFill>
          <a:ln/>
        </p:spPr>
      </p:sp>
      <p:sp>
        <p:nvSpPr>
          <p:cNvPr id="20" name="Shape 18"/>
          <p:cNvSpPr/>
          <p:nvPr/>
        </p:nvSpPr>
        <p:spPr>
          <a:xfrm>
            <a:off x="12889066" y="3900185"/>
            <a:ext cx="3203925" cy="9525"/>
          </a:xfrm>
          <a:prstGeom prst="rect">
            <a:avLst/>
          </a:prstGeom>
          <a:solidFill>
            <a:srgbClr val="201E1E">
              <a:alpha val="40000"/>
            </a:srgbClr>
          </a:solidFill>
          <a:ln/>
        </p:spPr>
      </p:sp>
      <p:sp>
        <p:nvSpPr>
          <p:cNvPr id="21" name="Shape 19"/>
          <p:cNvSpPr/>
          <p:nvPr/>
        </p:nvSpPr>
        <p:spPr>
          <a:xfrm>
            <a:off x="12889066" y="3900185"/>
            <a:ext cx="9525" cy="1461646"/>
          </a:xfrm>
          <a:prstGeom prst="rect">
            <a:avLst/>
          </a:prstGeom>
          <a:solidFill>
            <a:srgbClr val="201E1E">
              <a:alpha val="40000"/>
            </a:srgbClr>
          </a:solidFill>
          <a:ln/>
        </p:spPr>
      </p:sp>
      <p:sp>
        <p:nvSpPr>
          <p:cNvPr id="22" name="Shape 20"/>
          <p:cNvSpPr/>
          <p:nvPr/>
        </p:nvSpPr>
        <p:spPr>
          <a:xfrm>
            <a:off x="16079079" y="3900185"/>
            <a:ext cx="13912" cy="1461646"/>
          </a:xfrm>
          <a:prstGeom prst="rect">
            <a:avLst/>
          </a:prstGeom>
          <a:solidFill>
            <a:srgbClr val="201E1D"/>
          </a:solidFill>
          <a:ln/>
        </p:spPr>
      </p:sp>
      <p:sp>
        <p:nvSpPr>
          <p:cNvPr id="23" name="Text 21"/>
          <p:cNvSpPr/>
          <p:nvPr/>
        </p:nvSpPr>
        <p:spPr>
          <a:xfrm>
            <a:off x="13086444" y="4288095"/>
            <a:ext cx="3082433" cy="381013"/>
          </a:xfrm>
          <a:prstGeom prst="rect">
            <a:avLst/>
          </a:prstGeom>
          <a:noFill/>
          <a:ln/>
        </p:spPr>
        <p:txBody>
          <a:bodyPr wrap="square" lIns="25400" tIns="25400" rIns="25400" bIns="25400" rtlCol="0" anchor="t">
            <a:normAutofit/>
          </a:bodyPr>
          <a:lstStyle/>
          <a:p>
            <a:pPr algn="l" indent="0" marL="0">
              <a:lnSpc>
                <a:spcPct val="86483"/>
              </a:lnSpc>
              <a:buNone/>
            </a:pPr>
            <a:r>
              <a:rPr lang="en-US" sz="2700" b="1" dirty="0">
                <a:solidFill>
                  <a:srgbClr val="F3F2F2"/>
                </a:solidFill>
                <a:latin typeface="Arial" pitchFamily="34" charset="0"/>
                <a:ea typeface="Arial" pitchFamily="34" charset="-122"/>
                <a:cs typeface="Arial" pitchFamily="34" charset="-120"/>
              </a:rPr>
              <a:t>~20%</a:t>
            </a:r>
            <a:endParaRPr lang="en-US" sz="2700" dirty="0"/>
          </a:p>
        </p:txBody>
      </p:sp>
      <p:sp>
        <p:nvSpPr>
          <p:cNvPr id="24" name="Text 22"/>
          <p:cNvSpPr/>
          <p:nvPr/>
        </p:nvSpPr>
        <p:spPr>
          <a:xfrm>
            <a:off x="13086444" y="4707199"/>
            <a:ext cx="3082433"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dirty="0">
                <a:solidFill>
                  <a:srgbClr val="F3F2F2"/>
                </a:solidFill>
                <a:latin typeface="Arial" pitchFamily="34" charset="0"/>
                <a:ea typeface="Arial" pitchFamily="34" charset="-122"/>
                <a:cs typeface="Arial" pitchFamily="34" charset="-120"/>
              </a:rPr>
              <a:t>Plan · trade-offs · build</a:t>
            </a:r>
            <a:endParaRPr lang="en-US" sz="1800" dirty="0"/>
          </a:p>
        </p:txBody>
      </p:sp>
      <p:sp>
        <p:nvSpPr>
          <p:cNvPr id="25" name="Shape 23"/>
          <p:cNvSpPr/>
          <p:nvPr/>
        </p:nvSpPr>
        <p:spPr>
          <a:xfrm>
            <a:off x="16092991" y="3900185"/>
            <a:ext cx="1038086" cy="1461646"/>
          </a:xfrm>
          <a:prstGeom prst="rect">
            <a:avLst/>
          </a:prstGeom>
          <a:solidFill>
            <a:srgbClr val="EAE9E9"/>
          </a:solidFill>
          <a:ln/>
        </p:spPr>
      </p:sp>
      <p:sp>
        <p:nvSpPr>
          <p:cNvPr id="26" name="Shape 24"/>
          <p:cNvSpPr/>
          <p:nvPr/>
        </p:nvSpPr>
        <p:spPr>
          <a:xfrm>
            <a:off x="16092991" y="5354875"/>
            <a:ext cx="1038086" cy="9525"/>
          </a:xfrm>
          <a:prstGeom prst="rect">
            <a:avLst/>
          </a:prstGeom>
          <a:solidFill>
            <a:srgbClr val="201E1E">
              <a:alpha val="40000"/>
            </a:srgbClr>
          </a:solidFill>
          <a:ln/>
        </p:spPr>
      </p:sp>
      <p:sp>
        <p:nvSpPr>
          <p:cNvPr id="27" name="Shape 25"/>
          <p:cNvSpPr/>
          <p:nvPr/>
        </p:nvSpPr>
        <p:spPr>
          <a:xfrm>
            <a:off x="16092991" y="3900185"/>
            <a:ext cx="1038086" cy="9525"/>
          </a:xfrm>
          <a:prstGeom prst="rect">
            <a:avLst/>
          </a:prstGeom>
          <a:solidFill>
            <a:srgbClr val="201E1E">
              <a:alpha val="40000"/>
            </a:srgbClr>
          </a:solidFill>
          <a:ln/>
        </p:spPr>
      </p:sp>
      <p:sp>
        <p:nvSpPr>
          <p:cNvPr id="28" name="Shape 26"/>
          <p:cNvSpPr/>
          <p:nvPr/>
        </p:nvSpPr>
        <p:spPr>
          <a:xfrm>
            <a:off x="16092991" y="3900185"/>
            <a:ext cx="9525" cy="1461646"/>
          </a:xfrm>
          <a:prstGeom prst="rect">
            <a:avLst/>
          </a:prstGeom>
          <a:solidFill>
            <a:srgbClr val="201E1E">
              <a:alpha val="40000"/>
            </a:srgbClr>
          </a:solidFill>
          <a:ln/>
        </p:spPr>
      </p:sp>
      <p:sp>
        <p:nvSpPr>
          <p:cNvPr id="29" name="Text 27"/>
          <p:cNvSpPr/>
          <p:nvPr/>
        </p:nvSpPr>
        <p:spPr>
          <a:xfrm>
            <a:off x="16195159" y="4497647"/>
            <a:ext cx="916907" cy="304822"/>
          </a:xfrm>
          <a:prstGeom prst="rect">
            <a:avLst/>
          </a:prstGeom>
          <a:noFill/>
          <a:ln/>
        </p:spPr>
        <p:txBody>
          <a:bodyPr wrap="square" lIns="25400" tIns="25400" rIns="25400" bIns="25400" rtlCol="0" anchor="t">
            <a:normAutofit/>
          </a:bodyPr>
          <a:lstStyle/>
          <a:p>
            <a:pPr algn="l" indent="0" marL="0">
              <a:lnSpc>
                <a:spcPct val="100896"/>
              </a:lnSpc>
              <a:buNone/>
            </a:pPr>
            <a:r>
              <a:rPr lang="en-US" sz="1800" dirty="0">
                <a:solidFill>
                  <a:srgbClr val="201E1D"/>
                </a:solidFill>
                <a:latin typeface="Arial" pitchFamily="34" charset="0"/>
                <a:ea typeface="Arial" pitchFamily="34" charset="-122"/>
                <a:cs typeface="Arial" pitchFamily="34" charset="-120"/>
              </a:rPr>
              <a:t>Slides</a:t>
            </a:r>
            <a:endParaRPr lang="en-US" sz="1800" dirty="0"/>
          </a:p>
        </p:txBody>
      </p:sp>
      <p:sp>
        <p:nvSpPr>
          <p:cNvPr id="30" name="Text 28"/>
          <p:cNvSpPr/>
          <p:nvPr/>
        </p:nvSpPr>
        <p:spPr>
          <a:xfrm>
            <a:off x="1142970" y="5904731"/>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Xavier's own rough estimate — self-reported, not measured. That's the FDE job: point the code at the </a:t>
            </a:r>
            <a:pPr algn="l" indent="0" marL="0">
              <a:lnSpc>
                <a:spcPct val="122517"/>
              </a:lnSpc>
              <a:buNone/>
            </a:pPr>
            <a:r>
              <a:rPr lang="en-US" sz="1800" b="1" dirty="0">
                <a:solidFill>
                  <a:srgbClr val="201E1D"/>
                </a:solidFill>
                <a:latin typeface="Arial" pitchFamily="34" charset="0"/>
                <a:ea typeface="Arial" pitchFamily="34" charset="-122"/>
                <a:cs typeface="Arial" pitchFamily="34" charset="-120"/>
              </a:rPr>
              <a:t>right </a:t>
            </a:r>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problem.</a:t>
            </a:r>
            <a:endParaRPr lang="en-US" sz="1800" dirty="0"/>
          </a:p>
        </p:txBody>
      </p:sp>
      <p:pic>
        <p:nvPicPr>
          <p:cNvPr id="31" name="Image 0" descr="preencoded.png">    </p:cNvPr>
          <p:cNvPicPr>
            <a:picLocks noChangeAspect="1"/>
          </p:cNvPicPr>
          <p:nvPr/>
        </p:nvPicPr>
        <p:blipFill>
          <a:blip r:embed="rId1"/>
          <a:stretch>
            <a:fillRect/>
          </a:stretch>
        </p:blipFill>
        <p:spPr>
          <a:xfrm>
            <a:off x="1142970" y="8987142"/>
            <a:ext cx="3484994" cy="15683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142970" y="528988"/>
            <a:ext cx="17602220"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spc="144" kern="0" dirty="0">
                <a:solidFill>
                  <a:srgbClr val="EC3013"/>
                </a:solidFill>
                <a:latin typeface="Arial" pitchFamily="34" charset="0"/>
                <a:ea typeface="Arial" pitchFamily="34" charset="-122"/>
                <a:cs typeface="Arial" pitchFamily="34" charset="-120"/>
              </a:rPr>
              <a:t>10 · THAT'S CONCORD</a:t>
            </a:r>
            <a:endParaRPr lang="en-US" sz="1800" dirty="0"/>
          </a:p>
        </p:txBody>
      </p:sp>
      <p:sp>
        <p:nvSpPr>
          <p:cNvPr id="3" name="Text 1"/>
          <p:cNvSpPr/>
          <p:nvPr/>
        </p:nvSpPr>
        <p:spPr>
          <a:xfrm>
            <a:off x="1107646" y="1863576"/>
            <a:ext cx="16518463" cy="1146399"/>
          </a:xfrm>
          <a:prstGeom prst="rect">
            <a:avLst/>
          </a:prstGeom>
          <a:noFill/>
          <a:ln/>
        </p:spPr>
        <p:txBody>
          <a:bodyPr wrap="square" lIns="25400" tIns="25400" rIns="25400" bIns="25400" rtlCol="0" anchor="t">
            <a:normAutofit/>
          </a:bodyPr>
          <a:lstStyle/>
          <a:p>
            <a:pPr algn="l" indent="0" marL="0">
              <a:lnSpc>
                <a:spcPct val="97614"/>
              </a:lnSpc>
              <a:buNone/>
            </a:pPr>
            <a:r>
              <a:rPr lang="en-US" sz="4800" b="1" spc="-72" kern="0" dirty="0">
                <a:solidFill>
                  <a:srgbClr val="201E1D"/>
                </a:solidFill>
                <a:latin typeface="Arial" pitchFamily="34" charset="0"/>
                <a:ea typeface="Arial" pitchFamily="34" charset="-122"/>
                <a:cs typeface="Arial" pitchFamily="34" charset="-120"/>
              </a:rPr>
              <a:t>Comparability, provenance, a path forward — now, your questions</a:t>
            </a:r>
            <a:endParaRPr lang="en-US" sz="4800" dirty="0"/>
          </a:p>
        </p:txBody>
      </p:sp>
      <p:sp>
        <p:nvSpPr>
          <p:cNvPr id="4" name="Shape 2"/>
          <p:cNvSpPr/>
          <p:nvPr/>
        </p:nvSpPr>
        <p:spPr>
          <a:xfrm>
            <a:off x="1142970" y="3886273"/>
            <a:ext cx="5130758" cy="2304309"/>
          </a:xfrm>
          <a:prstGeom prst="rect">
            <a:avLst/>
          </a:prstGeom>
          <a:solidFill>
            <a:srgbClr val="F3F2F2"/>
          </a:solidFill>
          <a:ln w="13912">
            <a:solidFill>
              <a:srgbClr val="201E1E">
                <a:alpha val="40000"/>
              </a:srgbClr>
            </a:solidFill>
            <a:prstDash val="solid"/>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61646" y="4242989"/>
            <a:ext cx="418995" cy="418995"/>
          </a:xfrm>
          <a:prstGeom prst="rect">
            <a:avLst/>
          </a:prstGeom>
        </p:spPr>
      </p:pic>
      <p:sp>
        <p:nvSpPr>
          <p:cNvPr id="6" name="Text 3"/>
          <p:cNvSpPr/>
          <p:nvPr/>
        </p:nvSpPr>
        <p:spPr>
          <a:xfrm>
            <a:off x="1461646" y="4814366"/>
            <a:ext cx="4942749"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Comparability is the product</a:t>
            </a:r>
            <a:endParaRPr lang="en-US" sz="2025" dirty="0"/>
          </a:p>
        </p:txBody>
      </p:sp>
      <p:sp>
        <p:nvSpPr>
          <p:cNvPr id="7" name="Text 4"/>
          <p:cNvSpPr/>
          <p:nvPr/>
        </p:nvSpPr>
        <p:spPr>
          <a:xfrm>
            <a:off x="1461646" y="5262381"/>
            <a:ext cx="4628210"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not extraction — knowing when not to put two numbers in one column</a:t>
            </a:r>
            <a:endParaRPr lang="en-US" sz="1800" dirty="0"/>
          </a:p>
        </p:txBody>
      </p:sp>
      <p:sp>
        <p:nvSpPr>
          <p:cNvPr id="8" name="Shape 5"/>
          <p:cNvSpPr/>
          <p:nvPr/>
        </p:nvSpPr>
        <p:spPr>
          <a:xfrm>
            <a:off x="6578492" y="3886273"/>
            <a:ext cx="5130867" cy="2304309"/>
          </a:xfrm>
          <a:prstGeom prst="rect">
            <a:avLst/>
          </a:prstGeom>
          <a:solidFill>
            <a:srgbClr val="F3F2F2"/>
          </a:solidFill>
          <a:ln w="13912">
            <a:solidFill>
              <a:srgbClr val="201E1E">
                <a:alpha val="40000"/>
              </a:srgbClr>
            </a:solidFill>
            <a:prstDash val="solid"/>
          </a:ln>
        </p:spPr>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7167" y="4242989"/>
            <a:ext cx="418995" cy="418995"/>
          </a:xfrm>
          <a:prstGeom prst="rect">
            <a:avLst/>
          </a:prstGeom>
        </p:spPr>
      </p:pic>
      <p:sp>
        <p:nvSpPr>
          <p:cNvPr id="10" name="Text 6"/>
          <p:cNvSpPr/>
          <p:nvPr/>
        </p:nvSpPr>
        <p:spPr>
          <a:xfrm>
            <a:off x="6897167" y="4814366"/>
            <a:ext cx="494286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Provenance you can prove</a:t>
            </a:r>
            <a:endParaRPr lang="en-US" sz="2025" dirty="0"/>
          </a:p>
        </p:txBody>
      </p:sp>
      <p:sp>
        <p:nvSpPr>
          <p:cNvPr id="11" name="Text 7"/>
          <p:cNvSpPr/>
          <p:nvPr/>
        </p:nvSpPr>
        <p:spPr>
          <a:xfrm>
            <a:off x="6897167" y="5262381"/>
            <a:ext cx="4942868" cy="323843"/>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every number one click from its source</a:t>
            </a:r>
            <a:endParaRPr lang="en-US" sz="1800" dirty="0"/>
          </a:p>
        </p:txBody>
      </p:sp>
      <p:sp>
        <p:nvSpPr>
          <p:cNvPr id="12" name="Shape 8"/>
          <p:cNvSpPr/>
          <p:nvPr/>
        </p:nvSpPr>
        <p:spPr>
          <a:xfrm>
            <a:off x="12014122" y="3886273"/>
            <a:ext cx="5130867" cy="2304309"/>
          </a:xfrm>
          <a:prstGeom prst="rect">
            <a:avLst/>
          </a:prstGeom>
          <a:solidFill>
            <a:srgbClr val="F3F2F2"/>
          </a:solidFill>
          <a:ln w="13912">
            <a:solidFill>
              <a:srgbClr val="201E1E">
                <a:alpha val="40000"/>
              </a:srgbClr>
            </a:solidFill>
            <a:prstDash val="solid"/>
          </a:ln>
        </p:spPr>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332797" y="4242989"/>
            <a:ext cx="418995" cy="418995"/>
          </a:xfrm>
          <a:prstGeom prst="rect">
            <a:avLst/>
          </a:prstGeom>
        </p:spPr>
      </p:pic>
      <p:sp>
        <p:nvSpPr>
          <p:cNvPr id="14" name="Text 9"/>
          <p:cNvSpPr/>
          <p:nvPr/>
        </p:nvSpPr>
        <p:spPr>
          <a:xfrm>
            <a:off x="12332797" y="4814366"/>
            <a:ext cx="4942868" cy="333733"/>
          </a:xfrm>
          <a:prstGeom prst="rect">
            <a:avLst/>
          </a:prstGeom>
          <a:noFill/>
          <a:ln/>
        </p:spPr>
        <p:txBody>
          <a:bodyPr wrap="square" lIns="25400" tIns="25400" rIns="25400" bIns="25400" rtlCol="0" anchor="t">
            <a:normAutofit/>
          </a:bodyPr>
          <a:lstStyle/>
          <a:p>
            <a:pPr algn="l" indent="0" marL="0">
              <a:lnSpc>
                <a:spcPct val="101231"/>
              </a:lnSpc>
              <a:buNone/>
            </a:pPr>
            <a:r>
              <a:rPr lang="en-US" sz="2025" b="1" spc="-20" kern="0" dirty="0">
                <a:solidFill>
                  <a:srgbClr val="201E1D"/>
                </a:solidFill>
                <a:latin typeface="Arial" pitchFamily="34" charset="0"/>
                <a:ea typeface="Arial" pitchFamily="34" charset="-122"/>
                <a:cs typeface="Arial" pitchFamily="34" charset="-120"/>
              </a:rPr>
              <a:t>A clear path forward</a:t>
            </a:r>
            <a:endParaRPr lang="en-US" sz="2025" dirty="0"/>
          </a:p>
        </p:txBody>
      </p:sp>
      <p:sp>
        <p:nvSpPr>
          <p:cNvPr id="15" name="Text 10"/>
          <p:cNvSpPr/>
          <p:nvPr/>
        </p:nvSpPr>
        <p:spPr>
          <a:xfrm>
            <a:off x="12332797" y="5262381"/>
            <a:ext cx="4628322" cy="609585"/>
          </a:xfrm>
          <a:prstGeom prst="rect">
            <a:avLst/>
          </a:prstGeom>
          <a:noFill/>
          <a:ln/>
        </p:spPr>
        <p:txBody>
          <a:bodyPr wrap="square" lIns="25400" tIns="25400" rIns="25400" bIns="25400" rtlCol="0" anchor="t">
            <a:normAutofit/>
          </a:bodyPr>
          <a:lstStyle/>
          <a:p>
            <a:pPr algn="l" indent="0" marL="0">
              <a:lnSpc>
                <a:spcPct val="108103"/>
              </a:lnSpc>
              <a:buNone/>
            </a:pPr>
            <a:r>
              <a:rPr lang="en-US" sz="1800" dirty="0">
                <a:solidFill>
                  <a:srgbClr val="201D1D">
                    <a:alpha val="68000"/>
                  </a:srgbClr>
                </a:solidFill>
                <a:latin typeface="Arial" pitchFamily="34" charset="0"/>
                <a:ea typeface="Arial" pitchFamily="34" charset="-122"/>
                <a:cs typeface="Arial" pitchFamily="34" charset="-120"/>
              </a:rPr>
              <a:t>to the reliable, redundant, production-grade version</a:t>
            </a:r>
            <a:endParaRPr lang="en-US" sz="1800" dirty="0"/>
          </a:p>
        </p:txBody>
      </p:sp>
      <p:sp>
        <p:nvSpPr>
          <p:cNvPr id="16" name="Text 11"/>
          <p:cNvSpPr/>
          <p:nvPr/>
        </p:nvSpPr>
        <p:spPr>
          <a:xfrm>
            <a:off x="1142970" y="6719569"/>
            <a:ext cx="15716200" cy="194938"/>
          </a:xfrm>
          <a:prstGeom prst="rect">
            <a:avLst/>
          </a:prstGeom>
          <a:noFill/>
          <a:ln/>
        </p:spPr>
        <p:txBody>
          <a:bodyPr wrap="square" lIns="25400" tIns="25400" rIns="25400" bIns="25400" rtlCol="0" anchor="t">
            <a:normAutofit/>
          </a:bodyPr>
          <a:lstStyle/>
          <a:p>
            <a:pPr algn="l" indent="0" marL="0">
              <a:lnSpc>
                <a:spcPct val="122517"/>
              </a:lnSpc>
              <a:buNone/>
            </a:pPr>
            <a:r>
              <a:rPr lang="en-US" sz="1800" dirty="0">
                <a:solidFill>
                  <a:srgbClr val="211D1D">
                    <a:alpha val="55000"/>
                  </a:srgbClr>
                </a:solidFill>
                <a:latin typeface="Arial" pitchFamily="34" charset="0"/>
                <a:ea typeface="Arial" pitchFamily="34" charset="-122"/>
                <a:cs typeface="Arial" pitchFamily="34" charset="-120"/>
              </a:rPr>
              <a:t>Over to you — and I have a few questions for you.</a:t>
            </a:r>
            <a:endParaRPr lang="en-US" sz="1800" dirty="0"/>
          </a:p>
        </p:txBody>
      </p:sp>
      <p:pic>
        <p:nvPicPr>
          <p:cNvPr id="17" name="Image 3" descr="preencoded.png">    </p:cNvPr>
          <p:cNvPicPr>
            <a:picLocks noChangeAspect="1"/>
          </p:cNvPicPr>
          <p:nvPr/>
        </p:nvPicPr>
        <p:blipFill>
          <a:blip r:embed="rId7"/>
          <a:stretch>
            <a:fillRect/>
          </a:stretch>
        </p:blipFill>
        <p:spPr>
          <a:xfrm>
            <a:off x="1142970" y="8987142"/>
            <a:ext cx="3484994" cy="15683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2F2"/>
        </a:solidFill>
      </p:bgPr>
    </p:bg>
    <p:spTree>
      <p:nvGrpSpPr>
        <p:cNvPr id="1" name=""/>
        <p:cNvGrpSpPr/>
        <p:nvPr/>
      </p:nvGrpSpPr>
      <p:grpSpPr>
        <a:xfrm>
          <a:off x="0" y="0"/>
          <a:ext cx="0" cy="0"/>
          <a:chOff x="0" y="0"/>
          <a:chExt cx="0" cy="0"/>
        </a:xfrm>
      </p:grpSpPr>
      <p:sp>
        <p:nvSpPr>
          <p:cNvPr id="2" name="Text 0"/>
          <p:cNvSpPr/>
          <p:nvPr/>
        </p:nvSpPr>
        <p:spPr>
          <a:xfrm>
            <a:off x="15214134" y="914398"/>
            <a:ext cx="2123940" cy="392316"/>
          </a:xfrm>
          <a:prstGeom prst="rect">
            <a:avLst/>
          </a:prstGeom>
          <a:noFill/>
          <a:ln/>
        </p:spPr>
        <p:txBody>
          <a:bodyPr wrap="none" lIns="25400" tIns="25400" rIns="25400" bIns="25400" rtlCol="0" anchor="t">
            <a:normAutofit/>
          </a:bodyPr>
          <a:lstStyle/>
          <a:p>
            <a:pPr algn="l" indent="0" marL="0">
              <a:lnSpc>
                <a:spcPct val="134048"/>
              </a:lnSpc>
              <a:buNone/>
            </a:pPr>
            <a:r>
              <a:rPr lang="en-US" sz="1800" b="1" spc="144" kern="0" dirty="0">
                <a:solidFill>
                  <a:srgbClr val="211D1D">
                    <a:alpha val="55000"/>
                  </a:srgbClr>
                </a:solidFill>
                <a:latin typeface="Arial" pitchFamily="34" charset="0"/>
                <a:ea typeface="Arial" pitchFamily="34" charset="-122"/>
                <a:cs typeface="Arial" pitchFamily="34" charset="-120"/>
              </a:rPr>
              <a:t>PREPARED FOR</a:t>
            </a:r>
            <a:endParaRPr lang="en-US" sz="1800" dirty="0"/>
          </a:p>
        </p:txBody>
      </p:sp>
      <p:pic>
        <p:nvPicPr>
          <p:cNvPr id="3" name="Image 0" descr="preencoded.png">    </p:cNvPr>
          <p:cNvPicPr>
            <a:picLocks noChangeAspect="1"/>
          </p:cNvPicPr>
          <p:nvPr/>
        </p:nvPicPr>
        <p:blipFill>
          <a:blip r:embed="rId1"/>
          <a:stretch>
            <a:fillRect/>
          </a:stretch>
        </p:blipFill>
        <p:spPr>
          <a:xfrm>
            <a:off x="15520093" y="1382846"/>
            <a:ext cx="1624896" cy="399974"/>
          </a:xfrm>
          <a:prstGeom prst="rect">
            <a:avLst/>
          </a:prstGeom>
        </p:spPr>
      </p:pic>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42970" y="3191426"/>
            <a:ext cx="1123950" cy="723867"/>
          </a:xfrm>
          <a:prstGeom prst="rect">
            <a:avLst/>
          </a:prstGeom>
        </p:spPr>
      </p:pic>
      <p:sp>
        <p:nvSpPr>
          <p:cNvPr id="5" name="Text 1"/>
          <p:cNvSpPr/>
          <p:nvPr/>
        </p:nvSpPr>
        <p:spPr>
          <a:xfrm>
            <a:off x="2533533" y="3039044"/>
            <a:ext cx="4764608" cy="1066730"/>
          </a:xfrm>
          <a:prstGeom prst="rect">
            <a:avLst/>
          </a:prstGeom>
          <a:noFill/>
          <a:ln/>
        </p:spPr>
        <p:txBody>
          <a:bodyPr wrap="square" lIns="25400" tIns="25400" rIns="25400" bIns="25400" rtlCol="0" anchor="t">
            <a:normAutofit/>
          </a:bodyPr>
          <a:lstStyle/>
          <a:p>
            <a:pPr algn="l" indent="0" marL="0">
              <a:lnSpc>
                <a:spcPct val="78246"/>
              </a:lnSpc>
              <a:buNone/>
            </a:pPr>
            <a:r>
              <a:rPr lang="en-US" sz="9000" b="1" spc="-180" kern="0" dirty="0">
                <a:solidFill>
                  <a:srgbClr val="201E1D"/>
                </a:solidFill>
                <a:latin typeface="Arial" pitchFamily="34" charset="0"/>
                <a:ea typeface="Arial" pitchFamily="34" charset="-122"/>
                <a:cs typeface="Arial" pitchFamily="34" charset="-120"/>
              </a:rPr>
              <a:t>Concord</a:t>
            </a:r>
            <a:endParaRPr lang="en-US" sz="9000" dirty="0"/>
          </a:p>
        </p:txBody>
      </p:sp>
      <p:sp>
        <p:nvSpPr>
          <p:cNvPr id="6" name="Text 2"/>
          <p:cNvSpPr/>
          <p:nvPr/>
        </p:nvSpPr>
        <p:spPr>
          <a:xfrm>
            <a:off x="1142970" y="4429608"/>
            <a:ext cx="7260475" cy="979127"/>
          </a:xfrm>
          <a:prstGeom prst="rect">
            <a:avLst/>
          </a:prstGeom>
          <a:noFill/>
          <a:ln/>
        </p:spPr>
        <p:txBody>
          <a:bodyPr wrap="square" lIns="25400" tIns="25400" rIns="25400" bIns="25400" rtlCol="0" anchor="t">
            <a:normAutofit/>
          </a:bodyPr>
          <a:lstStyle/>
          <a:p>
            <a:pPr algn="l" indent="0" marL="0">
              <a:lnSpc>
                <a:spcPct val="112740"/>
              </a:lnSpc>
              <a:buNone/>
            </a:pPr>
            <a:r>
              <a:rPr lang="en-US" sz="2850" dirty="0">
                <a:solidFill>
                  <a:srgbClr val="201D1D">
                    <a:alpha val="68000"/>
                  </a:srgbClr>
                </a:solidFill>
                <a:latin typeface="Arial" pitchFamily="34" charset="0"/>
                <a:ea typeface="Arial" pitchFamily="34" charset="-122"/>
                <a:cs typeface="Arial" pitchFamily="34" charset="-120"/>
              </a:rPr>
              <a:t>One comparable, source-traced view of every portfolio company.</a:t>
            </a:r>
            <a:endParaRPr lang="en-US" sz="2850" dirty="0"/>
          </a:p>
        </p:txBody>
      </p:sp>
      <p:sp>
        <p:nvSpPr>
          <p:cNvPr id="7" name="Text 3"/>
          <p:cNvSpPr/>
          <p:nvPr/>
        </p:nvSpPr>
        <p:spPr>
          <a:xfrm>
            <a:off x="1142970" y="5718656"/>
            <a:ext cx="6470001" cy="545893"/>
          </a:xfrm>
          <a:prstGeom prst="rect">
            <a:avLst/>
          </a:prstGeom>
          <a:noFill/>
          <a:ln/>
        </p:spPr>
        <p:txBody>
          <a:bodyPr wrap="square" lIns="0" tIns="0" rIns="0" bIns="0" rtlCol="0" anchor="t">
            <a:normAutofit/>
          </a:bodyPr>
          <a:lstStyle/>
          <a:p>
            <a:pPr algn="l" indent="0" marL="0">
              <a:lnSpc>
                <a:spcPct val="98981"/>
              </a:lnSpc>
              <a:buNone/>
            </a:pPr>
            <a:r>
              <a:rPr lang="en-US" sz="3300" b="1" spc="-49" kern="0" dirty="0">
                <a:solidFill>
                  <a:srgbClr val="201E1D"/>
                </a:solidFill>
                <a:latin typeface="Arial" pitchFamily="34" charset="0"/>
                <a:ea typeface="Arial" pitchFamily="34" charset="-122"/>
                <a:cs typeface="Arial" pitchFamily="34" charset="-120"/>
              </a:rPr>
              <a:t>Built with AI, decided by humans</a:t>
            </a:r>
            <a:endParaRPr lang="en-US" sz="3300" dirty="0"/>
          </a:p>
        </p:txBody>
      </p:sp>
      <p:pic>
        <p:nvPicPr>
          <p:cNvPr id="8"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518867" y="5810280"/>
            <a:ext cx="361933" cy="361933"/>
          </a:xfrm>
          <a:prstGeom prst="rect">
            <a:avLst/>
          </a:prstGeom>
        </p:spPr>
      </p:pic>
      <p:sp>
        <p:nvSpPr>
          <p:cNvPr id="9" name="Text 4"/>
          <p:cNvSpPr/>
          <p:nvPr/>
        </p:nvSpPr>
        <p:spPr>
          <a:xfrm>
            <a:off x="1142970" y="6576426"/>
            <a:ext cx="17602220" cy="480898"/>
          </a:xfrm>
          <a:prstGeom prst="rect">
            <a:avLst/>
          </a:prstGeom>
          <a:noFill/>
          <a:ln/>
        </p:spPr>
        <p:txBody>
          <a:bodyPr wrap="square" lIns="25400" tIns="25400" rIns="25400" bIns="25400" rtlCol="0" anchor="t">
            <a:normAutofit/>
          </a:bodyPr>
          <a:lstStyle/>
          <a:p>
            <a:pPr algn="l" indent="0" marL="0">
              <a:lnSpc>
                <a:spcPct val="135474"/>
              </a:lnSpc>
              <a:buNone/>
            </a:pPr>
            <a:r>
              <a:rPr lang="en-US" sz="2250" dirty="0">
                <a:solidFill>
                  <a:srgbClr val="211D1D">
                    <a:alpha val="55000"/>
                  </a:srgbClr>
                </a:solidFill>
                <a:latin typeface="Arial" pitchFamily="34" charset="0"/>
                <a:ea typeface="Arial" pitchFamily="34" charset="-122"/>
                <a:cs typeface="Arial" pitchFamily="34" charset="-120"/>
              </a:rPr>
              <a:t>Made with love, with AI — but human-first on every decision. Thanks.</a:t>
            </a:r>
            <a:endParaRPr lang="en-US" sz="2250" dirty="0"/>
          </a:p>
        </p:txBody>
      </p:sp>
      <p:sp>
        <p:nvSpPr>
          <p:cNvPr id="10" name="Text 5"/>
          <p:cNvSpPr/>
          <p:nvPr/>
        </p:nvSpPr>
        <p:spPr>
          <a:xfrm>
            <a:off x="1142970" y="8987142"/>
            <a:ext cx="1585453"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Xavier Medina</a:t>
            </a:r>
            <a:endParaRPr lang="en-US" sz="1800" dirty="0"/>
          </a:p>
        </p:txBody>
      </p:sp>
      <p:sp>
        <p:nvSpPr>
          <p:cNvPr id="11" name="Text 6"/>
          <p:cNvSpPr/>
          <p:nvPr/>
        </p:nvSpPr>
        <p:spPr>
          <a:xfrm>
            <a:off x="2755693" y="8987142"/>
            <a:ext cx="15239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12" name="Text 7"/>
          <p:cNvSpPr/>
          <p:nvPr/>
        </p:nvSpPr>
        <p:spPr>
          <a:xfrm>
            <a:off x="3003286" y="8987142"/>
            <a:ext cx="3098215"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Forward Deployed Engineer</a:t>
            </a:r>
            <a:endParaRPr lang="en-US" sz="1800" dirty="0"/>
          </a:p>
        </p:txBody>
      </p:sp>
      <p:sp>
        <p:nvSpPr>
          <p:cNvPr id="13" name="Text 8"/>
          <p:cNvSpPr/>
          <p:nvPr/>
        </p:nvSpPr>
        <p:spPr>
          <a:xfrm>
            <a:off x="5991247" y="8987142"/>
            <a:ext cx="15239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a:t>
            </a:r>
            <a:endParaRPr lang="en-US" sz="1800" dirty="0"/>
          </a:p>
        </p:txBody>
      </p:sp>
      <p:sp>
        <p:nvSpPr>
          <p:cNvPr id="14" name="Text 9"/>
          <p:cNvSpPr/>
          <p:nvPr/>
        </p:nvSpPr>
        <p:spPr>
          <a:xfrm>
            <a:off x="6238840" y="8987142"/>
            <a:ext cx="2699251" cy="194938"/>
          </a:xfrm>
          <a:prstGeom prst="rect">
            <a:avLst/>
          </a:prstGeom>
          <a:noFill/>
          <a:ln/>
        </p:spPr>
        <p:txBody>
          <a:bodyPr wrap="square" lIns="25400" tIns="25400" rIns="25400" bIns="25400" rtlCol="0" anchor="t">
            <a:normAutofit/>
          </a:bodyPr>
          <a:lstStyle/>
          <a:p>
            <a:pPr algn="l" indent="0" marL="0">
              <a:lnSpc>
                <a:spcPct val="134048"/>
              </a:lnSpc>
              <a:buNone/>
            </a:pPr>
            <a:r>
              <a:rPr lang="en-US" sz="1800" dirty="0">
                <a:solidFill>
                  <a:srgbClr val="211D1D">
                    <a:alpha val="55000"/>
                  </a:srgbClr>
                </a:solidFill>
                <a:latin typeface="Arial" pitchFamily="34" charset="0"/>
                <a:ea typeface="Arial" pitchFamily="34" charset="-122"/>
                <a:cs typeface="Arial" pitchFamily="34" charset="-120"/>
              </a:rPr>
              <a:t>xmedinavei@gmail.com</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2026-07-15T01:34:37Z</dcterms:created>
  <dcterms:modified xsi:type="dcterms:W3CDTF">2026-07-15T01:34:37Z</dcterms:modified>
</cp:coreProperties>
</file>